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embeddedFontLst>
    <p:embeddedFont>
      <p:font typeface="JetBrains Mono" panose="02000009000000000000" pitchFamily="49" charset="0"/>
      <p:regular r:id="rId30"/>
      <p:bold r:id="rId3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openxmlformats.org/officeDocument/2006/relationships/font" Target="fonts/font1.fntdata"/><Relationship Id="rId31"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Today’s goal: nobody here has used Slurm or Ray yet, so by the end everyone should be able to explain what each one does, read the scripts in our demo, run it themselves, and understand where we want to take it next. The two pills are the one-line summary: Slurm hands out machines, Ray spreads Python work across them. Keep that split in mind; we come back to it throughout.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parts. First, why we need a cluster at all. Then Slurm and Ray on their own: what each is, how it’s built, and the commands. Then the interesting part: how they fit together, using the demo in our repo line by line. Then why this matters for AI, and finally the two next steps: running it all on Kubernetes with Slinky, and fine-tuning a real LLM on GPUs.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pressures push AI work off a single laptop or server. One: training is slow, and good results usually mean trying many settings, which takes forever if you do them one at a time. Two: the hardware, especially GPUs, is expensive and shared; without a scheduler people fight over machines or leave them idle. Three: ordinary training code only knows about one machine. The two bottom boxes are the key mapping for today: Slurm answers the sharing problem, Ray answers the spreading problem. They are complementary, not competitors.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Slurm is a workload manager, sometimes called a job scheduler. The key idea: you never log into a compute node and just start things. You describe what you need, say two nodes with two CPUs each, and Slurm finds them, reserves them for you, runs your job, then frees them. It does three things: allocate resources, launch and monitor processes, and manage a queue when demand exceeds supply. The hotel analogy works well: Slurm is the front desk. It doesn’t care what you do in the room; that’s Ray’s job, as we’ll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is exactly our demo cluster. There is one controller running slurmctld, the brain. Each compute node runs slurmd, a small agent that does what the controller tells it. Nodes are grouped into partitions, which are like queues; ours is called “compute” and holds worker1 and worker2, each with 2 CPUs and 1 GB, as declared at the bottom of config/slurm.conf. Two supporting pieces: munge provides authentication, and in our start-controller.sh you can see the controller generating the munge key into the shared volume, and the workers waiting for it before starting. slurm.conf must be the same everywhere. Real clusters usually add slurmdbd, an accounting database for usage history and fair-share; our demo turns accounting off to stay simple.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job goes through the same states. You submit with sbatch and get a job ID back immediately. The job is PENDING while it waits for resources; Slurm’s backfill scheduler, configured in our slurm.conf, can slot small jobs into gaps. When the nodes are free it becomes RUNNING, and when the script exits it ends as COMPLETED, or FAILED, CANCELLED if someone ran scancel, or TIMEOUT if it hit its time limit. On the code: the #SBATCH lines at the top of our job script are comments to bash but instructions to Slurm. Ours asks for 2 nodes, one task per node, 2 CPUs per task, on the compute partition, and writes output to /shared/logs/ray-tune-JOBID.out. Inside the job, Slurm tells the script which nodes it received through environment variables; we use that next to build the Ray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commands cover almost all daily use. sinfo tells you the state of the cluster; in the demo we run it first to make sure both workers say idle. squeue shows the queue; you’ll see our job as ray-tune-demo with state R for running. sbatch submits a script and is the main way to run work. srun runs a command on nodes inside an allocation; our script uses it to start a Ray worker on the second node. scontrol is the admin swiss-army knife; we use “scontrol show hostnames” to turn the compact node list worker[1-2] into separate names, and the controller script uses “scontrol show nodes”. The last three we don’t use but you will: scancel to kill a job, salloc for an interactive session, and sacct for history, which needs the accounting database we disabled.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Ray came out of UC Berkeley and is maintained by Anyscale; OpenAI, Uber and many others use it. Where Slurm thinks in jobs and nodes, Ray thinks in Python. Everything is built from three primitives. A task is a function you mark with @ray.remote; calling it returns immediately and the work runs somewhere in the cluster. An actor is the same idea for a class: a long-lived worker with state, which is how Ray Tune runs each trial. Objects are results stored in a distributed object store so other tasks can use them without copying through your laptop. On top sit libraries for each stage of AI work. Our demo uses Ray Tune, highlighted. Ray Train and Ray Data become important in Phase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Ray cluster is one head node plus any number of worker nodes. The head holds the Global Control Store, GCS, the cluster’s registry of nodes, actors and resources; it listens on port 6379, which is why our script starts the head with --port=6379 and workers join with address head-ip:6379. The head also serves the dashboard on 8265. Every node, head included, runs a raylet, which schedules work locally and manages a shared-memory object store, plus worker processes that execute tasks and actors. The driver is simply your Python program that called ray.init. In the demo, worker1 becomes the head because Slurm runs the batch script on the first allocated node, and worker2 joins as a worker. Note the naming clash: “worker1” is a Slurm worker but the Ray 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Ray programming model in eleven lines. ray.init with address auto connects to a cluster that is already running; that’s exactly the first line of main in our tune_mnist.py. Without an address, Ray starts a tiny local cluster on your laptop, so the same code works in both places. The decorator makes square a remote function. Calling square.remote does not run it here; it schedules it and immediately gives back a reference, a future. A hundred calls fan out across every CPU in the cluster. ray.get blocks until they’re done. Ray Tune is a library on top of exactly this: our tune.run call takes the train_mnist function, samples 12 configs, and runs each as an actor that reserves one CPU.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Ray’s command line is small. ray start --head turns a machine into the head; ray start --address joins it from another machine. The --num-cpus and --num-gpus flags tell Ray how much of the node it may use; we pass --num-cpus=2 so Ray matches exactly what Slurm gave us, which matters on shared clusters so Ray doesn’t grab cores that belong to someone else’s job. ray status is the sanity check; in our job log you should see two nodes and 4 CPUs total before tuning starts. ray stop cleans up. From Python, ray.init with address auto finds the running cluster. Not in the demo, but useful later: ray job submit sends a script to a long-running cluster, and the dashboard on port 8265 shows every task, actor and log; we don’t publish that port from Docker yet, which is an easy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remember. Slurm is the hotel front desk: it books rooms, meaning nodes, for a fixed time and makes sure nobody takes someone else’s room. Ray is the conference organiser working inside those rooms: it decides which session goes where, moves materials between rooms, and cancels sessions that aren’t working. Neither replaces the other. Slurm on its own is great at fairly sharing hardware but knows nothing about Python or trials. Ray on its own is great at spreading Python but has no notion of other users waiting for the same machines. The pattern our demo uses is the standard one: inside a Slurm job, start a Ray cluster on exactly the allocated nodes, run the work, tear it down. When the job ends, the nodes go back to the pool for the next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our demo. Real clusters need several machines; we fake them with Docker Compose. Three containers on a private bridge network called slurm-net. All three use the same image from docker/Dockerfile, which installs Slurm, munge, Python, PyTorch for CPU and Ray Tune. The difference is the command: the controller runs start-controller.sh, which generates a random munge key into the shared volume, starts munged and slurmctld. The workers run start-worker.sh, which waits for that key, copies it, and starts munged and slurmd. The shared volume plays the role of a cluster’s shared filesystem, like NFS or Lustre on a real cluster: logs, the downloaded MNIST dataset and Ray results all live there so every node sees the same files. ./src is also mounted, so you can edit the Python without rebuilding.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demo: how one Slurm job becomes a Ray cluster. Step 1, the #SBATCH header asks for two nodes with two CPUs each. Step 2, Slurm gives us a compact node list like worker[1-2]; scontrol show hostnames expands it into an array, and getent hosts turns the first name into an IP. Step 3, the batch script itself runs on the first node, so it starts the Ray head right there. Step 4, for every other node it uses srun with -w to run ray start on that specific node, pointing at the head’s IP and port 6379. The real line also passes --nodes=1 --ntasks=1 --num-cpus=2 and runs in the background; I’ve shortened it here. srun matters: it launches the process inside our allocation, so Slurm tracks and cleans it up. Step 5, sleep, ray status to confirm 2 nodes and 4 CPUs, then run the Python. Step 6, ray stop, the script exits, the job completes and the nodes are free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Python side. tune_mnist.py trains a small fully connected network on MNIST, the handwritten digits dataset. Instead of us picking a learning rate, momentum, batch size and hidden size, Ray Tune samples 12 random combinations from the search space on the left. Each trial asks for one CPU, so with 4 CPUs across the two nodes, 4 trials run at the same time. The trick that saves time is the ASHA scheduler, asynchronous successive halving. Every trial gets at least 2 epochs, the grace period. At the checkpoints, epochs 2, 4 and 8, a trial continues only if it is in the better half of trials that reached that point; otherwise it is stopped, freeing the CPU for a new trial. So most compute goes to promising configs. The repo’s README reports about 98% accuracy in roughly 4 minutes on CPU; your numbers will vary a bit per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hands-on part; I suggest running it live. Build the image once; it’s the same image for all three containers. Bring the cluster up in the background. Wait about 15 seconds for munge and the daemons, then sinfo should show the compute partition with two idle nodes; if they show down or unknown, give it a few more seconds. sbatch submits the job and prints its ID, 1 on a fresh cluster. squeue shows it running with state R. Tail the log, named after the job ID, to watch Ray start, ray status, then the Tune progress table, ending with the best trial’s config, loss and accuracy. down -v removes the containers and the shared volume, so the next run starts clean and re-downloads MNIST. Everything uses docker exec into the controller because that container plays the login node.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branch in the repo, llm-lora, proves the same scaffolding works for language models. It fine-tunes distilgpt2, an 82-million-parameter GPT-2, on wikitext-2. Full fine-tuning would update every weight; LoRA freezes the model and injects small low-rank matrices into the attention projections, so only about half a percent of parameters train. That’s what makes it feasible on CPUs, and on GPUs it’s what lets us tune much bigger models cheaply. Ray Tune searches LoRA rank, alpha, learning rate, dropout and batch size. Each trial takes 2 CPUs, so two run at once across our two nodes, and ASHA culls weak configs after each epoch. The README reports a best perplexity around 20 in about 25 minutes on CPU. Lower perplexity means the model predicts the text better. Key message: nothing about Slurm or Ray changed, only the training function. That’s the foundation for Phase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common AI workloads, all following the same pattern: get an allocation from Slurm, run a Ray cluster in it. Hyperparameter tuning is what our demo does. Distributed training is the big one for us: Ray Train takes a normal PyTorch training loop and runs it on many GPUs and nodes using DDP, FSDP or DeepSpeed under the hood, handling process groups and checkpoints. LLM fine-tuning combines the two, as in our llm-lora branch. Ray Data handles preprocessing and offline batch inference, for example tokenising a corpus or running a model over millions of documents, keeping both CPUs and GPUs busy. RLlib is for reinforcement learning. And evaluation: scoring many checkpoints against many benchmarks is embarrassingly parallel, a perfect 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put both together rather than pick one? Six things become possible. One: many people can share a small number of expensive GPUs with a real queue and fair-share, instead of a spreadsheet or Slack messages. Two: researchers stay in Python; Ray hides the distributed systems work. Three: the same script runs on a laptop for debugging and on the cluster for real, only the ray.init address changes. Four: we can afford systematic search, many configs with early stopping, instead of guessing hyperparameters. Five: combined, this lets us fine-tune and evaluate LLMs across several GPU nodes on hardware we control, so data stays in-house. Six: one job can mix CPU-heavy preprocessing and GPU training, since Ray schedules both kinds of resource inside the allocation Slurm gave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where we take this. Today we have a working demo on one machine, CPU only, with two workloads. Phase 1 changes where the cluster runs: instead of docker-compose we run Slurm on Kubernetes using Slinky, so we get real infrastructure, persistent storage and the ability to add or remove nodes by changing a number. Phase 2 changes what runs: real GPUs and a real model fine-tuned on our own data. The order matters. Phase 1 gives us the platform, Phase 2 uses it. And at each step the job script and the Ray code stay almost the same; that’s the payoff of the pattern we just learned. No dates on purpose; we’ll size these once we know which hardware we 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Slinky is the official project from SchedMD, the company behind Slurm, for running Slurm on Kubernetes. Its main piece is slurm-operator: you describe a Slurm cluster in Kubernetes YAML, a controller plus NodeSets of worker pods, and the operator creates and maintains the slurmctld and slurmd pods. Need more workers? Change the replica count. The second piece, slurm-bridge, lets Slurm act as scheduler for normal Kubernetes pods too, which we can add later. Plan: start on a local kind or minikube cluster; install cert-manager and the operator with Helm; deploy a Slurm cluster whose worker image is our demo image with Ray and PyTorch; swap the Docker shared volume for a PersistentVolume, ReadWriteMany, so all pods see the same files; then run exactly the same job script and expect the same result. The two helm commands are the shape of the install; the real ones also set namespaces such as slinky and slurm with create-namespace, and versions change, so follow the current Slinky docs. Worth knowing: KubeRay runs Ray natively on Kubernetes without Slurm. We keep Slurm because it gives us one queue and fair-share across users, which KubeRay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2 turns the llm-lora branch into real fine-tuning. The table is the change list, and it’s short because the pattern holds. Slurm has to know about GPUs: GresTypes=gpu in slurm.conf, a Gres=gpu:N entry on each GPU node, and a gres.conf naming the devices, or AutoDetect=nvml. The job asks for them with --gpus-per-node. Ray is told how many GPUs it may use with --num-gpus, and each trial requests a GPU in its resources. Today each LoRA trial takes 2 CPUs; on GPUs a trial might take 4 CPUs and 1 GPU. The model and dataset are placeholders for us to decide: an open-weights model in the 1 to 8 billion range is realistic for LoRA on a few GPUs, and QLoRA, 4-bit quantised base weights, stretches that further. When one model no longer fits on one GPU, Ray Train with FSDP or DeepSpeed spreads it across GPUs. Prerequisites are drivers, a CUDA PyTorch image instead of the CPU one we use now, and on Kubernetes the NVIDIA GPU Operator. Success means the sweep runs end to end via sbatch, the tuned adapter measurably beats the base model on our evaluation set, and the result is saved to shared storage.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people remember three sentences, make it these. Slurm hands out machines fairly. Ray spreads Python work across them. And the pattern that joins them: one Slurm job equals one temporary Ray cluster. Everything we plan next, Kubernetes with Slinky and GPU fine-tuning, is that same pattern on bigger infrastructure. The repo is public with two branches; I’d encourage everyone to run the main branch demo themselves, it takes about five minutes with Docker. Then open it up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111B2B"/>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01"/>
            <a:ext cx="10566400" cy="4191099"/>
          </a:xfrm>
          <a:prstGeom prst="rect">
            <a:avLst/>
          </a:prstGeom>
          <a:noFill/>
          <a:ln/>
        </p:spPr>
        <p:txBody>
          <a:bodyPr wrap="square" lIns="0" tIns="0" rIns="0" bIns="0" rtlCol="0" anchor="t"/>
          <a:lstStyle>
            <a:lvl1pPr algn="l" indent="0" marL="0">
              <a:lnSpc>
                <a:spcPct val="140000"/>
              </a:lnSpc>
              <a:buNone/>
              <a:defRPr lang="en-US" sz="1600" dirty="0">
                <a:solidFill>
                  <a:srgbClr val="111B2B"/>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111B2B"/>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01"/>
            <a:ext cx="10566400" cy="4191099"/>
          </a:xfrm>
          <a:prstGeom prst="rect">
            <a:avLst/>
          </a:prstGeom>
          <a:noFill/>
          <a:ln/>
        </p:spPr>
        <p:txBody>
          <a:bodyPr wrap="square" lIns="0" tIns="0" rIns="0" bIns="0" rtlCol="0" anchor="t"/>
          <a:lstStyle>
            <a:lvl1pPr algn="l" indent="0" marL="0">
              <a:lnSpc>
                <a:spcPct val="140000"/>
              </a:lnSpc>
              <a:buNone/>
              <a:defRPr lang="en-US" sz="1600" dirty="0">
                <a:solidFill>
                  <a:srgbClr val="111B2B"/>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2.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2.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B2B"/>
        </a:solidFill>
      </p:bgPr>
    </p:bg>
    <p:spTree>
      <p:nvGrpSpPr>
        <p:cNvPr id="1" name=""/>
        <p:cNvGrpSpPr/>
        <p:nvPr/>
      </p:nvGrpSpPr>
      <p:grpSpPr>
        <a:xfrm>
          <a:off x="0" y="0"/>
          <a:ext cx="0" cy="0"/>
          <a:chOff x="0" y="0"/>
          <a:chExt cx="0" cy="0"/>
        </a:xfrm>
      </p:grpSpPr>
      <p:pic>
        <p:nvPicPr>
          <p:cNvPr id="2" name="Image 0" descr="Decorative diagram: one controller node linked to two worker nodes running parallel processes">    </p:cNvPr>
          <p:cNvPicPr>
            <a:picLocks noChangeAspect="1"/>
          </p:cNvPicPr>
          <p:nvPr/>
        </p:nvPicPr>
        <p:blipFill>
          <a:blip r:embed="rId1"/>
          <a:srcRect l="0" r="0" t="0" b="0"/>
          <a:stretch/>
        </p:blipFill>
        <p:spPr>
          <a:xfrm>
            <a:off x="8255000" y="1270000"/>
            <a:ext cx="3124200" cy="3302000"/>
          </a:xfrm>
          <a:prstGeom prst="rect">
            <a:avLst/>
          </a:prstGeom>
        </p:spPr>
      </p:pic>
      <p:sp>
        <p:nvSpPr>
          <p:cNvPr id="3"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25C"/>
                </a:solidFill>
                <a:latin typeface="JetBrains Mono" pitchFamily="49" charset="0"/>
                <a:ea typeface="JetBrains Mono" pitchFamily="49" charset="-122"/>
                <a:cs typeface="JetBrains Mono" pitchFamily="49" charset="-120"/>
              </a:rPr>
              <a:t>INTERNAL TECH SESSION · DISTRIBUTED AI</a:t>
            </a:r>
            <a:endParaRPr lang="en-US" sz="1200" dirty="0"/>
          </a:p>
        </p:txBody>
      </p:sp>
      <p:sp>
        <p:nvSpPr>
          <p:cNvPr id="4" name="Text 1"/>
          <p:cNvSpPr/>
          <p:nvPr>
            <p:ph type="title"/>
          </p:nvPr>
        </p:nvSpPr>
        <p:spPr>
          <a:xfrm>
            <a:off x="812800" y="2364780"/>
            <a:ext cx="7194550" cy="772120"/>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F5F3EE"/>
                </a:solidFill>
                <a:latin typeface="IBM Plex Sans" pitchFamily="34" charset="0"/>
                <a:ea typeface="IBM Plex Sans" pitchFamily="34" charset="-122"/>
                <a:cs typeface="IBM Plex Sans" pitchFamily="34" charset="-120"/>
              </a:rPr>
              <a:t>Slurm </a:t>
            </a:r>
            <a:r>
              <a:rPr lang="en-US" sz="5600" b="1" i="0" dirty="0">
                <a:solidFill>
                  <a:srgbClr val="8AB8EC"/>
                </a:solidFill>
                <a:latin typeface="IBM Plex Sans" pitchFamily="34" charset="0"/>
                <a:ea typeface="IBM Plex Sans" pitchFamily="34" charset="-122"/>
                <a:cs typeface="IBM Plex Sans" pitchFamily="34" charset="-120"/>
              </a:rPr>
              <a:t>+</a:t>
            </a:r>
            <a:r>
              <a:rPr lang="en-US" sz="5600" b="1" i="0" dirty="0">
                <a:solidFill>
                  <a:srgbClr val="F5F3EE"/>
                </a:solidFill>
                <a:latin typeface="IBM Plex Sans" pitchFamily="34" charset="0"/>
                <a:ea typeface="IBM Plex Sans" pitchFamily="34" charset="-122"/>
                <a:cs typeface="IBM Plex Sans" pitchFamily="34" charset="-120"/>
              </a:rPr>
              <a:t> Ray</a:t>
            </a:r>
            <a:endParaRPr lang="en-US" sz="5600" dirty="0"/>
          </a:p>
        </p:txBody>
      </p:sp>
      <p:sp>
        <p:nvSpPr>
          <p:cNvPr id="5" name="Text 2"/>
          <p:cNvSpPr/>
          <p:nvPr/>
        </p:nvSpPr>
        <p:spPr>
          <a:xfrm>
            <a:off x="812800" y="3314700"/>
            <a:ext cx="719455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B8C4D6"/>
                </a:solidFill>
                <a:latin typeface="IBM Plex Sans" pitchFamily="34" charset="0"/>
                <a:ea typeface="IBM Plex Sans" pitchFamily="34" charset="-122"/>
                <a:cs typeface="IBM Plex Sans" pitchFamily="34" charset="-120"/>
              </a:rPr>
              <a:t>How to share a cluster and spread AI work across it, taught through our own demo.</a:t>
            </a:r>
            <a:endParaRPr lang="en-US" sz="2000" dirty="0"/>
          </a:p>
        </p:txBody>
      </p:sp>
      <p:sp>
        <p:nvSpPr>
          <p:cNvPr id="6" name="Text 3"/>
          <p:cNvSpPr/>
          <p:nvPr/>
        </p:nvSpPr>
        <p:spPr>
          <a:xfrm>
            <a:off x="819150" y="5345509"/>
            <a:ext cx="3115866" cy="353020"/>
          </a:xfrm>
          <a:prstGeom prst="roundRect">
            <a:avLst>
              <a:gd name="adj" fmla="val 50000"/>
            </a:avLst>
          </a:prstGeom>
          <a:noFill/>
          <a:ln w="12700">
            <a:solidFill>
              <a:srgbClr val="8AB8EC"/>
            </a:solidFill>
            <a:prstDash val="solid"/>
          </a:ln>
        </p:spPr>
        <p:txBody>
          <a:bodyPr wrap="none" lIns="0" tIns="0" rIns="0" bIns="0" rtlCol="0" anchor="ctr">
            <a:normAutofit/>
          </a:bodyPr>
          <a:lstStyle/>
          <a:p>
            <a:pPr algn="ctr" indent="0" marL="0">
              <a:lnSpc>
                <a:spcPts val="1680"/>
              </a:lnSpc>
              <a:buNone/>
            </a:pPr>
            <a:r>
              <a:rPr lang="en-US" sz="1200" dirty="0">
                <a:solidFill>
                  <a:srgbClr val="8AB8EC"/>
                </a:solidFill>
                <a:latin typeface="IBM Plex Sans" pitchFamily="34" charset="0"/>
                <a:ea typeface="IBM Plex Sans" pitchFamily="34" charset="-122"/>
                <a:cs typeface="IBM Plex Sans" pitchFamily="34" charset="-120"/>
              </a:rPr>
              <a:t>Slurm · decides who gets which machines</a:t>
            </a:r>
            <a:endParaRPr lang="en-US" sz="1200" dirty="0"/>
          </a:p>
        </p:txBody>
      </p:sp>
      <p:sp>
        <p:nvSpPr>
          <p:cNvPr id="7" name="Text 4"/>
          <p:cNvSpPr/>
          <p:nvPr/>
        </p:nvSpPr>
        <p:spPr>
          <a:xfrm>
            <a:off x="4049316" y="5345509"/>
            <a:ext cx="2951460" cy="353020"/>
          </a:xfrm>
          <a:prstGeom prst="roundRect">
            <a:avLst>
              <a:gd name="adj" fmla="val 50000"/>
            </a:avLst>
          </a:prstGeom>
          <a:noFill/>
          <a:ln w="12700">
            <a:solidFill>
              <a:srgbClr val="F2A25C"/>
            </a:solidFill>
            <a:prstDash val="solid"/>
          </a:ln>
        </p:spPr>
        <p:txBody>
          <a:bodyPr wrap="none" lIns="0" tIns="0" rIns="0" bIns="0" rtlCol="0" anchor="ctr">
            <a:normAutofit/>
          </a:bodyPr>
          <a:lstStyle/>
          <a:p>
            <a:pPr algn="ctr" indent="0" marL="0">
              <a:lnSpc>
                <a:spcPts val="1680"/>
              </a:lnSpc>
              <a:buNone/>
            </a:pPr>
            <a:r>
              <a:rPr lang="en-US" sz="1200" dirty="0">
                <a:solidFill>
                  <a:srgbClr val="F2A25C"/>
                </a:solidFill>
                <a:latin typeface="IBM Plex Sans" pitchFamily="34" charset="0"/>
                <a:ea typeface="IBM Plex Sans" pitchFamily="34" charset="-122"/>
                <a:cs typeface="IBM Plex Sans" pitchFamily="34" charset="-120"/>
              </a:rPr>
              <a:t>Ray · spreads Python work across them</a:t>
            </a:r>
            <a:endParaRPr lang="en-US" sz="1200" dirty="0"/>
          </a:p>
        </p:txBody>
      </p:sp>
      <p:sp>
        <p:nvSpPr>
          <p:cNvPr id="8" name="Text 5"/>
          <p:cNvSpPr/>
          <p:nvPr/>
        </p:nvSpPr>
        <p:spPr>
          <a:xfrm>
            <a:off x="812800" y="58318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4D6"/>
                </a:solidFill>
                <a:latin typeface="IBM Plex Sans" pitchFamily="34" charset="0"/>
                <a:ea typeface="IBM Plex Sans" pitchFamily="34" charset="-122"/>
                <a:cs typeface="IBM Plex Sans" pitchFamily="34" charset="-120"/>
              </a:rPr>
              <a:t>Vansh Golakiya · github.com/VanshGolakiya-2910/slurmRay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A5568"/>
                </a:solidFill>
                <a:latin typeface="JetBrains Mono" pitchFamily="49" charset="0"/>
                <a:ea typeface="JetBrains Mono" pitchFamily="49" charset="-122"/>
                <a:cs typeface="JetBrains Mono" pitchFamily="49" charset="-120"/>
              </a:rPr>
              <a:t>AGENDA</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11B2B"/>
                </a:solidFill>
                <a:latin typeface="IBM Plex Sans" pitchFamily="34" charset="0"/>
                <a:ea typeface="IBM Plex Sans" pitchFamily="34" charset="-122"/>
                <a:cs typeface="IBM Plex Sans" pitchFamily="34" charset="-120"/>
              </a:rPr>
              <a:t>What we’ll cover today</a:t>
            </a:r>
            <a:endParaRPr lang="en-US" sz="3200" dirty="0"/>
          </a:p>
        </p:txBody>
      </p:sp>
      <p:sp>
        <p:nvSpPr>
          <p:cNvPr id="4" name="Shape 2"/>
          <p:cNvSpPr/>
          <p:nvPr/>
        </p:nvSpPr>
        <p:spPr>
          <a:xfrm>
            <a:off x="815975" y="1857276"/>
            <a:ext cx="3380284" cy="1448991"/>
          </a:xfrm>
          <a:prstGeom prst="roundRect">
            <a:avLst>
              <a:gd name="adj" fmla="val 6793"/>
            </a:avLst>
          </a:prstGeom>
          <a:solidFill>
            <a:srgbClr val="FCFBF7"/>
          </a:solidFill>
          <a:ln w="6350">
            <a:solidFill>
              <a:srgbClr val="DCD6CA"/>
            </a:solidFill>
            <a:prstDash val="solid"/>
          </a:ln>
        </p:spPr>
      </p:sp>
      <p:sp>
        <p:nvSpPr>
          <p:cNvPr id="5" name="Text 3"/>
          <p:cNvSpPr/>
          <p:nvPr/>
        </p:nvSpPr>
        <p:spPr>
          <a:xfrm>
            <a:off x="1047750" y="2089051"/>
            <a:ext cx="3004236"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4A5568"/>
                </a:solidFill>
                <a:latin typeface="JetBrains Mono" pitchFamily="49" charset="0"/>
                <a:ea typeface="JetBrains Mono" pitchFamily="49" charset="-122"/>
                <a:cs typeface="JetBrains Mono" pitchFamily="49" charset="-120"/>
              </a:rPr>
              <a:t>01</a:t>
            </a:r>
            <a:endParaRPr lang="en-US" sz="2000" dirty="0"/>
          </a:p>
        </p:txBody>
      </p:sp>
      <p:sp>
        <p:nvSpPr>
          <p:cNvPr id="6" name="Text 4"/>
          <p:cNvSpPr/>
          <p:nvPr/>
        </p:nvSpPr>
        <p:spPr>
          <a:xfrm>
            <a:off x="1047750" y="2520851"/>
            <a:ext cx="3004236"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11B2B"/>
                </a:solidFill>
                <a:latin typeface="IBM Plex Sans" pitchFamily="34" charset="0"/>
                <a:ea typeface="IBM Plex Sans" pitchFamily="34" charset="-122"/>
                <a:cs typeface="IBM Plex Sans" pitchFamily="34" charset="-120"/>
              </a:rPr>
              <a:t>Why a cluster</a:t>
            </a:r>
            <a:endParaRPr lang="en-US" sz="1600" dirty="0"/>
          </a:p>
        </p:txBody>
      </p:sp>
      <p:sp>
        <p:nvSpPr>
          <p:cNvPr id="7" name="Text 5"/>
          <p:cNvSpPr/>
          <p:nvPr/>
        </p:nvSpPr>
        <p:spPr>
          <a:xfrm>
            <a:off x="1047750" y="2861171"/>
            <a:ext cx="300423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The problem both tools solve</a:t>
            </a:r>
            <a:endParaRPr lang="en-US" sz="1200" dirty="0"/>
          </a:p>
        </p:txBody>
      </p:sp>
      <p:sp>
        <p:nvSpPr>
          <p:cNvPr id="8" name="Shape 6"/>
          <p:cNvSpPr/>
          <p:nvPr/>
        </p:nvSpPr>
        <p:spPr>
          <a:xfrm>
            <a:off x="4405809" y="1857276"/>
            <a:ext cx="3380284" cy="1448991"/>
          </a:xfrm>
          <a:prstGeom prst="roundRect">
            <a:avLst>
              <a:gd name="adj" fmla="val 6793"/>
            </a:avLst>
          </a:prstGeom>
          <a:solidFill>
            <a:srgbClr val="FCFBF7"/>
          </a:solidFill>
          <a:ln w="6350">
            <a:solidFill>
              <a:srgbClr val="DCD6CA"/>
            </a:solidFill>
            <a:prstDash val="solid"/>
          </a:ln>
        </p:spPr>
      </p:sp>
      <p:sp>
        <p:nvSpPr>
          <p:cNvPr id="9" name="Text 7"/>
          <p:cNvSpPr/>
          <p:nvPr/>
        </p:nvSpPr>
        <p:spPr>
          <a:xfrm>
            <a:off x="4637584" y="2089051"/>
            <a:ext cx="3004236"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D5FA8"/>
                </a:solidFill>
                <a:latin typeface="JetBrains Mono" pitchFamily="49" charset="0"/>
                <a:ea typeface="JetBrains Mono" pitchFamily="49" charset="-122"/>
                <a:cs typeface="JetBrains Mono" pitchFamily="49" charset="-120"/>
              </a:rPr>
              <a:t>02</a:t>
            </a:r>
            <a:endParaRPr lang="en-US" sz="2000" dirty="0"/>
          </a:p>
        </p:txBody>
      </p:sp>
      <p:sp>
        <p:nvSpPr>
          <p:cNvPr id="10" name="Text 8"/>
          <p:cNvSpPr/>
          <p:nvPr/>
        </p:nvSpPr>
        <p:spPr>
          <a:xfrm>
            <a:off x="4637584" y="2520851"/>
            <a:ext cx="3004236"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11B2B"/>
                </a:solidFill>
                <a:latin typeface="IBM Plex Sans" pitchFamily="34" charset="0"/>
                <a:ea typeface="IBM Plex Sans" pitchFamily="34" charset="-122"/>
                <a:cs typeface="IBM Plex Sans" pitchFamily="34" charset="-120"/>
              </a:rPr>
              <a:t>Slurm</a:t>
            </a:r>
            <a:endParaRPr lang="en-US" sz="1600" dirty="0"/>
          </a:p>
        </p:txBody>
      </p:sp>
      <p:sp>
        <p:nvSpPr>
          <p:cNvPr id="11" name="Text 9"/>
          <p:cNvSpPr/>
          <p:nvPr/>
        </p:nvSpPr>
        <p:spPr>
          <a:xfrm>
            <a:off x="4637584" y="2861171"/>
            <a:ext cx="300423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Architecture, job lifecycle, commands</a:t>
            </a:r>
            <a:endParaRPr lang="en-US" sz="1200" dirty="0"/>
          </a:p>
        </p:txBody>
      </p:sp>
      <p:sp>
        <p:nvSpPr>
          <p:cNvPr id="12" name="Shape 10"/>
          <p:cNvSpPr/>
          <p:nvPr/>
        </p:nvSpPr>
        <p:spPr>
          <a:xfrm>
            <a:off x="7995642" y="1857276"/>
            <a:ext cx="3380284" cy="1448991"/>
          </a:xfrm>
          <a:prstGeom prst="roundRect">
            <a:avLst>
              <a:gd name="adj" fmla="val 6793"/>
            </a:avLst>
          </a:prstGeom>
          <a:solidFill>
            <a:srgbClr val="FCFBF7"/>
          </a:solidFill>
          <a:ln w="6350">
            <a:solidFill>
              <a:srgbClr val="DCD6CA"/>
            </a:solidFill>
            <a:prstDash val="solid"/>
          </a:ln>
        </p:spPr>
      </p:sp>
      <p:sp>
        <p:nvSpPr>
          <p:cNvPr id="13" name="Text 11"/>
          <p:cNvSpPr/>
          <p:nvPr/>
        </p:nvSpPr>
        <p:spPr>
          <a:xfrm>
            <a:off x="8227417" y="2089051"/>
            <a:ext cx="3004236"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5530E"/>
                </a:solidFill>
                <a:latin typeface="JetBrains Mono" pitchFamily="49" charset="0"/>
                <a:ea typeface="JetBrains Mono" pitchFamily="49" charset="-122"/>
                <a:cs typeface="JetBrains Mono" pitchFamily="49" charset="-120"/>
              </a:rPr>
              <a:t>03</a:t>
            </a:r>
            <a:endParaRPr lang="en-US" sz="2000" dirty="0"/>
          </a:p>
        </p:txBody>
      </p:sp>
      <p:sp>
        <p:nvSpPr>
          <p:cNvPr id="14" name="Text 12"/>
          <p:cNvSpPr/>
          <p:nvPr/>
        </p:nvSpPr>
        <p:spPr>
          <a:xfrm>
            <a:off x="8227417" y="2520851"/>
            <a:ext cx="3004236"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11B2B"/>
                </a:solidFill>
                <a:latin typeface="IBM Plex Sans" pitchFamily="34" charset="0"/>
                <a:ea typeface="IBM Plex Sans" pitchFamily="34" charset="-122"/>
                <a:cs typeface="IBM Plex Sans" pitchFamily="34" charset="-120"/>
              </a:rPr>
              <a:t>Ray</a:t>
            </a:r>
            <a:endParaRPr lang="en-US" sz="1600" dirty="0"/>
          </a:p>
        </p:txBody>
      </p:sp>
      <p:sp>
        <p:nvSpPr>
          <p:cNvPr id="15" name="Text 13"/>
          <p:cNvSpPr/>
          <p:nvPr/>
        </p:nvSpPr>
        <p:spPr>
          <a:xfrm>
            <a:off x="8227417" y="2861171"/>
            <a:ext cx="300423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Architecture, code model, commands</a:t>
            </a:r>
            <a:endParaRPr lang="en-US" sz="1200" dirty="0"/>
          </a:p>
        </p:txBody>
      </p:sp>
      <p:sp>
        <p:nvSpPr>
          <p:cNvPr id="16" name="Shape 14"/>
          <p:cNvSpPr/>
          <p:nvPr/>
        </p:nvSpPr>
        <p:spPr>
          <a:xfrm>
            <a:off x="815975" y="3515816"/>
            <a:ext cx="3380284" cy="1448991"/>
          </a:xfrm>
          <a:prstGeom prst="roundRect">
            <a:avLst>
              <a:gd name="adj" fmla="val 6793"/>
            </a:avLst>
          </a:prstGeom>
          <a:solidFill>
            <a:srgbClr val="FCFBF7"/>
          </a:solidFill>
          <a:ln w="6350">
            <a:solidFill>
              <a:srgbClr val="DCD6CA"/>
            </a:solidFill>
            <a:prstDash val="solid"/>
          </a:ln>
        </p:spPr>
      </p:sp>
      <p:sp>
        <p:nvSpPr>
          <p:cNvPr id="17" name="Text 15"/>
          <p:cNvSpPr/>
          <p:nvPr/>
        </p:nvSpPr>
        <p:spPr>
          <a:xfrm>
            <a:off x="1047750" y="3747591"/>
            <a:ext cx="3004236"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4A5568"/>
                </a:solidFill>
                <a:latin typeface="JetBrains Mono" pitchFamily="49" charset="0"/>
                <a:ea typeface="JetBrains Mono" pitchFamily="49" charset="-122"/>
                <a:cs typeface="JetBrains Mono" pitchFamily="49" charset="-120"/>
              </a:rPr>
              <a:t>04</a:t>
            </a:r>
            <a:endParaRPr lang="en-US" sz="2000" dirty="0"/>
          </a:p>
        </p:txBody>
      </p:sp>
      <p:sp>
        <p:nvSpPr>
          <p:cNvPr id="18" name="Text 16"/>
          <p:cNvSpPr/>
          <p:nvPr/>
        </p:nvSpPr>
        <p:spPr>
          <a:xfrm>
            <a:off x="1047750" y="4179391"/>
            <a:ext cx="3004236"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11B2B"/>
                </a:solidFill>
                <a:latin typeface="IBM Plex Sans" pitchFamily="34" charset="0"/>
                <a:ea typeface="IBM Plex Sans" pitchFamily="34" charset="-122"/>
                <a:cs typeface="IBM Plex Sans" pitchFamily="34" charset="-120"/>
              </a:rPr>
              <a:t>Our demo, line by line</a:t>
            </a:r>
            <a:endParaRPr lang="en-US" sz="1600" dirty="0"/>
          </a:p>
        </p:txBody>
      </p:sp>
      <p:sp>
        <p:nvSpPr>
          <p:cNvPr id="19" name="Text 17"/>
          <p:cNvSpPr/>
          <p:nvPr/>
        </p:nvSpPr>
        <p:spPr>
          <a:xfrm>
            <a:off x="1047750" y="4519712"/>
            <a:ext cx="300423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MNIST tuning and LoRA fine-tuning</a:t>
            </a:r>
            <a:endParaRPr lang="en-US" sz="1200" dirty="0"/>
          </a:p>
        </p:txBody>
      </p:sp>
      <p:sp>
        <p:nvSpPr>
          <p:cNvPr id="20" name="Shape 18"/>
          <p:cNvSpPr/>
          <p:nvPr/>
        </p:nvSpPr>
        <p:spPr>
          <a:xfrm>
            <a:off x="4405809" y="3515816"/>
            <a:ext cx="3380284" cy="1448991"/>
          </a:xfrm>
          <a:prstGeom prst="roundRect">
            <a:avLst>
              <a:gd name="adj" fmla="val 6793"/>
            </a:avLst>
          </a:prstGeom>
          <a:solidFill>
            <a:srgbClr val="FCFBF7"/>
          </a:solidFill>
          <a:ln w="6350">
            <a:solidFill>
              <a:srgbClr val="DCD6CA"/>
            </a:solidFill>
            <a:prstDash val="solid"/>
          </a:ln>
        </p:spPr>
      </p:sp>
      <p:sp>
        <p:nvSpPr>
          <p:cNvPr id="21" name="Text 19"/>
          <p:cNvSpPr/>
          <p:nvPr/>
        </p:nvSpPr>
        <p:spPr>
          <a:xfrm>
            <a:off x="4637584" y="3747591"/>
            <a:ext cx="3004236"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4A5568"/>
                </a:solidFill>
                <a:latin typeface="JetBrains Mono" pitchFamily="49" charset="0"/>
                <a:ea typeface="JetBrains Mono" pitchFamily="49" charset="-122"/>
                <a:cs typeface="JetBrains Mono" pitchFamily="49" charset="-120"/>
              </a:rPr>
              <a:t>05</a:t>
            </a:r>
            <a:endParaRPr lang="en-US" sz="2000" dirty="0"/>
          </a:p>
        </p:txBody>
      </p:sp>
      <p:sp>
        <p:nvSpPr>
          <p:cNvPr id="22" name="Text 20"/>
          <p:cNvSpPr/>
          <p:nvPr/>
        </p:nvSpPr>
        <p:spPr>
          <a:xfrm>
            <a:off x="4637584" y="4179391"/>
            <a:ext cx="3004236"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11B2B"/>
                </a:solidFill>
                <a:latin typeface="IBM Plex Sans" pitchFamily="34" charset="0"/>
                <a:ea typeface="IBM Plex Sans" pitchFamily="34" charset="-122"/>
                <a:cs typeface="IBM Plex Sans" pitchFamily="34" charset="-120"/>
              </a:rPr>
              <a:t>What it unlocks for AI</a:t>
            </a:r>
            <a:endParaRPr lang="en-US" sz="1600" dirty="0"/>
          </a:p>
        </p:txBody>
      </p:sp>
      <p:sp>
        <p:nvSpPr>
          <p:cNvPr id="23" name="Text 21"/>
          <p:cNvSpPr/>
          <p:nvPr/>
        </p:nvSpPr>
        <p:spPr>
          <a:xfrm>
            <a:off x="4637584" y="4519712"/>
            <a:ext cx="300423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Uses and new capabilities</a:t>
            </a:r>
            <a:endParaRPr lang="en-US" sz="1200" dirty="0"/>
          </a:p>
        </p:txBody>
      </p:sp>
      <p:sp>
        <p:nvSpPr>
          <p:cNvPr id="24" name="Shape 22"/>
          <p:cNvSpPr/>
          <p:nvPr/>
        </p:nvSpPr>
        <p:spPr>
          <a:xfrm>
            <a:off x="7995642" y="3515816"/>
            <a:ext cx="3380284" cy="1448991"/>
          </a:xfrm>
          <a:prstGeom prst="roundRect">
            <a:avLst>
              <a:gd name="adj" fmla="val 6793"/>
            </a:avLst>
          </a:prstGeom>
          <a:solidFill>
            <a:srgbClr val="FCFBF7"/>
          </a:solidFill>
          <a:ln w="6350">
            <a:solidFill>
              <a:srgbClr val="DCD6CA"/>
            </a:solidFill>
            <a:prstDash val="solid"/>
          </a:ln>
        </p:spPr>
      </p:sp>
      <p:sp>
        <p:nvSpPr>
          <p:cNvPr id="25" name="Text 23"/>
          <p:cNvSpPr/>
          <p:nvPr/>
        </p:nvSpPr>
        <p:spPr>
          <a:xfrm>
            <a:off x="8227417" y="3747591"/>
            <a:ext cx="3004236"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4A5568"/>
                </a:solidFill>
                <a:latin typeface="JetBrains Mono" pitchFamily="49" charset="0"/>
                <a:ea typeface="JetBrains Mono" pitchFamily="49" charset="-122"/>
                <a:cs typeface="JetBrains Mono" pitchFamily="49" charset="-120"/>
              </a:rPr>
              <a:t>06</a:t>
            </a:r>
            <a:endParaRPr lang="en-US" sz="2000" dirty="0"/>
          </a:p>
        </p:txBody>
      </p:sp>
      <p:sp>
        <p:nvSpPr>
          <p:cNvPr id="26" name="Text 24"/>
          <p:cNvSpPr/>
          <p:nvPr/>
        </p:nvSpPr>
        <p:spPr>
          <a:xfrm>
            <a:off x="8227417" y="4179391"/>
            <a:ext cx="3004236"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11B2B"/>
                </a:solidFill>
                <a:latin typeface="IBM Plex Sans" pitchFamily="34" charset="0"/>
                <a:ea typeface="IBM Plex Sans" pitchFamily="34" charset="-122"/>
                <a:cs typeface="IBM Plex Sans" pitchFamily="34" charset="-120"/>
              </a:rPr>
              <a:t>The plan ahead</a:t>
            </a:r>
            <a:endParaRPr lang="en-US" sz="1600" dirty="0"/>
          </a:p>
        </p:txBody>
      </p:sp>
      <p:sp>
        <p:nvSpPr>
          <p:cNvPr id="27" name="Text 25"/>
          <p:cNvSpPr/>
          <p:nvPr/>
        </p:nvSpPr>
        <p:spPr>
          <a:xfrm>
            <a:off x="8227417" y="4519712"/>
            <a:ext cx="300423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Slinky on Kubernetes, GPU LLMs</a:t>
            </a:r>
            <a:endParaRPr lang="en-US" sz="1200" dirty="0"/>
          </a:p>
        </p:txBody>
      </p:sp>
      <p:sp>
        <p:nvSpPr>
          <p:cNvPr id="28" name="Text 2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Slurm + Ray for AI · 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A5568"/>
                </a:solidFill>
                <a:latin typeface="JetBrains Mono" pitchFamily="49" charset="0"/>
                <a:ea typeface="JetBrains Mono" pitchFamily="49" charset="-122"/>
                <a:cs typeface="JetBrains Mono" pitchFamily="49" charset="-120"/>
              </a:rPr>
              <a:t>01 · WHY A CLUSTER</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11B2B"/>
                </a:solidFill>
                <a:latin typeface="IBM Plex Sans" pitchFamily="34" charset="0"/>
                <a:ea typeface="IBM Plex Sans" pitchFamily="34" charset="-122"/>
                <a:cs typeface="IBM Plex Sans" pitchFamily="34" charset="-120"/>
              </a:rPr>
              <a:t>One machine stops being enough</a:t>
            </a:r>
            <a:endParaRPr lang="en-US" sz="3200" dirty="0"/>
          </a:p>
        </p:txBody>
      </p:sp>
      <p:sp>
        <p:nvSpPr>
          <p:cNvPr id="4" name="Shape 2"/>
          <p:cNvSpPr/>
          <p:nvPr/>
        </p:nvSpPr>
        <p:spPr>
          <a:xfrm>
            <a:off x="815975" y="1857276"/>
            <a:ext cx="3380284" cy="2127250"/>
          </a:xfrm>
          <a:prstGeom prst="roundRect">
            <a:avLst>
              <a:gd name="adj" fmla="val 4627"/>
            </a:avLst>
          </a:prstGeom>
          <a:solidFill>
            <a:srgbClr val="FCFBF7"/>
          </a:solidFill>
          <a:ln w="6350">
            <a:solidFill>
              <a:srgbClr val="DCD6CA"/>
            </a:solidFill>
            <a:prstDash val="solid"/>
          </a:ln>
        </p:spPr>
      </p:sp>
      <p:pic>
        <p:nvPicPr>
          <p:cNvPr id="5" name="Image 0" descr="Clock">    </p:cNvPr>
          <p:cNvPicPr>
            <a:picLocks noChangeAspect="1"/>
          </p:cNvPicPr>
          <p:nvPr/>
        </p:nvPicPr>
        <p:blipFill>
          <a:blip r:embed="rId1"/>
          <a:srcRect l="0" r="0" t="0" b="0"/>
          <a:stretch/>
        </p:blipFill>
        <p:spPr>
          <a:xfrm>
            <a:off x="1073150" y="2114451"/>
            <a:ext cx="304800" cy="304800"/>
          </a:xfrm>
          <a:prstGeom prst="rect">
            <a:avLst/>
          </a:prstGeom>
        </p:spPr>
      </p:pic>
      <p:sp>
        <p:nvSpPr>
          <p:cNvPr id="6" name="Text 3"/>
          <p:cNvSpPr/>
          <p:nvPr/>
        </p:nvSpPr>
        <p:spPr>
          <a:xfrm>
            <a:off x="1073150" y="2520851"/>
            <a:ext cx="295191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11B2B"/>
                </a:solidFill>
                <a:latin typeface="IBM Plex Sans" pitchFamily="34" charset="0"/>
                <a:ea typeface="IBM Plex Sans" pitchFamily="34" charset="-122"/>
                <a:cs typeface="IBM Plex Sans" pitchFamily="34" charset="-120"/>
              </a:rPr>
              <a:t>Training is slow</a:t>
            </a:r>
            <a:endParaRPr lang="en-US" sz="2000" dirty="0"/>
          </a:p>
        </p:txBody>
      </p:sp>
      <p:sp>
        <p:nvSpPr>
          <p:cNvPr id="7" name="Text 4"/>
          <p:cNvSpPr/>
          <p:nvPr/>
        </p:nvSpPr>
        <p:spPr>
          <a:xfrm>
            <a:off x="1073150" y="2927251"/>
            <a:ext cx="295191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One run takes hours. Trying 50 settings one after another takes weeks.</a:t>
            </a:r>
            <a:endParaRPr lang="en-US" sz="1500" dirty="0"/>
          </a:p>
        </p:txBody>
      </p:sp>
      <p:sp>
        <p:nvSpPr>
          <p:cNvPr id="8" name="Shape 5"/>
          <p:cNvSpPr/>
          <p:nvPr/>
        </p:nvSpPr>
        <p:spPr>
          <a:xfrm>
            <a:off x="4405809" y="1857276"/>
            <a:ext cx="3380383" cy="2127250"/>
          </a:xfrm>
          <a:prstGeom prst="roundRect">
            <a:avLst>
              <a:gd name="adj" fmla="val 4627"/>
            </a:avLst>
          </a:prstGeom>
          <a:solidFill>
            <a:srgbClr val="FCFBF7"/>
          </a:solidFill>
          <a:ln w="6350">
            <a:solidFill>
              <a:srgbClr val="DCD6CA"/>
            </a:solidFill>
            <a:prstDash val="solid"/>
          </a:ln>
        </p:spPr>
      </p:sp>
      <p:pic>
        <p:nvPicPr>
          <p:cNvPr id="9" name="Image 1" descr="Users">    </p:cNvPr>
          <p:cNvPicPr>
            <a:picLocks noChangeAspect="1"/>
          </p:cNvPicPr>
          <p:nvPr/>
        </p:nvPicPr>
        <p:blipFill>
          <a:blip r:embed="rId2"/>
          <a:srcRect l="0" r="0" t="0" b="0"/>
          <a:stretch/>
        </p:blipFill>
        <p:spPr>
          <a:xfrm>
            <a:off x="4662984" y="2114451"/>
            <a:ext cx="304800" cy="304800"/>
          </a:xfrm>
          <a:prstGeom prst="rect">
            <a:avLst/>
          </a:prstGeom>
        </p:spPr>
      </p:pic>
      <p:sp>
        <p:nvSpPr>
          <p:cNvPr id="10" name="Text 6"/>
          <p:cNvSpPr/>
          <p:nvPr/>
        </p:nvSpPr>
        <p:spPr>
          <a:xfrm>
            <a:off x="4662984" y="2520851"/>
            <a:ext cx="295201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11B2B"/>
                </a:solidFill>
                <a:latin typeface="IBM Plex Sans" pitchFamily="34" charset="0"/>
                <a:ea typeface="IBM Plex Sans" pitchFamily="34" charset="-122"/>
                <a:cs typeface="IBM Plex Sans" pitchFamily="34" charset="-120"/>
              </a:rPr>
              <a:t>Hardware is shared</a:t>
            </a:r>
            <a:endParaRPr lang="en-US" sz="2000" dirty="0"/>
          </a:p>
        </p:txBody>
      </p:sp>
      <p:sp>
        <p:nvSpPr>
          <p:cNvPr id="11" name="Text 7"/>
          <p:cNvSpPr/>
          <p:nvPr/>
        </p:nvSpPr>
        <p:spPr>
          <a:xfrm>
            <a:off x="4662984" y="2927251"/>
            <a:ext cx="2952014"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GPUs are expensive and many people want them. Someone must keep a fair queue.</a:t>
            </a:r>
            <a:endParaRPr lang="en-US" sz="1500" dirty="0"/>
          </a:p>
        </p:txBody>
      </p:sp>
      <p:sp>
        <p:nvSpPr>
          <p:cNvPr id="12" name="Shape 8"/>
          <p:cNvSpPr/>
          <p:nvPr/>
        </p:nvSpPr>
        <p:spPr>
          <a:xfrm>
            <a:off x="7995741" y="1857276"/>
            <a:ext cx="3380284" cy="2127250"/>
          </a:xfrm>
          <a:prstGeom prst="roundRect">
            <a:avLst>
              <a:gd name="adj" fmla="val 4627"/>
            </a:avLst>
          </a:prstGeom>
          <a:solidFill>
            <a:srgbClr val="FCFBF7"/>
          </a:solidFill>
          <a:ln w="6350">
            <a:solidFill>
              <a:srgbClr val="DCD6CA"/>
            </a:solidFill>
            <a:prstDash val="solid"/>
          </a:ln>
        </p:spPr>
      </p:sp>
      <p:pic>
        <p:nvPicPr>
          <p:cNvPr id="13" name="Image 2" descr="Code">    </p:cNvPr>
          <p:cNvPicPr>
            <a:picLocks noChangeAspect="1"/>
          </p:cNvPicPr>
          <p:nvPr/>
        </p:nvPicPr>
        <p:blipFill>
          <a:blip r:embed="rId3"/>
          <a:srcRect l="0" r="0" t="0" b="0"/>
          <a:stretch/>
        </p:blipFill>
        <p:spPr>
          <a:xfrm>
            <a:off x="8252916" y="2114451"/>
            <a:ext cx="304800" cy="304800"/>
          </a:xfrm>
          <a:prstGeom prst="rect">
            <a:avLst/>
          </a:prstGeom>
        </p:spPr>
      </p:pic>
      <p:sp>
        <p:nvSpPr>
          <p:cNvPr id="14" name="Text 9"/>
          <p:cNvSpPr/>
          <p:nvPr/>
        </p:nvSpPr>
        <p:spPr>
          <a:xfrm>
            <a:off x="8252916" y="2520851"/>
            <a:ext cx="295191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11B2B"/>
                </a:solidFill>
                <a:latin typeface="IBM Plex Sans" pitchFamily="34" charset="0"/>
                <a:ea typeface="IBM Plex Sans" pitchFamily="34" charset="-122"/>
                <a:cs typeface="IBM Plex Sans" pitchFamily="34" charset="-120"/>
              </a:rPr>
              <a:t>Code is single-machine</a:t>
            </a:r>
            <a:endParaRPr lang="en-US" sz="2000" dirty="0"/>
          </a:p>
        </p:txBody>
      </p:sp>
      <p:sp>
        <p:nvSpPr>
          <p:cNvPr id="15" name="Text 10"/>
          <p:cNvSpPr/>
          <p:nvPr/>
        </p:nvSpPr>
        <p:spPr>
          <a:xfrm>
            <a:off x="8252916" y="2927251"/>
            <a:ext cx="295191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A normal PyTorch script uses one computer. Spreading it needs a framework.</a:t>
            </a:r>
            <a:endParaRPr lang="en-US" sz="1500" dirty="0"/>
          </a:p>
        </p:txBody>
      </p:sp>
      <p:sp>
        <p:nvSpPr>
          <p:cNvPr id="16" name="Text 11"/>
          <p:cNvSpPr/>
          <p:nvPr/>
        </p:nvSpPr>
        <p:spPr>
          <a:xfrm>
            <a:off x="812800" y="4292501"/>
            <a:ext cx="5181600" cy="889000"/>
          </a:xfrm>
          <a:prstGeom prst="roundRect">
            <a:avLst>
              <a:gd name="adj" fmla="val 11429"/>
            </a:avLst>
          </a:prstGeom>
          <a:solidFill>
            <a:srgbClr val="E3ECF6"/>
          </a:solidFill>
          <a:ln/>
        </p:spPr>
        <p:txBody>
          <a:bodyPr wrap="square" lIns="198842" tIns="135342" rIns="57110" bIns="135342" rtlCol="0" anchor="ctr">
            <a:normAutofit/>
          </a:bodyPr>
          <a:lstStyle/>
          <a:p>
            <a:pPr algn="l" indent="0" marL="0">
              <a:lnSpc>
                <a:spcPts val="2100"/>
              </a:lnSpc>
              <a:buNone/>
            </a:pPr>
            <a:r>
              <a:rPr lang="en-US" sz="1500" b="1" dirty="0">
                <a:solidFill>
                  <a:srgbClr val="1D5FA8"/>
                </a:solidFill>
                <a:latin typeface="IBM Plex Sans" pitchFamily="34" charset="0"/>
                <a:ea typeface="IBM Plex Sans" pitchFamily="34" charset="-122"/>
                <a:cs typeface="IBM Plex Sans" pitchFamily="34" charset="-120"/>
              </a:rPr>
              <a:t>Slurm</a:t>
            </a:r>
            <a:r>
              <a:rPr lang="en-US" sz="1500" dirty="0">
                <a:solidFill>
                  <a:srgbClr val="111B2B"/>
                </a:solidFill>
                <a:latin typeface="IBM Plex Sans" pitchFamily="34" charset="0"/>
                <a:ea typeface="IBM Plex Sans" pitchFamily="34" charset="-122"/>
                <a:cs typeface="IBM Plex Sans" pitchFamily="34" charset="-120"/>
              </a:rPr>
              <a:t> solves sharing: who gets which machines, and when.</a:t>
            </a:r>
            <a:endParaRPr lang="en-US" sz="1500" dirty="0"/>
          </a:p>
        </p:txBody>
      </p:sp>
      <p:sp>
        <p:nvSpPr>
          <p:cNvPr id="17" name="Text 12"/>
          <p:cNvSpPr/>
          <p:nvPr/>
        </p:nvSpPr>
        <p:spPr>
          <a:xfrm>
            <a:off x="6197600" y="4292501"/>
            <a:ext cx="5181600" cy="889000"/>
          </a:xfrm>
          <a:prstGeom prst="roundRect">
            <a:avLst>
              <a:gd name="adj" fmla="val 11429"/>
            </a:avLst>
          </a:prstGeom>
          <a:solidFill>
            <a:srgbClr val="F6E6D9"/>
          </a:solidFill>
          <a:ln/>
        </p:spPr>
        <p:txBody>
          <a:bodyPr wrap="square" lIns="198842" tIns="135342" rIns="57110" bIns="135342" rtlCol="0" anchor="ctr">
            <a:normAutofit/>
          </a:bodyPr>
          <a:lstStyle/>
          <a:p>
            <a:pPr algn="l" indent="0" marL="0">
              <a:lnSpc>
                <a:spcPts val="2100"/>
              </a:lnSpc>
              <a:buNone/>
            </a:pPr>
            <a:r>
              <a:rPr lang="en-US" sz="1500" b="1" dirty="0">
                <a:solidFill>
                  <a:srgbClr val="B5530E"/>
                </a:solidFill>
                <a:latin typeface="IBM Plex Sans" pitchFamily="34" charset="0"/>
                <a:ea typeface="IBM Plex Sans" pitchFamily="34" charset="-122"/>
                <a:cs typeface="IBM Plex Sans" pitchFamily="34" charset="-120"/>
              </a:rPr>
              <a:t>Ray</a:t>
            </a:r>
            <a:r>
              <a:rPr lang="en-US" sz="1500" dirty="0">
                <a:solidFill>
                  <a:srgbClr val="111B2B"/>
                </a:solidFill>
                <a:latin typeface="IBM Plex Sans" pitchFamily="34" charset="0"/>
                <a:ea typeface="IBM Plex Sans" pitchFamily="34" charset="-122"/>
                <a:cs typeface="IBM Plex Sans" pitchFamily="34" charset="-120"/>
              </a:rPr>
              <a:t> solves spreading: running Python work across them.</a:t>
            </a:r>
            <a:endParaRPr lang="en-US" sz="1500" dirty="0"/>
          </a:p>
        </p:txBody>
      </p:sp>
      <p:sp>
        <p:nvSpPr>
          <p:cNvPr id="18"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Slurm + Ray for AI · 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D5FA8"/>
                </a:solidFill>
                <a:latin typeface="JetBrains Mono" pitchFamily="49" charset="0"/>
                <a:ea typeface="JetBrains Mono" pitchFamily="49" charset="-122"/>
                <a:cs typeface="JetBrains Mono" pitchFamily="49" charset="-120"/>
              </a:rPr>
              <a:t>02 · SLURM</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11B2B"/>
                </a:solidFill>
                <a:latin typeface="IBM Plex Sans" pitchFamily="34" charset="0"/>
                <a:ea typeface="IBM Plex Sans" pitchFamily="34" charset="-122"/>
                <a:cs typeface="IBM Plex Sans" pitchFamily="34" charset="-120"/>
              </a:rPr>
              <a:t>What is Slurm?</a:t>
            </a:r>
            <a:endParaRPr lang="en-US" sz="3200" dirty="0"/>
          </a:p>
        </p:txBody>
      </p:sp>
      <p:sp>
        <p:nvSpPr>
          <p:cNvPr id="4" name="Text 2"/>
          <p:cNvSpPr/>
          <p:nvPr/>
        </p:nvSpPr>
        <p:spPr>
          <a:xfrm>
            <a:off x="812800" y="1854101"/>
            <a:ext cx="5232400" cy="10541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111B2B"/>
                </a:solidFill>
                <a:latin typeface="IBM Plex Sans" pitchFamily="34" charset="0"/>
                <a:ea typeface="IBM Plex Sans" pitchFamily="34" charset="-122"/>
                <a:cs typeface="IBM Plex Sans" pitchFamily="34" charset="-120"/>
              </a:rPr>
              <a:t>An open-source </a:t>
            </a:r>
            <a:r>
              <a:rPr lang="en-US" sz="2000" b="1" dirty="0">
                <a:solidFill>
                  <a:srgbClr val="111B2B"/>
                </a:solidFill>
                <a:latin typeface="IBM Plex Sans" pitchFamily="34" charset="0"/>
                <a:ea typeface="IBM Plex Sans" pitchFamily="34" charset="-122"/>
                <a:cs typeface="IBM Plex Sans" pitchFamily="34" charset="-120"/>
              </a:rPr>
              <a:t>workload manager</a:t>
            </a:r>
            <a:r>
              <a:rPr lang="en-US" sz="2000" dirty="0">
                <a:solidFill>
                  <a:srgbClr val="111B2B"/>
                </a:solidFill>
                <a:latin typeface="IBM Plex Sans" pitchFamily="34" charset="0"/>
                <a:ea typeface="IBM Plex Sans" pitchFamily="34" charset="-122"/>
                <a:cs typeface="IBM Plex Sans" pitchFamily="34" charset="-120"/>
              </a:rPr>
              <a:t> for clusters. You ask for resources; Slurm decides </a:t>
            </a:r>
            <a:r>
              <a:rPr lang="en-US" sz="2000" dirty="0">
                <a:solidFill>
                  <a:srgbClr val="1D5FA8"/>
                </a:solidFill>
                <a:latin typeface="IBM Plex Sans" pitchFamily="34" charset="0"/>
                <a:ea typeface="IBM Plex Sans" pitchFamily="34" charset="-122"/>
                <a:cs typeface="IBM Plex Sans" pitchFamily="34" charset="-120"/>
              </a:rPr>
              <a:t>when and where</a:t>
            </a:r>
            <a:r>
              <a:rPr lang="en-US" sz="2000" dirty="0">
                <a:solidFill>
                  <a:srgbClr val="111B2B"/>
                </a:solidFill>
                <a:latin typeface="IBM Plex Sans" pitchFamily="34" charset="0"/>
                <a:ea typeface="IBM Plex Sans" pitchFamily="34" charset="-122"/>
                <a:cs typeface="IBM Plex Sans" pitchFamily="34" charset="-120"/>
              </a:rPr>
              <a:t> your job runs.</a:t>
            </a:r>
            <a:endParaRPr lang="en-US" sz="2000" dirty="0"/>
          </a:p>
        </p:txBody>
      </p:sp>
      <p:sp>
        <p:nvSpPr>
          <p:cNvPr id="5" name="Text 3"/>
          <p:cNvSpPr/>
          <p:nvPr/>
        </p:nvSpPr>
        <p:spPr>
          <a:xfrm>
            <a:off x="812800" y="3086001"/>
            <a:ext cx="523240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The name comes from “Simple Linux Utility for Resource Management”. SchedMD maintains it, and it runs many of the world’s largest supercomputers and AI clusters.</a:t>
            </a:r>
            <a:endParaRPr lang="en-US" sz="1500" dirty="0"/>
          </a:p>
        </p:txBody>
      </p:sp>
      <p:sp>
        <p:nvSpPr>
          <p:cNvPr id="6" name="Text 4"/>
          <p:cNvSpPr/>
          <p:nvPr/>
        </p:nvSpPr>
        <p:spPr>
          <a:xfrm>
            <a:off x="812800" y="4089301"/>
            <a:ext cx="523240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Think of it as the front desk of a hotel: it hands out rooms, keeps the waiting list and checks people out.</a:t>
            </a:r>
            <a:endParaRPr lang="en-US" sz="1500" dirty="0"/>
          </a:p>
        </p:txBody>
      </p:sp>
      <p:sp>
        <p:nvSpPr>
          <p:cNvPr id="7" name="Shape 5"/>
          <p:cNvSpPr/>
          <p:nvPr/>
        </p:nvSpPr>
        <p:spPr>
          <a:xfrm>
            <a:off x="6299200" y="1860451"/>
            <a:ext cx="5080000" cy="0"/>
          </a:xfrm>
          <a:prstGeom prst="line">
            <a:avLst/>
          </a:prstGeom>
          <a:noFill/>
          <a:ln w="12700">
            <a:solidFill>
              <a:srgbClr val="1D5FA8"/>
            </a:solidFill>
            <a:prstDash val="solid"/>
          </a:ln>
        </p:spPr>
      </p:sp>
      <p:sp>
        <p:nvSpPr>
          <p:cNvPr id="8" name="Text 6"/>
          <p:cNvSpPr/>
          <p:nvPr/>
        </p:nvSpPr>
        <p:spPr>
          <a:xfrm>
            <a:off x="6299200" y="2044601"/>
            <a:ext cx="194370" cy="766961"/>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D5FA8"/>
                </a:solidFill>
                <a:latin typeface="JetBrains Mono" pitchFamily="49" charset="0"/>
                <a:ea typeface="JetBrains Mono" pitchFamily="49" charset="-122"/>
                <a:cs typeface="JetBrains Mono" pitchFamily="49" charset="-120"/>
              </a:rPr>
              <a:t>1</a:t>
            </a:r>
            <a:endParaRPr lang="en-US" sz="2000" dirty="0"/>
          </a:p>
        </p:txBody>
      </p:sp>
      <p:sp>
        <p:nvSpPr>
          <p:cNvPr id="9" name="Text 7"/>
          <p:cNvSpPr/>
          <p:nvPr/>
        </p:nvSpPr>
        <p:spPr>
          <a:xfrm>
            <a:off x="6595170" y="2044601"/>
            <a:ext cx="4927551"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11B2B"/>
                </a:solidFill>
                <a:latin typeface="IBM Plex Sans" pitchFamily="34" charset="0"/>
                <a:ea typeface="IBM Plex Sans" pitchFamily="34" charset="-122"/>
                <a:cs typeface="IBM Plex Sans" pitchFamily="34" charset="-120"/>
              </a:rPr>
              <a:t>Allocate</a:t>
            </a:r>
            <a:endParaRPr lang="en-US" sz="1600" dirty="0"/>
          </a:p>
        </p:txBody>
      </p:sp>
      <p:sp>
        <p:nvSpPr>
          <p:cNvPr id="10" name="Text 8"/>
          <p:cNvSpPr/>
          <p:nvPr/>
        </p:nvSpPr>
        <p:spPr>
          <a:xfrm>
            <a:off x="6595170" y="2359521"/>
            <a:ext cx="492755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Gives a job exclusive use of nodes, CPUs, GPUs and memory for a set time.</a:t>
            </a:r>
            <a:endParaRPr lang="en-US" sz="1200" dirty="0"/>
          </a:p>
        </p:txBody>
      </p:sp>
      <p:sp>
        <p:nvSpPr>
          <p:cNvPr id="11" name="Shape 9"/>
          <p:cNvSpPr/>
          <p:nvPr/>
        </p:nvSpPr>
        <p:spPr>
          <a:xfrm>
            <a:off x="6299200" y="2967137"/>
            <a:ext cx="5080000" cy="0"/>
          </a:xfrm>
          <a:prstGeom prst="line">
            <a:avLst/>
          </a:prstGeom>
          <a:noFill/>
          <a:ln w="6350">
            <a:solidFill>
              <a:srgbClr val="DCD6CA"/>
            </a:solidFill>
            <a:prstDash val="solid"/>
          </a:ln>
        </p:spPr>
      </p:sp>
      <p:sp>
        <p:nvSpPr>
          <p:cNvPr id="12" name="Text 10"/>
          <p:cNvSpPr/>
          <p:nvPr/>
        </p:nvSpPr>
        <p:spPr>
          <a:xfrm>
            <a:off x="6299200" y="3148112"/>
            <a:ext cx="193873" cy="766961"/>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D5FA8"/>
                </a:solidFill>
                <a:latin typeface="JetBrains Mono" pitchFamily="49" charset="0"/>
                <a:ea typeface="JetBrains Mono" pitchFamily="49" charset="-122"/>
                <a:cs typeface="JetBrains Mono" pitchFamily="49" charset="-120"/>
              </a:rPr>
              <a:t>2</a:t>
            </a:r>
            <a:endParaRPr lang="en-US" sz="2000" dirty="0"/>
          </a:p>
        </p:txBody>
      </p:sp>
      <p:sp>
        <p:nvSpPr>
          <p:cNvPr id="13" name="Text 11"/>
          <p:cNvSpPr/>
          <p:nvPr/>
        </p:nvSpPr>
        <p:spPr>
          <a:xfrm>
            <a:off x="6594673" y="3148112"/>
            <a:ext cx="4928062"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11B2B"/>
                </a:solidFill>
                <a:latin typeface="IBM Plex Sans" pitchFamily="34" charset="0"/>
                <a:ea typeface="IBM Plex Sans" pitchFamily="34" charset="-122"/>
                <a:cs typeface="IBM Plex Sans" pitchFamily="34" charset="-120"/>
              </a:rPr>
              <a:t>Launch and watch</a:t>
            </a:r>
            <a:endParaRPr lang="en-US" sz="1600" dirty="0"/>
          </a:p>
        </p:txBody>
      </p:sp>
      <p:sp>
        <p:nvSpPr>
          <p:cNvPr id="14" name="Text 12"/>
          <p:cNvSpPr/>
          <p:nvPr/>
        </p:nvSpPr>
        <p:spPr>
          <a:xfrm>
            <a:off x="6594673" y="3463032"/>
            <a:ext cx="492806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Starts the job’s processes on those nodes and tracks them until they finish.</a:t>
            </a:r>
            <a:endParaRPr lang="en-US" sz="1200" dirty="0"/>
          </a:p>
        </p:txBody>
      </p:sp>
      <p:sp>
        <p:nvSpPr>
          <p:cNvPr id="15" name="Shape 13"/>
          <p:cNvSpPr/>
          <p:nvPr/>
        </p:nvSpPr>
        <p:spPr>
          <a:xfrm>
            <a:off x="6299200" y="4070648"/>
            <a:ext cx="5080000" cy="0"/>
          </a:xfrm>
          <a:prstGeom prst="line">
            <a:avLst/>
          </a:prstGeom>
          <a:noFill/>
          <a:ln w="6350">
            <a:solidFill>
              <a:srgbClr val="DCD6CA"/>
            </a:solidFill>
            <a:prstDash val="solid"/>
          </a:ln>
        </p:spPr>
      </p:sp>
      <p:sp>
        <p:nvSpPr>
          <p:cNvPr id="16" name="Shape 14"/>
          <p:cNvSpPr/>
          <p:nvPr/>
        </p:nvSpPr>
        <p:spPr>
          <a:xfrm>
            <a:off x="6299200" y="5174159"/>
            <a:ext cx="5080000" cy="0"/>
          </a:xfrm>
          <a:prstGeom prst="line">
            <a:avLst/>
          </a:prstGeom>
          <a:noFill/>
          <a:ln w="6350">
            <a:solidFill>
              <a:srgbClr val="DCD6CA"/>
            </a:solidFill>
            <a:prstDash val="solid"/>
          </a:ln>
        </p:spPr>
      </p:sp>
      <p:sp>
        <p:nvSpPr>
          <p:cNvPr id="17" name="Text 15"/>
          <p:cNvSpPr/>
          <p:nvPr/>
        </p:nvSpPr>
        <p:spPr>
          <a:xfrm>
            <a:off x="6299200" y="4251623"/>
            <a:ext cx="198041" cy="766961"/>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D5FA8"/>
                </a:solidFill>
                <a:latin typeface="JetBrains Mono" pitchFamily="49" charset="0"/>
                <a:ea typeface="JetBrains Mono" pitchFamily="49" charset="-122"/>
                <a:cs typeface="JetBrains Mono" pitchFamily="49" charset="-120"/>
              </a:rPr>
              <a:t>3</a:t>
            </a:r>
            <a:endParaRPr lang="en-US" sz="2000" dirty="0"/>
          </a:p>
        </p:txBody>
      </p:sp>
      <p:sp>
        <p:nvSpPr>
          <p:cNvPr id="18" name="Text 16"/>
          <p:cNvSpPr/>
          <p:nvPr/>
        </p:nvSpPr>
        <p:spPr>
          <a:xfrm>
            <a:off x="6598841" y="4251623"/>
            <a:ext cx="4923770"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11B2B"/>
                </a:solidFill>
                <a:latin typeface="IBM Plex Sans" pitchFamily="34" charset="0"/>
                <a:ea typeface="IBM Plex Sans" pitchFamily="34" charset="-122"/>
                <a:cs typeface="IBM Plex Sans" pitchFamily="34" charset="-120"/>
              </a:rPr>
              <a:t>Queue</a:t>
            </a:r>
            <a:endParaRPr lang="en-US" sz="1600" dirty="0"/>
          </a:p>
        </p:txBody>
      </p:sp>
      <p:sp>
        <p:nvSpPr>
          <p:cNvPr id="19" name="Text 17"/>
          <p:cNvSpPr/>
          <p:nvPr/>
        </p:nvSpPr>
        <p:spPr>
          <a:xfrm>
            <a:off x="6598841" y="4566543"/>
            <a:ext cx="492377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When the cluster is full, jobs wait in line, ordered by priority and fairness.</a:t>
            </a:r>
            <a:endParaRPr lang="en-US" sz="12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Slurm + Ray for AI · 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D5FA8"/>
                </a:solidFill>
                <a:latin typeface="JetBrains Mono" pitchFamily="49" charset="0"/>
                <a:ea typeface="JetBrains Mono" pitchFamily="49" charset="-122"/>
                <a:cs typeface="JetBrains Mono" pitchFamily="49" charset="-120"/>
              </a:rPr>
              <a:t>02 · SLURM</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11B2B"/>
                </a:solidFill>
                <a:latin typeface="IBM Plex Sans" pitchFamily="34" charset="0"/>
                <a:ea typeface="IBM Plex Sans" pitchFamily="34" charset="-122"/>
                <a:cs typeface="IBM Plex Sans" pitchFamily="34" charset="-120"/>
              </a:rPr>
              <a:t>Slurm’s architecture</a:t>
            </a:r>
            <a:endParaRPr lang="en-US" sz="3200" dirty="0"/>
          </a:p>
        </p:txBody>
      </p:sp>
      <p:sp>
        <p:nvSpPr>
          <p:cNvPr id="4" name="Text 2"/>
          <p:cNvSpPr/>
          <p:nvPr/>
        </p:nvSpPr>
        <p:spPr>
          <a:xfrm>
            <a:off x="2163366" y="1857276"/>
            <a:ext cx="3013770" cy="422870"/>
          </a:xfrm>
          <a:prstGeom prst="roundRect">
            <a:avLst>
              <a:gd name="adj" fmla="val 17269"/>
            </a:avLst>
          </a:prstGeom>
          <a:solidFill>
            <a:srgbClr val="FCFBF7"/>
          </a:solidFill>
          <a:ln w="6350">
            <a:solidFill>
              <a:srgbClr val="DCD6CA"/>
            </a:solidFill>
            <a:prstDash val="solid"/>
          </a:ln>
        </p:spPr>
        <p:txBody>
          <a:bodyPr wrap="none" lIns="0" tIns="0" rIns="0" bIns="0" rtlCol="0" anchor="ctr">
            <a:normAutofit/>
          </a:bodyPr>
          <a:lstStyle/>
          <a:p>
            <a:pPr algn="ctr" indent="0" marL="0">
              <a:lnSpc>
                <a:spcPts val="1680"/>
              </a:lnSpc>
              <a:buNone/>
            </a:pPr>
            <a:r>
              <a:rPr lang="en-US" sz="1200" dirty="0">
                <a:solidFill>
                  <a:srgbClr val="111B2B"/>
                </a:solidFill>
                <a:latin typeface="JetBrains Mono" pitchFamily="49" charset="0"/>
                <a:ea typeface="JetBrains Mono" pitchFamily="49" charset="-122"/>
                <a:cs typeface="JetBrains Mono" pitchFamily="49" charset="-120"/>
              </a:rPr>
              <a:t>you → sbatch · squeue · sinfo</a:t>
            </a:r>
            <a:endParaRPr lang="en-US" sz="1200" dirty="0"/>
          </a:p>
        </p:txBody>
      </p:sp>
      <p:pic>
        <p:nvPicPr>
          <p:cNvPr id="5" name="Image 0" descr="arrow-down">    </p:cNvPr>
          <p:cNvPicPr>
            <a:picLocks noChangeAspect="1"/>
          </p:cNvPicPr>
          <p:nvPr/>
        </p:nvPicPr>
        <p:blipFill>
          <a:blip r:embed="rId1"/>
          <a:srcRect l="0" r="0" t="0" b="0"/>
          <a:stretch/>
        </p:blipFill>
        <p:spPr>
          <a:xfrm>
            <a:off x="3581400" y="2334121"/>
            <a:ext cx="177800" cy="304800"/>
          </a:xfrm>
          <a:prstGeom prst="rect">
            <a:avLst/>
          </a:prstGeom>
        </p:spPr>
      </p:pic>
      <p:sp>
        <p:nvSpPr>
          <p:cNvPr id="6" name="Shape 3"/>
          <p:cNvSpPr/>
          <p:nvPr/>
        </p:nvSpPr>
        <p:spPr>
          <a:xfrm>
            <a:off x="1974652" y="2689721"/>
            <a:ext cx="3391198" cy="820341"/>
          </a:xfrm>
          <a:prstGeom prst="roundRect">
            <a:avLst>
              <a:gd name="adj" fmla="val 12385"/>
            </a:avLst>
          </a:prstGeom>
          <a:solidFill>
            <a:srgbClr val="1D5FA8"/>
          </a:solidFill>
          <a:ln/>
        </p:spPr>
      </p:sp>
      <p:sp>
        <p:nvSpPr>
          <p:cNvPr id="7" name="Text 4"/>
          <p:cNvSpPr/>
          <p:nvPr/>
        </p:nvSpPr>
        <p:spPr>
          <a:xfrm>
            <a:off x="2477899" y="2842121"/>
            <a:ext cx="2384703" cy="289520"/>
          </a:xfrm>
          <a:prstGeom prst="rect">
            <a:avLst/>
          </a:prstGeom>
          <a:noFill/>
          <a:ln/>
        </p:spPr>
        <p:txBody>
          <a:bodyPr wrap="square" lIns="0" tIns="0" rIns="0" bIns="0" rtlCol="0" anchor="t">
            <a:normAutofit/>
          </a:bodyPr>
          <a:lstStyle/>
          <a:p>
            <a:pPr algn="ctr" indent="0" marL="0">
              <a:lnSpc>
                <a:spcPts val="2080"/>
              </a:lnSpc>
              <a:buNone/>
            </a:pPr>
            <a:r>
              <a:rPr lang="en-US" sz="1600" b="1" dirty="0">
                <a:solidFill>
                  <a:srgbClr val="F5F3EE"/>
                </a:solidFill>
                <a:latin typeface="IBM Plex Sans" pitchFamily="34" charset="0"/>
                <a:ea typeface="IBM Plex Sans" pitchFamily="34" charset="-122"/>
                <a:cs typeface="IBM Plex Sans" pitchFamily="34" charset="-120"/>
              </a:rPr>
              <a:t>controller · slurmctld</a:t>
            </a:r>
            <a:endParaRPr lang="en-US" sz="1600" dirty="0"/>
          </a:p>
        </p:txBody>
      </p:sp>
      <p:sp>
        <p:nvSpPr>
          <p:cNvPr id="8" name="Text 5"/>
          <p:cNvSpPr/>
          <p:nvPr/>
        </p:nvSpPr>
        <p:spPr>
          <a:xfrm>
            <a:off x="2279452" y="3144341"/>
            <a:ext cx="30863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3ECF6"/>
                </a:solidFill>
                <a:latin typeface="IBM Plex Sans" pitchFamily="34" charset="0"/>
                <a:ea typeface="IBM Plex Sans" pitchFamily="34" charset="-122"/>
                <a:cs typeface="IBM Plex Sans" pitchFamily="34" charset="-120"/>
              </a:rPr>
              <a:t>the brain: node list, job queue, scheduler</a:t>
            </a:r>
            <a:endParaRPr lang="en-US" sz="1200" dirty="0"/>
          </a:p>
        </p:txBody>
      </p:sp>
      <p:pic>
        <p:nvPicPr>
          <p:cNvPr id="9" name="Image 1" descr="arrow-down">    </p:cNvPr>
          <p:cNvPicPr>
            <a:picLocks noChangeAspect="1"/>
          </p:cNvPicPr>
          <p:nvPr/>
        </p:nvPicPr>
        <p:blipFill>
          <a:blip r:embed="rId2"/>
          <a:srcRect l="0" r="0" t="0" b="0"/>
          <a:stretch/>
        </p:blipFill>
        <p:spPr>
          <a:xfrm>
            <a:off x="3581400" y="3560862"/>
            <a:ext cx="177800" cy="304800"/>
          </a:xfrm>
          <a:prstGeom prst="rect">
            <a:avLst/>
          </a:prstGeom>
        </p:spPr>
      </p:pic>
      <p:sp>
        <p:nvSpPr>
          <p:cNvPr id="10" name="Shape 6"/>
          <p:cNvSpPr/>
          <p:nvPr/>
        </p:nvSpPr>
        <p:spPr>
          <a:xfrm>
            <a:off x="819150" y="3922812"/>
            <a:ext cx="5702300" cy="1414661"/>
          </a:xfrm>
          <a:prstGeom prst="roundRect">
            <a:avLst>
              <a:gd name="adj" fmla="val 6733"/>
            </a:avLst>
          </a:prstGeom>
          <a:noFill/>
          <a:ln w="12700">
            <a:solidFill>
              <a:srgbClr val="1D5FA8"/>
            </a:solidFill>
            <a:prstDash val="dash"/>
          </a:ln>
        </p:spPr>
      </p:sp>
      <p:sp>
        <p:nvSpPr>
          <p:cNvPr id="11" name="Text 7"/>
          <p:cNvSpPr/>
          <p:nvPr/>
        </p:nvSpPr>
        <p:spPr>
          <a:xfrm>
            <a:off x="977900" y="4081562"/>
            <a:ext cx="554634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5FA8"/>
                </a:solidFill>
                <a:latin typeface="JetBrains Mono" pitchFamily="49" charset="0"/>
                <a:ea typeface="JetBrains Mono" pitchFamily="49" charset="-122"/>
                <a:cs typeface="JetBrains Mono" pitchFamily="49" charset="-120"/>
              </a:rPr>
              <a:t>partition: compute</a:t>
            </a:r>
            <a:endParaRPr lang="en-US" sz="1200" dirty="0"/>
          </a:p>
        </p:txBody>
      </p:sp>
      <p:sp>
        <p:nvSpPr>
          <p:cNvPr id="12" name="Shape 8"/>
          <p:cNvSpPr/>
          <p:nvPr/>
        </p:nvSpPr>
        <p:spPr>
          <a:xfrm>
            <a:off x="981075" y="4399657"/>
            <a:ext cx="2609850" cy="775891"/>
          </a:xfrm>
          <a:prstGeom prst="roundRect">
            <a:avLst>
              <a:gd name="adj" fmla="val 9412"/>
            </a:avLst>
          </a:prstGeom>
          <a:solidFill>
            <a:srgbClr val="FCFBF7"/>
          </a:solidFill>
          <a:ln w="6350">
            <a:solidFill>
              <a:srgbClr val="DCD6CA"/>
            </a:solidFill>
            <a:prstDash val="solid"/>
          </a:ln>
        </p:spPr>
      </p:sp>
      <p:sp>
        <p:nvSpPr>
          <p:cNvPr id="13" name="Text 9"/>
          <p:cNvSpPr/>
          <p:nvPr/>
        </p:nvSpPr>
        <p:spPr>
          <a:xfrm>
            <a:off x="1162050" y="4529832"/>
            <a:ext cx="2315337"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11B2B"/>
                </a:solidFill>
                <a:latin typeface="IBM Plex Sans" pitchFamily="34" charset="0"/>
                <a:ea typeface="IBM Plex Sans" pitchFamily="34" charset="-122"/>
                <a:cs typeface="IBM Plex Sans" pitchFamily="34" charset="-120"/>
              </a:rPr>
              <a:t>worker1</a:t>
            </a:r>
            <a:endParaRPr lang="en-US" sz="1600" dirty="0"/>
          </a:p>
        </p:txBody>
      </p:sp>
      <p:sp>
        <p:nvSpPr>
          <p:cNvPr id="14" name="Text 10"/>
          <p:cNvSpPr/>
          <p:nvPr/>
        </p:nvSpPr>
        <p:spPr>
          <a:xfrm>
            <a:off x="1162050" y="4832052"/>
            <a:ext cx="23153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slurmd · 2 CPUs · 1 GB</a:t>
            </a:r>
            <a:endParaRPr lang="en-US" sz="1200" dirty="0"/>
          </a:p>
        </p:txBody>
      </p:sp>
      <p:sp>
        <p:nvSpPr>
          <p:cNvPr id="15" name="Shape 11"/>
          <p:cNvSpPr/>
          <p:nvPr/>
        </p:nvSpPr>
        <p:spPr>
          <a:xfrm>
            <a:off x="3749675" y="4399657"/>
            <a:ext cx="2609850" cy="775891"/>
          </a:xfrm>
          <a:prstGeom prst="roundRect">
            <a:avLst>
              <a:gd name="adj" fmla="val 9412"/>
            </a:avLst>
          </a:prstGeom>
          <a:solidFill>
            <a:srgbClr val="FCFBF7"/>
          </a:solidFill>
          <a:ln w="6350">
            <a:solidFill>
              <a:srgbClr val="DCD6CA"/>
            </a:solidFill>
            <a:prstDash val="solid"/>
          </a:ln>
        </p:spPr>
      </p:sp>
      <p:sp>
        <p:nvSpPr>
          <p:cNvPr id="16" name="Text 12"/>
          <p:cNvSpPr/>
          <p:nvPr/>
        </p:nvSpPr>
        <p:spPr>
          <a:xfrm>
            <a:off x="3930650" y="4529832"/>
            <a:ext cx="2315337"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11B2B"/>
                </a:solidFill>
                <a:latin typeface="IBM Plex Sans" pitchFamily="34" charset="0"/>
                <a:ea typeface="IBM Plex Sans" pitchFamily="34" charset="-122"/>
                <a:cs typeface="IBM Plex Sans" pitchFamily="34" charset="-120"/>
              </a:rPr>
              <a:t>worker2</a:t>
            </a:r>
            <a:endParaRPr lang="en-US" sz="1600" dirty="0"/>
          </a:p>
        </p:txBody>
      </p:sp>
      <p:sp>
        <p:nvSpPr>
          <p:cNvPr id="17" name="Text 13"/>
          <p:cNvSpPr/>
          <p:nvPr/>
        </p:nvSpPr>
        <p:spPr>
          <a:xfrm>
            <a:off x="3930650" y="4832052"/>
            <a:ext cx="23153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slurmd · 2 CPUs · 1 GB</a:t>
            </a:r>
            <a:endParaRPr lang="en-US" sz="1200" dirty="0"/>
          </a:p>
        </p:txBody>
      </p:sp>
      <p:sp>
        <p:nvSpPr>
          <p:cNvPr id="18" name="Text 14"/>
          <p:cNvSpPr/>
          <p:nvPr/>
        </p:nvSpPr>
        <p:spPr>
          <a:xfrm>
            <a:off x="6934200" y="1854101"/>
            <a:ext cx="457835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D5FA8"/>
                </a:solidFill>
                <a:latin typeface="JetBrains Mono" pitchFamily="49" charset="0"/>
                <a:ea typeface="JetBrains Mono" pitchFamily="49" charset="-122"/>
                <a:cs typeface="JetBrains Mono" pitchFamily="49" charset="-120"/>
              </a:rPr>
              <a:t>slurmctld</a:t>
            </a:r>
            <a:endParaRPr lang="en-US" sz="1500" dirty="0"/>
          </a:p>
        </p:txBody>
      </p:sp>
      <p:sp>
        <p:nvSpPr>
          <p:cNvPr id="19" name="Text 15"/>
          <p:cNvSpPr/>
          <p:nvPr/>
        </p:nvSpPr>
        <p:spPr>
          <a:xfrm>
            <a:off x="6934200" y="2158901"/>
            <a:ext cx="45783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Central daemon. Knows every node, holds the queue, decides what runs where.</a:t>
            </a:r>
            <a:endParaRPr lang="en-US" sz="1200" dirty="0"/>
          </a:p>
        </p:txBody>
      </p:sp>
      <p:sp>
        <p:nvSpPr>
          <p:cNvPr id="20" name="Text 16"/>
          <p:cNvSpPr/>
          <p:nvPr/>
        </p:nvSpPr>
        <p:spPr>
          <a:xfrm>
            <a:off x="6934200" y="2763341"/>
            <a:ext cx="457835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D5FA8"/>
                </a:solidFill>
                <a:latin typeface="JetBrains Mono" pitchFamily="49" charset="0"/>
                <a:ea typeface="JetBrains Mono" pitchFamily="49" charset="-122"/>
                <a:cs typeface="JetBrains Mono" pitchFamily="49" charset="-120"/>
              </a:rPr>
              <a:t>slurmd</a:t>
            </a:r>
            <a:endParaRPr lang="en-US" sz="1500" dirty="0"/>
          </a:p>
        </p:txBody>
      </p:sp>
      <p:sp>
        <p:nvSpPr>
          <p:cNvPr id="21" name="Text 17"/>
          <p:cNvSpPr/>
          <p:nvPr/>
        </p:nvSpPr>
        <p:spPr>
          <a:xfrm>
            <a:off x="6934200" y="3068141"/>
            <a:ext cx="45783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One per compute node. Starts and kills job processes, reports health.</a:t>
            </a:r>
            <a:endParaRPr lang="en-US" sz="1200" dirty="0"/>
          </a:p>
        </p:txBody>
      </p:sp>
      <p:sp>
        <p:nvSpPr>
          <p:cNvPr id="22" name="Text 18"/>
          <p:cNvSpPr/>
          <p:nvPr/>
        </p:nvSpPr>
        <p:spPr>
          <a:xfrm>
            <a:off x="6934200" y="3672582"/>
            <a:ext cx="457835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D5FA8"/>
                </a:solidFill>
                <a:latin typeface="JetBrains Mono" pitchFamily="49" charset="0"/>
                <a:ea typeface="JetBrains Mono" pitchFamily="49" charset="-122"/>
                <a:cs typeface="JetBrains Mono" pitchFamily="49" charset="-120"/>
              </a:rPr>
              <a:t>munge</a:t>
            </a:r>
            <a:endParaRPr lang="en-US" sz="1500" dirty="0"/>
          </a:p>
        </p:txBody>
      </p:sp>
      <p:sp>
        <p:nvSpPr>
          <p:cNvPr id="23" name="Text 19"/>
          <p:cNvSpPr/>
          <p:nvPr/>
        </p:nvSpPr>
        <p:spPr>
          <a:xfrm>
            <a:off x="6934200" y="3977382"/>
            <a:ext cx="45783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Authentication. Every node shares one secret key, so messages can be trusted.</a:t>
            </a:r>
            <a:endParaRPr lang="en-US" sz="1200" dirty="0"/>
          </a:p>
        </p:txBody>
      </p:sp>
      <p:sp>
        <p:nvSpPr>
          <p:cNvPr id="24" name="Text 20"/>
          <p:cNvSpPr/>
          <p:nvPr/>
        </p:nvSpPr>
        <p:spPr>
          <a:xfrm>
            <a:off x="6934200" y="4581823"/>
            <a:ext cx="457835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D5FA8"/>
                </a:solidFill>
                <a:latin typeface="JetBrains Mono" pitchFamily="49" charset="0"/>
                <a:ea typeface="JetBrains Mono" pitchFamily="49" charset="-122"/>
                <a:cs typeface="JetBrains Mono" pitchFamily="49" charset="-120"/>
              </a:rPr>
              <a:t>slurm.conf</a:t>
            </a:r>
            <a:endParaRPr lang="en-US" sz="1500" dirty="0"/>
          </a:p>
        </p:txBody>
      </p:sp>
      <p:sp>
        <p:nvSpPr>
          <p:cNvPr id="25" name="Text 21"/>
          <p:cNvSpPr/>
          <p:nvPr/>
        </p:nvSpPr>
        <p:spPr>
          <a:xfrm>
            <a:off x="6934200" y="4886623"/>
            <a:ext cx="45783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One config file, identical on every node: nodes, CPUs, memory, partitions.</a:t>
            </a:r>
            <a:endParaRPr lang="en-US" sz="1200" dirty="0"/>
          </a:p>
        </p:txBody>
      </p:sp>
      <p:sp>
        <p:nvSpPr>
          <p:cNvPr id="26" name="Text 2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Slurm + Ray for AI · 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D5FA8"/>
                </a:solidFill>
                <a:latin typeface="JetBrains Mono" pitchFamily="49" charset="0"/>
                <a:ea typeface="JetBrains Mono" pitchFamily="49" charset="-122"/>
                <a:cs typeface="JetBrains Mono" pitchFamily="49" charset="-120"/>
              </a:rPr>
              <a:t>02 · SLURM</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11B2B"/>
                </a:solidFill>
                <a:latin typeface="IBM Plex Sans" pitchFamily="34" charset="0"/>
                <a:ea typeface="IBM Plex Sans" pitchFamily="34" charset="-122"/>
                <a:cs typeface="IBM Plex Sans" pitchFamily="34" charset="-120"/>
              </a:rPr>
              <a:t>The life of a Slurm job</a:t>
            </a:r>
            <a:endParaRPr lang="en-US" sz="3200" dirty="0"/>
          </a:p>
        </p:txBody>
      </p:sp>
      <p:sp>
        <p:nvSpPr>
          <p:cNvPr id="4" name="Shape 2"/>
          <p:cNvSpPr/>
          <p:nvPr/>
        </p:nvSpPr>
        <p:spPr>
          <a:xfrm>
            <a:off x="815975" y="1963936"/>
            <a:ext cx="2257425" cy="841970"/>
          </a:xfrm>
          <a:prstGeom prst="roundRect">
            <a:avLst>
              <a:gd name="adj" fmla="val 11690"/>
            </a:avLst>
          </a:prstGeom>
          <a:solidFill>
            <a:srgbClr val="FCFBF7"/>
          </a:solidFill>
          <a:ln w="6350">
            <a:solidFill>
              <a:srgbClr val="DCD6CA"/>
            </a:solidFill>
            <a:prstDash val="solid"/>
          </a:ln>
        </p:spPr>
      </p:sp>
      <p:sp>
        <p:nvSpPr>
          <p:cNvPr id="5" name="Text 3"/>
          <p:cNvSpPr/>
          <p:nvPr/>
        </p:nvSpPr>
        <p:spPr>
          <a:xfrm>
            <a:off x="996950" y="2119511"/>
            <a:ext cx="1952339"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D5FA8"/>
                </a:solidFill>
                <a:latin typeface="JetBrains Mono" pitchFamily="49" charset="0"/>
                <a:ea typeface="JetBrains Mono" pitchFamily="49" charset="-122"/>
                <a:cs typeface="JetBrains Mono" pitchFamily="49" charset="-120"/>
              </a:rPr>
              <a:t>sbatch</a:t>
            </a:r>
            <a:endParaRPr lang="en-US" sz="1500" dirty="0"/>
          </a:p>
        </p:txBody>
      </p:sp>
      <p:sp>
        <p:nvSpPr>
          <p:cNvPr id="6" name="Text 4"/>
          <p:cNvSpPr/>
          <p:nvPr/>
        </p:nvSpPr>
        <p:spPr>
          <a:xfrm>
            <a:off x="996950" y="2437011"/>
            <a:ext cx="195233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You hand Slurm a script</a:t>
            </a:r>
            <a:endParaRPr lang="en-US" sz="1200" dirty="0"/>
          </a:p>
        </p:txBody>
      </p:sp>
      <p:pic>
        <p:nvPicPr>
          <p:cNvPr id="7" name="Image 0" descr="arrow-right">    </p:cNvPr>
          <p:cNvPicPr>
            <a:picLocks noChangeAspect="1"/>
          </p:cNvPicPr>
          <p:nvPr/>
        </p:nvPicPr>
        <p:blipFill>
          <a:blip r:embed="rId1"/>
          <a:srcRect l="0" r="0" t="0" b="0"/>
          <a:stretch/>
        </p:blipFill>
        <p:spPr>
          <a:xfrm>
            <a:off x="3178175" y="2296021"/>
            <a:ext cx="304800" cy="177800"/>
          </a:xfrm>
          <a:prstGeom prst="rect">
            <a:avLst/>
          </a:prstGeom>
        </p:spPr>
      </p:pic>
      <p:sp>
        <p:nvSpPr>
          <p:cNvPr id="8" name="Shape 5"/>
          <p:cNvSpPr/>
          <p:nvPr/>
        </p:nvSpPr>
        <p:spPr>
          <a:xfrm>
            <a:off x="3587750" y="1963936"/>
            <a:ext cx="2257425" cy="841970"/>
          </a:xfrm>
          <a:prstGeom prst="roundRect">
            <a:avLst>
              <a:gd name="adj" fmla="val 11690"/>
            </a:avLst>
          </a:prstGeom>
          <a:solidFill>
            <a:srgbClr val="FCFBF7"/>
          </a:solidFill>
          <a:ln w="6350">
            <a:solidFill>
              <a:srgbClr val="DCD6CA"/>
            </a:solidFill>
            <a:prstDash val="solid"/>
          </a:ln>
        </p:spPr>
      </p:sp>
      <p:sp>
        <p:nvSpPr>
          <p:cNvPr id="9" name="Text 6"/>
          <p:cNvSpPr/>
          <p:nvPr/>
        </p:nvSpPr>
        <p:spPr>
          <a:xfrm>
            <a:off x="3768725" y="2119511"/>
            <a:ext cx="1952339"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D5FA8"/>
                </a:solidFill>
                <a:latin typeface="JetBrains Mono" pitchFamily="49" charset="0"/>
                <a:ea typeface="JetBrains Mono" pitchFamily="49" charset="-122"/>
                <a:cs typeface="JetBrains Mono" pitchFamily="49" charset="-120"/>
              </a:rPr>
              <a:t>PENDING</a:t>
            </a:r>
            <a:endParaRPr lang="en-US" sz="1500" dirty="0"/>
          </a:p>
        </p:txBody>
      </p:sp>
      <p:sp>
        <p:nvSpPr>
          <p:cNvPr id="10" name="Text 7"/>
          <p:cNvSpPr/>
          <p:nvPr/>
        </p:nvSpPr>
        <p:spPr>
          <a:xfrm>
            <a:off x="3768725" y="2437011"/>
            <a:ext cx="195233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Waits for free nodes</a:t>
            </a:r>
            <a:endParaRPr lang="en-US" sz="1200" dirty="0"/>
          </a:p>
        </p:txBody>
      </p:sp>
      <p:pic>
        <p:nvPicPr>
          <p:cNvPr id="11" name="Image 1" descr="arrow-right">    </p:cNvPr>
          <p:cNvPicPr>
            <a:picLocks noChangeAspect="1"/>
          </p:cNvPicPr>
          <p:nvPr/>
        </p:nvPicPr>
        <p:blipFill>
          <a:blip r:embed="rId2"/>
          <a:srcRect l="0" r="0" t="0" b="0"/>
          <a:stretch/>
        </p:blipFill>
        <p:spPr>
          <a:xfrm>
            <a:off x="5949950" y="2296021"/>
            <a:ext cx="304800" cy="177800"/>
          </a:xfrm>
          <a:prstGeom prst="rect">
            <a:avLst/>
          </a:prstGeom>
        </p:spPr>
      </p:pic>
      <p:sp>
        <p:nvSpPr>
          <p:cNvPr id="12" name="Shape 8"/>
          <p:cNvSpPr/>
          <p:nvPr/>
        </p:nvSpPr>
        <p:spPr>
          <a:xfrm>
            <a:off x="6356350" y="1967111"/>
            <a:ext cx="2251075" cy="835620"/>
          </a:xfrm>
          <a:prstGeom prst="roundRect">
            <a:avLst>
              <a:gd name="adj" fmla="val 12159"/>
            </a:avLst>
          </a:prstGeom>
          <a:solidFill>
            <a:srgbClr val="1D5FA8"/>
          </a:solidFill>
          <a:ln/>
        </p:spPr>
      </p:sp>
      <p:sp>
        <p:nvSpPr>
          <p:cNvPr id="13" name="Text 9"/>
          <p:cNvSpPr/>
          <p:nvPr/>
        </p:nvSpPr>
        <p:spPr>
          <a:xfrm>
            <a:off x="6534150" y="2119511"/>
            <a:ext cx="1952339"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5F3EE"/>
                </a:solidFill>
                <a:latin typeface="JetBrains Mono" pitchFamily="49" charset="0"/>
                <a:ea typeface="JetBrains Mono" pitchFamily="49" charset="-122"/>
                <a:cs typeface="JetBrains Mono" pitchFamily="49" charset="-120"/>
              </a:rPr>
              <a:t>RUNNING</a:t>
            </a:r>
            <a:endParaRPr lang="en-US" sz="1500" dirty="0"/>
          </a:p>
        </p:txBody>
      </p:sp>
      <p:sp>
        <p:nvSpPr>
          <p:cNvPr id="14" name="Text 10"/>
          <p:cNvSpPr/>
          <p:nvPr/>
        </p:nvSpPr>
        <p:spPr>
          <a:xfrm>
            <a:off x="6534150" y="2437011"/>
            <a:ext cx="195233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3ECF6"/>
                </a:solidFill>
                <a:latin typeface="IBM Plex Sans" pitchFamily="34" charset="0"/>
                <a:ea typeface="IBM Plex Sans" pitchFamily="34" charset="-122"/>
                <a:cs typeface="IBM Plex Sans" pitchFamily="34" charset="-120"/>
              </a:rPr>
              <a:t>On its allocated nodes</a:t>
            </a:r>
            <a:endParaRPr lang="en-US" sz="1200" dirty="0"/>
          </a:p>
        </p:txBody>
      </p:sp>
      <p:pic>
        <p:nvPicPr>
          <p:cNvPr id="15" name="Image 2" descr="arrow-right">    </p:cNvPr>
          <p:cNvPicPr>
            <a:picLocks noChangeAspect="1"/>
          </p:cNvPicPr>
          <p:nvPr/>
        </p:nvPicPr>
        <p:blipFill>
          <a:blip r:embed="rId3"/>
          <a:srcRect l="0" r="0" t="0" b="0"/>
          <a:stretch/>
        </p:blipFill>
        <p:spPr>
          <a:xfrm>
            <a:off x="8709025" y="2296021"/>
            <a:ext cx="304800" cy="177800"/>
          </a:xfrm>
          <a:prstGeom prst="rect">
            <a:avLst/>
          </a:prstGeom>
        </p:spPr>
      </p:pic>
      <p:sp>
        <p:nvSpPr>
          <p:cNvPr id="16" name="Shape 11"/>
          <p:cNvSpPr/>
          <p:nvPr/>
        </p:nvSpPr>
        <p:spPr>
          <a:xfrm>
            <a:off x="9118600" y="1857276"/>
            <a:ext cx="2257425" cy="1055291"/>
          </a:xfrm>
          <a:prstGeom prst="roundRect">
            <a:avLst>
              <a:gd name="adj" fmla="val 9327"/>
            </a:avLst>
          </a:prstGeom>
          <a:solidFill>
            <a:srgbClr val="FCFBF7"/>
          </a:solidFill>
          <a:ln w="6350">
            <a:solidFill>
              <a:srgbClr val="DCD6CA"/>
            </a:solidFill>
            <a:prstDash val="solid"/>
          </a:ln>
        </p:spPr>
      </p:sp>
      <p:sp>
        <p:nvSpPr>
          <p:cNvPr id="17" name="Text 12"/>
          <p:cNvSpPr/>
          <p:nvPr/>
        </p:nvSpPr>
        <p:spPr>
          <a:xfrm>
            <a:off x="9299575" y="2012851"/>
            <a:ext cx="1952339"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D5FA8"/>
                </a:solidFill>
                <a:latin typeface="JetBrains Mono" pitchFamily="49" charset="0"/>
                <a:ea typeface="JetBrains Mono" pitchFamily="49" charset="-122"/>
                <a:cs typeface="JetBrains Mono" pitchFamily="49" charset="-120"/>
              </a:rPr>
              <a:t>COMPLETED</a:t>
            </a:r>
            <a:endParaRPr lang="en-US" sz="1500" dirty="0"/>
          </a:p>
        </p:txBody>
      </p:sp>
      <p:sp>
        <p:nvSpPr>
          <p:cNvPr id="18" name="Text 13"/>
          <p:cNvSpPr/>
          <p:nvPr/>
        </p:nvSpPr>
        <p:spPr>
          <a:xfrm>
            <a:off x="9299575" y="2330351"/>
            <a:ext cx="195233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Or FAILED, CANCELLED, TIMEOUT</a:t>
            </a:r>
            <a:endParaRPr lang="en-US" sz="1200" dirty="0"/>
          </a:p>
        </p:txBody>
      </p:sp>
      <p:sp>
        <p:nvSpPr>
          <p:cNvPr id="19" name="Text 14"/>
          <p:cNvSpPr/>
          <p:nvPr/>
        </p:nvSpPr>
        <p:spPr>
          <a:xfrm>
            <a:off x="812800" y="3220541"/>
            <a:ext cx="65405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568"/>
                </a:solidFill>
                <a:latin typeface="IBM Plex Sans" pitchFamily="34" charset="0"/>
                <a:ea typeface="IBM Plex Sans" pitchFamily="34" charset="-122"/>
                <a:cs typeface="IBM Plex Sans" pitchFamily="34" charset="-120"/>
              </a:rPr>
              <a:t>scripts/submit_ray_job.sh · the header</a:t>
            </a:r>
            <a:endParaRPr lang="en-US" sz="1200" dirty="0"/>
          </a:p>
        </p:txBody>
      </p:sp>
      <p:sp>
        <p:nvSpPr>
          <p:cNvPr id="20" name="Text 15"/>
          <p:cNvSpPr/>
          <p:nvPr/>
        </p:nvSpPr>
        <p:spPr>
          <a:xfrm>
            <a:off x="812800" y="3510062"/>
            <a:ext cx="6350000" cy="1955800"/>
          </a:xfrm>
          <a:prstGeom prst="roundRect">
            <a:avLst>
              <a:gd name="adj" fmla="val 5195"/>
            </a:avLst>
          </a:prstGeom>
          <a:solidFill>
            <a:srgbClr val="111B2B"/>
          </a:solidFill>
          <a:ln/>
        </p:spPr>
        <p:txBody>
          <a:bodyPr wrap="none" lIns="198842" tIns="148042" rIns="22058" bIns="122642" rtlCol="0" anchor="t">
            <a:normAutofit/>
          </a:bodyPr>
          <a:lstStyle/>
          <a:p>
            <a:pPr algn="l" indent="0" marL="0">
              <a:lnSpc>
                <a:spcPts val="1800"/>
              </a:lnSpc>
              <a:buNone/>
            </a:pPr>
            <a:r>
              <a:rPr lang="en-US" sz="1200" dirty="0">
                <a:solidFill>
                  <a:srgbClr val="E9E4D8"/>
                </a:solidFill>
                <a:latin typeface="JetBrains Mono" pitchFamily="49" charset="0"/>
                <a:ea typeface="JetBrains Mono" pitchFamily="49" charset="-122"/>
                <a:cs typeface="JetBrains Mono" pitchFamily="49" charset="-120"/>
              </a:rPr>
              <a:t>#!/bin/bash</a:t>
            </a:r>
            <a:endParaRPr lang="en-US" sz="1200" dirty="0"/>
          </a:p>
          <a:p>
            <a:pPr algn="l" indent="0" marL="0">
              <a:lnSpc>
                <a:spcPts val="1800"/>
              </a:lnSpc>
              <a:buNone/>
            </a:pPr>
            <a:r>
              <a:rPr lang="en-US" sz="1200" dirty="0">
                <a:solidFill>
                  <a:srgbClr val="E9E4D8"/>
                </a:solidFill>
                <a:latin typeface="JetBrains Mono" pitchFamily="49" charset="0"/>
                <a:ea typeface="JetBrains Mono" pitchFamily="49" charset="-122"/>
                <a:cs typeface="JetBrains Mono" pitchFamily="49" charset="-120"/>
              </a:rPr>
              <a:t>#SBATCH --job-name=ray-tune-demo</a:t>
            </a:r>
            <a:endParaRPr lang="en-US" sz="1200" dirty="0"/>
          </a:p>
          <a:p>
            <a:pPr algn="l" indent="0" marL="0">
              <a:lnSpc>
                <a:spcPts val="1800"/>
              </a:lnSpc>
              <a:buNone/>
            </a:pPr>
            <a:r>
              <a:rPr lang="en-US" sz="1200" dirty="0">
                <a:solidFill>
                  <a:srgbClr val="E9E4D8"/>
                </a:solidFill>
                <a:latin typeface="JetBrains Mono" pitchFamily="49" charset="0"/>
                <a:ea typeface="JetBrains Mono" pitchFamily="49" charset="-122"/>
                <a:cs typeface="JetBrains Mono" pitchFamily="49" charset="-120"/>
              </a:rPr>
              <a:t>#SBATCH --nodes=2</a:t>
            </a:r>
            <a:r>
              <a:rPr lang="en-US" sz="1200" dirty="0">
                <a:solidFill>
                  <a:srgbClr val="8E9AAF"/>
                </a:solidFill>
                <a:latin typeface="JetBrains Mono" pitchFamily="49" charset="0"/>
                <a:ea typeface="JetBrains Mono" pitchFamily="49" charset="-122"/>
                <a:cs typeface="JetBrains Mono" pitchFamily="49" charset="-120"/>
              </a:rPr>
              <a:t> # two machines</a:t>
            </a:r>
            <a:endParaRPr lang="en-US" sz="1200" dirty="0"/>
          </a:p>
          <a:p>
            <a:pPr algn="l" indent="0" marL="0">
              <a:lnSpc>
                <a:spcPts val="1800"/>
              </a:lnSpc>
              <a:buNone/>
            </a:pPr>
            <a:r>
              <a:rPr lang="en-US" sz="1200" dirty="0">
                <a:solidFill>
                  <a:srgbClr val="E9E4D8"/>
                </a:solidFill>
                <a:latin typeface="JetBrains Mono" pitchFamily="49" charset="0"/>
                <a:ea typeface="JetBrains Mono" pitchFamily="49" charset="-122"/>
                <a:cs typeface="JetBrains Mono" pitchFamily="49" charset="-120"/>
              </a:rPr>
              <a:t>#SBATCH --ntasks-per-node=1</a:t>
            </a:r>
            <a:endParaRPr lang="en-US" sz="1200" dirty="0"/>
          </a:p>
          <a:p>
            <a:pPr algn="l" indent="0" marL="0">
              <a:lnSpc>
                <a:spcPts val="1800"/>
              </a:lnSpc>
              <a:buNone/>
            </a:pPr>
            <a:r>
              <a:rPr lang="en-US" sz="1200" dirty="0">
                <a:solidFill>
                  <a:srgbClr val="E9E4D8"/>
                </a:solidFill>
                <a:latin typeface="JetBrains Mono" pitchFamily="49" charset="0"/>
                <a:ea typeface="JetBrains Mono" pitchFamily="49" charset="-122"/>
                <a:cs typeface="JetBrains Mono" pitchFamily="49" charset="-120"/>
              </a:rPr>
              <a:t>#SBATCH --cpus-per-task=2</a:t>
            </a:r>
            <a:r>
              <a:rPr lang="en-US" sz="1200" dirty="0">
                <a:solidFill>
                  <a:srgbClr val="8E9AAF"/>
                </a:solidFill>
                <a:latin typeface="JetBrains Mono" pitchFamily="49" charset="0"/>
                <a:ea typeface="JetBrains Mono" pitchFamily="49" charset="-122"/>
                <a:cs typeface="JetBrains Mono" pitchFamily="49" charset="-120"/>
              </a:rPr>
              <a:t> # 2 CPUs each</a:t>
            </a:r>
            <a:endParaRPr lang="en-US" sz="1200" dirty="0"/>
          </a:p>
          <a:p>
            <a:pPr algn="l" indent="0" marL="0">
              <a:lnSpc>
                <a:spcPts val="1800"/>
              </a:lnSpc>
              <a:buNone/>
            </a:pPr>
            <a:r>
              <a:rPr lang="en-US" sz="1200" dirty="0">
                <a:solidFill>
                  <a:srgbClr val="E9E4D8"/>
                </a:solidFill>
                <a:latin typeface="JetBrains Mono" pitchFamily="49" charset="0"/>
                <a:ea typeface="JetBrains Mono" pitchFamily="49" charset="-122"/>
                <a:cs typeface="JetBrains Mono" pitchFamily="49" charset="-120"/>
              </a:rPr>
              <a:t>#SBATCH --partition=compute</a:t>
            </a:r>
            <a:endParaRPr lang="en-US" sz="1200" dirty="0"/>
          </a:p>
          <a:p>
            <a:pPr algn="l" indent="0" marL="0">
              <a:lnSpc>
                <a:spcPts val="1800"/>
              </a:lnSpc>
              <a:buNone/>
            </a:pPr>
            <a:r>
              <a:rPr lang="en-US" sz="1200" dirty="0">
                <a:solidFill>
                  <a:srgbClr val="E9E4D8"/>
                </a:solidFill>
                <a:latin typeface="JetBrains Mono" pitchFamily="49" charset="0"/>
                <a:ea typeface="JetBrains Mono" pitchFamily="49" charset="-122"/>
                <a:cs typeface="JetBrains Mono" pitchFamily="49" charset="-120"/>
              </a:rPr>
              <a:t>#SBATCH --output=/shared/logs/ray-tune-%j.out</a:t>
            </a:r>
            <a:endParaRPr lang="en-US" sz="1200" dirty="0"/>
          </a:p>
        </p:txBody>
      </p:sp>
      <p:sp>
        <p:nvSpPr>
          <p:cNvPr id="21" name="Text 16"/>
          <p:cNvSpPr/>
          <p:nvPr/>
        </p:nvSpPr>
        <p:spPr>
          <a:xfrm>
            <a:off x="7467600" y="3499941"/>
            <a:ext cx="4028948"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11B2B"/>
                </a:solidFill>
                <a:latin typeface="IBM Plex Sans" pitchFamily="34" charset="0"/>
                <a:ea typeface="IBM Plex Sans" pitchFamily="34" charset="-122"/>
                <a:cs typeface="IBM Plex Sans" pitchFamily="34" charset="-120"/>
              </a:rPr>
              <a:t>#SBATCH</a:t>
            </a:r>
            <a:r>
              <a:rPr lang="en-US" sz="1500" dirty="0">
                <a:solidFill>
                  <a:srgbClr val="111B2B"/>
                </a:solidFill>
                <a:latin typeface="IBM Plex Sans" pitchFamily="34" charset="0"/>
                <a:ea typeface="IBM Plex Sans" pitchFamily="34" charset="-122"/>
                <a:cs typeface="IBM Plex Sans" pitchFamily="34" charset="-120"/>
              </a:rPr>
              <a:t> lines are requests, read by Slurm before the script runs.</a:t>
            </a:r>
            <a:endParaRPr lang="en-US" sz="1500" dirty="0"/>
          </a:p>
        </p:txBody>
      </p:sp>
      <p:sp>
        <p:nvSpPr>
          <p:cNvPr id="22" name="Text 17"/>
          <p:cNvSpPr/>
          <p:nvPr/>
        </p:nvSpPr>
        <p:spPr>
          <a:xfrm>
            <a:off x="7467600" y="4160341"/>
            <a:ext cx="402894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Once running, Slurm sets variables like </a:t>
            </a:r>
            <a:r>
              <a:rPr lang="en-US" sz="1200" b="1" dirty="0">
                <a:solidFill>
                  <a:srgbClr val="4A5568"/>
                </a:solidFill>
                <a:latin typeface="IBM Plex Sans" pitchFamily="34" charset="0"/>
                <a:ea typeface="IBM Plex Sans" pitchFamily="34" charset="-122"/>
                <a:cs typeface="IBM Plex Sans" pitchFamily="34" charset="-120"/>
              </a:rPr>
              <a:t>$SLURM_JOB_ID</a:t>
            </a:r>
            <a:r>
              <a:rPr lang="en-US" sz="1200" dirty="0">
                <a:solidFill>
                  <a:srgbClr val="4A5568"/>
                </a:solidFill>
                <a:latin typeface="IBM Plex Sans" pitchFamily="34" charset="0"/>
                <a:ea typeface="IBM Plex Sans" pitchFamily="34" charset="-122"/>
                <a:cs typeface="IBM Plex Sans" pitchFamily="34" charset="-120"/>
              </a:rPr>
              <a:t> and </a:t>
            </a:r>
            <a:r>
              <a:rPr lang="en-US" sz="1200" b="1" dirty="0">
                <a:solidFill>
                  <a:srgbClr val="4A5568"/>
                </a:solidFill>
                <a:latin typeface="IBM Plex Sans" pitchFamily="34" charset="0"/>
                <a:ea typeface="IBM Plex Sans" pitchFamily="34" charset="-122"/>
                <a:cs typeface="IBM Plex Sans" pitchFamily="34" charset="-120"/>
              </a:rPr>
              <a:t>$SLURM_JOB_NODELIST</a:t>
            </a:r>
            <a:r>
              <a:rPr lang="en-US" sz="1200" dirty="0">
                <a:solidFill>
                  <a:srgbClr val="4A5568"/>
                </a:solidFill>
                <a:latin typeface="IBM Plex Sans" pitchFamily="34" charset="0"/>
                <a:ea typeface="IBM Plex Sans" pitchFamily="34" charset="-122"/>
                <a:cs typeface="IBM Plex Sans" pitchFamily="34" charset="-120"/>
              </a:rPr>
              <a:t> so the script knows what it got.</a:t>
            </a:r>
            <a:endParaRPr lang="en-US" sz="1200" dirty="0"/>
          </a:p>
        </p:txBody>
      </p:sp>
      <p:sp>
        <p:nvSpPr>
          <p:cNvPr id="23" name="Text 18"/>
          <p:cNvSpPr/>
          <p:nvPr/>
        </p:nvSpPr>
        <p:spPr>
          <a:xfrm>
            <a:off x="7467600" y="4927302"/>
            <a:ext cx="402894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568"/>
                </a:solidFill>
                <a:latin typeface="IBM Plex Sans" pitchFamily="34" charset="0"/>
                <a:ea typeface="IBM Plex Sans" pitchFamily="34" charset="-122"/>
                <a:cs typeface="IBM Plex Sans" pitchFamily="34" charset="-120"/>
              </a:rPr>
              <a:t>%j</a:t>
            </a:r>
            <a:r>
              <a:rPr lang="en-US" sz="1200" dirty="0">
                <a:solidFill>
                  <a:srgbClr val="4A5568"/>
                </a:solidFill>
                <a:latin typeface="IBM Plex Sans" pitchFamily="34" charset="0"/>
                <a:ea typeface="IBM Plex Sans" pitchFamily="34" charset="-122"/>
                <a:cs typeface="IBM Plex Sans" pitchFamily="34" charset="-120"/>
              </a:rPr>
              <a:t> in the log path becomes the job ID.</a:t>
            </a:r>
            <a:endParaRPr lang="en-US" sz="1200" dirty="0"/>
          </a:p>
        </p:txBody>
      </p:sp>
      <p:sp>
        <p:nvSpPr>
          <p:cNvPr id="24" name="Text 1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Slurm + Ray for AI · 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D5FA8"/>
                </a:solidFill>
                <a:latin typeface="JetBrains Mono" pitchFamily="49" charset="0"/>
                <a:ea typeface="JetBrains Mono" pitchFamily="49" charset="-122"/>
                <a:cs typeface="JetBrains Mono" pitchFamily="49" charset="-120"/>
              </a:rPr>
              <a:t>02 · SLURM</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11B2B"/>
                </a:solidFill>
                <a:latin typeface="IBM Plex Sans" pitchFamily="34" charset="0"/>
                <a:ea typeface="IBM Plex Sans" pitchFamily="34" charset="-122"/>
                <a:cs typeface="IBM Plex Sans" pitchFamily="34" charset="-120"/>
              </a:rPr>
              <a:t>Slurm commands to know</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66801"/>
          <a:ext cx="10553700" cy="3233440"/>
        </p:xfrm>
        <a:graphic>
          <a:graphicData uri="http://schemas.openxmlformats.org/drawingml/2006/table">
            <a:tbl>
              <a:tblPr/>
              <a:tblGrid>
                <a:gridCol w="2849499"/>
                <a:gridCol w="4960239"/>
                <a:gridCol w="2743962"/>
              </a:tblGrid>
              <a:tr h="359271">
                <a:tc>
                  <a:txBody>
                    <a:bodyPr/>
                    <a:lstStyle/>
                    <a:p>
                      <a:pPr indent="0" marL="0">
                        <a:lnSpc>
                          <a:spcPts val="1820"/>
                        </a:lnSpc>
                        <a:buNone/>
                      </a:pPr>
                      <a:r>
                        <a:rPr lang="en-US" sz="1300" b="1" dirty="0">
                          <a:solidFill>
                            <a:srgbClr val="111B2B"/>
                          </a:solidFill>
                          <a:latin typeface="IBM Plex Sans" pitchFamily="34" charset="0"/>
                          <a:ea typeface="IBM Plex Sans" pitchFamily="34" charset="-122"/>
                          <a:cs typeface="IBM Plex Sans" pitchFamily="34" charset="-120"/>
                        </a:rPr>
                        <a:t>Command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indent="0" marL="0">
                        <a:lnSpc>
                          <a:spcPts val="1820"/>
                        </a:lnSpc>
                        <a:buNone/>
                      </a:pPr>
                      <a:r>
                        <a:rPr lang="en-US" sz="1300" b="1" dirty="0">
                          <a:solidFill>
                            <a:srgbClr val="111B2B"/>
                          </a:solidFill>
                          <a:latin typeface="IBM Plex Sans" pitchFamily="34" charset="0"/>
                          <a:ea typeface="IBM Plex Sans" pitchFamily="34" charset="-122"/>
                          <a:cs typeface="IBM Plex Sans" pitchFamily="34" charset="-120"/>
                        </a:rPr>
                        <a:t>What it does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indent="0" marL="0">
                        <a:lnSpc>
                          <a:spcPts val="1820"/>
                        </a:lnSpc>
                        <a:buNone/>
                      </a:pPr>
                      <a:r>
                        <a:rPr lang="en-US" sz="1300" b="1" dirty="0">
                          <a:solidFill>
                            <a:srgbClr val="111B2B"/>
                          </a:solidFill>
                          <a:latin typeface="IBM Plex Sans" pitchFamily="34" charset="0"/>
                          <a:ea typeface="IBM Plex Sans" pitchFamily="34" charset="-122"/>
                          <a:cs typeface="IBM Plex Sans" pitchFamily="34" charset="-120"/>
                        </a:rPr>
                        <a:t>In our demo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r>
              <a:tr h="359271">
                <a:tc>
                  <a:txBody>
                    <a:bodyPr/>
                    <a:lstStyle/>
                    <a:p>
                      <a:pPr indent="0" marL="0">
                        <a:lnSpc>
                          <a:spcPts val="1820"/>
                        </a:lnSpc>
                        <a:buNone/>
                      </a:pPr>
                      <a:r>
                        <a:rPr lang="en-US" sz="1300" dirty="0">
                          <a:solidFill>
                            <a:srgbClr val="111B2B"/>
                          </a:solidFill>
                          <a:latin typeface="IBM Plex Sans" pitchFamily="34" charset="0"/>
                          <a:ea typeface="IBM Plex Sans" pitchFamily="34" charset="-122"/>
                          <a:cs typeface="IBM Plex Sans" pitchFamily="34" charset="-120"/>
                        </a:rPr>
                        <a:t>sinfo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11B2B"/>
                          </a:solidFill>
                          <a:latin typeface="IBM Plex Sans" pitchFamily="34" charset="0"/>
                          <a:ea typeface="IBM Plex Sans" pitchFamily="34" charset="-122"/>
                          <a:cs typeface="IBM Plex Sans" pitchFamily="34" charset="-120"/>
                        </a:rPr>
                        <a:t>Partitions and node states (idle, alloc, down)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11B2B"/>
                          </a:solidFill>
                          <a:latin typeface="IBM Plex Sans" pitchFamily="34" charset="0"/>
                          <a:ea typeface="IBM Plex Sans" pitchFamily="34" charset="-122"/>
                          <a:cs typeface="IBM Plex Sans" pitchFamily="34" charset="-120"/>
                        </a:rPr>
                        <a:t>Check workers are idle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9271">
                <a:tc>
                  <a:txBody>
                    <a:bodyPr/>
                    <a:lstStyle/>
                    <a:p>
                      <a:pPr indent="0" marL="0">
                        <a:lnSpc>
                          <a:spcPts val="1820"/>
                        </a:lnSpc>
                        <a:buNone/>
                      </a:pPr>
                      <a:r>
                        <a:rPr lang="en-US" sz="1300" dirty="0">
                          <a:solidFill>
                            <a:srgbClr val="111B2B"/>
                          </a:solidFill>
                          <a:latin typeface="IBM Plex Sans" pitchFamily="34" charset="0"/>
                          <a:ea typeface="IBM Plex Sans" pitchFamily="34" charset="-122"/>
                          <a:cs typeface="IBM Plex Sans" pitchFamily="34" charset="-120"/>
                        </a:rPr>
                        <a:t>squeue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820"/>
                        </a:lnSpc>
                        <a:buNone/>
                      </a:pPr>
                      <a:r>
                        <a:rPr lang="en-US" sz="1300" dirty="0">
                          <a:solidFill>
                            <a:srgbClr val="111B2B"/>
                          </a:solidFill>
                          <a:latin typeface="IBM Plex Sans" pitchFamily="34" charset="0"/>
                          <a:ea typeface="IBM Plex Sans" pitchFamily="34" charset="-122"/>
                          <a:cs typeface="IBM Plex Sans" pitchFamily="34" charset="-120"/>
                        </a:rPr>
                        <a:t>Jobs waiting or running, with state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820"/>
                        </a:lnSpc>
                        <a:buNone/>
                      </a:pPr>
                      <a:r>
                        <a:rPr lang="en-US" sz="1300" dirty="0">
                          <a:solidFill>
                            <a:srgbClr val="111B2B"/>
                          </a:solidFill>
                          <a:latin typeface="IBM Plex Sans" pitchFamily="34" charset="0"/>
                          <a:ea typeface="IBM Plex Sans" pitchFamily="34" charset="-122"/>
                          <a:cs typeface="IBM Plex Sans" pitchFamily="34" charset="-120"/>
                        </a:rPr>
                        <a:t>Watch the job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59271">
                <a:tc>
                  <a:txBody>
                    <a:bodyPr/>
                    <a:lstStyle/>
                    <a:p>
                      <a:pPr indent="0" marL="0">
                        <a:lnSpc>
                          <a:spcPts val="1820"/>
                        </a:lnSpc>
                        <a:buNone/>
                      </a:pPr>
                      <a:r>
                        <a:rPr lang="en-US" sz="1300" dirty="0">
                          <a:solidFill>
                            <a:srgbClr val="111B2B"/>
                          </a:solidFill>
                          <a:latin typeface="IBM Plex Sans" pitchFamily="34" charset="0"/>
                          <a:ea typeface="IBM Plex Sans" pitchFamily="34" charset="-122"/>
                          <a:cs typeface="IBM Plex Sans" pitchFamily="34" charset="-120"/>
                        </a:rPr>
                        <a:t>sbatch job.sh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11B2B"/>
                          </a:solidFill>
                          <a:latin typeface="IBM Plex Sans" pitchFamily="34" charset="0"/>
                          <a:ea typeface="IBM Plex Sans" pitchFamily="34" charset="-122"/>
                          <a:cs typeface="IBM Plex Sans" pitchFamily="34" charset="-120"/>
                        </a:rPr>
                        <a:t>Submit a batch script; returns a job ID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11B2B"/>
                          </a:solidFill>
                          <a:latin typeface="IBM Plex Sans" pitchFamily="34" charset="0"/>
                          <a:ea typeface="IBM Plex Sans" pitchFamily="34" charset="-122"/>
                          <a:cs typeface="IBM Plex Sans" pitchFamily="34" charset="-120"/>
                        </a:rPr>
                        <a:t>Submits the tuning job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9271">
                <a:tc>
                  <a:txBody>
                    <a:bodyPr/>
                    <a:lstStyle/>
                    <a:p>
                      <a:pPr indent="0" marL="0">
                        <a:lnSpc>
                          <a:spcPts val="1820"/>
                        </a:lnSpc>
                        <a:buNone/>
                      </a:pPr>
                      <a:r>
                        <a:rPr lang="en-US" sz="1300" dirty="0">
                          <a:solidFill>
                            <a:srgbClr val="111B2B"/>
                          </a:solidFill>
                          <a:latin typeface="IBM Plex Sans" pitchFamily="34" charset="0"/>
                          <a:ea typeface="IBM Plex Sans" pitchFamily="34" charset="-122"/>
                          <a:cs typeface="IBM Plex Sans" pitchFamily="34" charset="-120"/>
                        </a:rPr>
                        <a:t>srun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820"/>
                        </a:lnSpc>
                        <a:buNone/>
                      </a:pPr>
                      <a:r>
                        <a:rPr lang="en-US" sz="1300" dirty="0">
                          <a:solidFill>
                            <a:srgbClr val="111B2B"/>
                          </a:solidFill>
                          <a:latin typeface="IBM Plex Sans" pitchFamily="34" charset="0"/>
                          <a:ea typeface="IBM Plex Sans" pitchFamily="34" charset="-122"/>
                          <a:cs typeface="IBM Plex Sans" pitchFamily="34" charset="-120"/>
                        </a:rPr>
                        <a:t>Run a command on allocated nodes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820"/>
                        </a:lnSpc>
                        <a:buNone/>
                      </a:pPr>
                      <a:r>
                        <a:rPr lang="en-US" sz="1300" dirty="0">
                          <a:solidFill>
                            <a:srgbClr val="111B2B"/>
                          </a:solidFill>
                          <a:latin typeface="IBM Plex Sans" pitchFamily="34" charset="0"/>
                          <a:ea typeface="IBM Plex Sans" pitchFamily="34" charset="-122"/>
                          <a:cs typeface="IBM Plex Sans" pitchFamily="34" charset="-120"/>
                        </a:rPr>
                        <a:t>Starts Ray on worker2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59271">
                <a:tc>
                  <a:txBody>
                    <a:bodyPr/>
                    <a:lstStyle/>
                    <a:p>
                      <a:pPr indent="0" marL="0">
                        <a:lnSpc>
                          <a:spcPts val="1820"/>
                        </a:lnSpc>
                        <a:buNone/>
                      </a:pPr>
                      <a:r>
                        <a:rPr lang="en-US" sz="1300" dirty="0">
                          <a:solidFill>
                            <a:srgbClr val="111B2B"/>
                          </a:solidFill>
                          <a:latin typeface="IBM Plex Sans" pitchFamily="34" charset="0"/>
                          <a:ea typeface="IBM Plex Sans" pitchFamily="34" charset="-122"/>
                          <a:cs typeface="IBM Plex Sans" pitchFamily="34" charset="-120"/>
                        </a:rPr>
                        <a:t>scontrol show</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11B2B"/>
                          </a:solidFill>
                          <a:latin typeface="IBM Plex Sans" pitchFamily="34" charset="0"/>
                          <a:ea typeface="IBM Plex Sans" pitchFamily="34" charset="-122"/>
                          <a:cs typeface="IBM Plex Sans" pitchFamily="34" charset="-120"/>
                        </a:rPr>
                        <a:t>Inspect nodes and jobs; expand node lists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11B2B"/>
                          </a:solidFill>
                          <a:latin typeface="IBM Plex Sans" pitchFamily="34" charset="0"/>
                          <a:ea typeface="IBM Plex Sans" pitchFamily="34" charset="-122"/>
                          <a:cs typeface="IBM Plex Sans" pitchFamily="34" charset="-120"/>
                        </a:rPr>
                        <a:t>Gets the node names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9271">
                <a:tc>
                  <a:txBody>
                    <a:bodyPr/>
                    <a:lstStyle/>
                    <a:p>
                      <a:pPr indent="0" marL="0">
                        <a:lnSpc>
                          <a:spcPts val="1820"/>
                        </a:lnSpc>
                        <a:buNone/>
                      </a:pPr>
                      <a:r>
                        <a:rPr lang="en-US" sz="1300" dirty="0">
                          <a:solidFill>
                            <a:srgbClr val="111B2B"/>
                          </a:solidFill>
                          <a:latin typeface="IBM Plex Sans" pitchFamily="34" charset="0"/>
                          <a:ea typeface="IBM Plex Sans" pitchFamily="34" charset="-122"/>
                          <a:cs typeface="IBM Plex Sans" pitchFamily="34" charset="-120"/>
                        </a:rPr>
                        <a:t>scancel ID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820"/>
                        </a:lnSpc>
                        <a:buNone/>
                      </a:pPr>
                      <a:r>
                        <a:rPr lang="en-US" sz="1300" dirty="0">
                          <a:solidFill>
                            <a:srgbClr val="111B2B"/>
                          </a:solidFill>
                          <a:latin typeface="IBM Plex Sans" pitchFamily="34" charset="0"/>
                          <a:ea typeface="IBM Plex Sans" pitchFamily="34" charset="-122"/>
                          <a:cs typeface="IBM Plex Sans" pitchFamily="34" charset="-120"/>
                        </a:rPr>
                        <a:t>Cancel a pending or running job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820"/>
                        </a:lnSpc>
                        <a:buNone/>
                      </a:pPr>
                      <a:r>
                        <a:rPr lang="en-US" sz="1300" dirty="0">
                          <a:solidFill>
                            <a:srgbClr val="111B2B"/>
                          </a:solidFill>
                          <a:latin typeface="IBM Plex Sans" pitchFamily="34" charset="0"/>
                          <a:ea typeface="IBM Plex Sans" pitchFamily="34" charset="-122"/>
                          <a:cs typeface="IBM Plex Sans" pitchFamily="34" charset="-120"/>
                        </a:rPr>
                        <a:t>Not used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59271">
                <a:tc>
                  <a:txBody>
                    <a:bodyPr/>
                    <a:lstStyle/>
                    <a:p>
                      <a:pPr indent="0" marL="0">
                        <a:lnSpc>
                          <a:spcPts val="1820"/>
                        </a:lnSpc>
                        <a:buNone/>
                      </a:pPr>
                      <a:r>
                        <a:rPr lang="en-US" sz="1300" dirty="0">
                          <a:solidFill>
                            <a:srgbClr val="111B2B"/>
                          </a:solidFill>
                          <a:latin typeface="IBM Plex Sans" pitchFamily="34" charset="0"/>
                          <a:ea typeface="IBM Plex Sans" pitchFamily="34" charset="-122"/>
                          <a:cs typeface="IBM Plex Sans" pitchFamily="34" charset="-120"/>
                        </a:rPr>
                        <a:t>salloc</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11B2B"/>
                          </a:solidFill>
                          <a:latin typeface="IBM Plex Sans" pitchFamily="34" charset="0"/>
                          <a:ea typeface="IBM Plex Sans" pitchFamily="34" charset="-122"/>
                          <a:cs typeface="IBM Plex Sans" pitchFamily="34" charset="-120"/>
                        </a:rPr>
                        <a:t>Get an interactive allocation to work in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11B2B"/>
                          </a:solidFill>
                          <a:latin typeface="IBM Plex Sans" pitchFamily="34" charset="0"/>
                          <a:ea typeface="IBM Plex Sans" pitchFamily="34" charset="-122"/>
                          <a:cs typeface="IBM Plex Sans" pitchFamily="34" charset="-120"/>
                        </a:rPr>
                        <a:t>Not used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9271">
                <a:tc>
                  <a:txBody>
                    <a:bodyPr/>
                    <a:lstStyle/>
                    <a:p>
                      <a:pPr indent="0" marL="0">
                        <a:lnSpc>
                          <a:spcPts val="1820"/>
                        </a:lnSpc>
                        <a:buNone/>
                      </a:pPr>
                      <a:r>
                        <a:rPr lang="en-US" sz="1300" dirty="0">
                          <a:solidFill>
                            <a:srgbClr val="111B2B"/>
                          </a:solidFill>
                          <a:latin typeface="IBM Plex Sans" pitchFamily="34" charset="0"/>
                          <a:ea typeface="IBM Plex Sans" pitchFamily="34" charset="-122"/>
                          <a:cs typeface="IBM Plex Sans" pitchFamily="34" charset="-120"/>
                        </a:rPr>
                        <a:t>sacct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820"/>
                        </a:lnSpc>
                        <a:buNone/>
                      </a:pPr>
                      <a:r>
                        <a:rPr lang="en-US" sz="1300" dirty="0">
                          <a:solidFill>
                            <a:srgbClr val="111B2B"/>
                          </a:solidFill>
                          <a:latin typeface="IBM Plex Sans" pitchFamily="34" charset="0"/>
                          <a:ea typeface="IBM Plex Sans" pitchFamily="34" charset="-122"/>
                          <a:cs typeface="IBM Plex Sans" pitchFamily="34" charset="-120"/>
                        </a:rPr>
                        <a:t>History of finished jobs (needs slurmdbd)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820"/>
                        </a:lnSpc>
                        <a:buNone/>
                      </a:pPr>
                      <a:r>
                        <a:rPr lang="en-US" sz="1300" dirty="0">
                          <a:solidFill>
                            <a:srgbClr val="111B2B"/>
                          </a:solidFill>
                          <a:latin typeface="IBM Plex Sans" pitchFamily="34" charset="0"/>
                          <a:ea typeface="IBM Plex Sans" pitchFamily="34" charset="-122"/>
                          <a:cs typeface="IBM Plex Sans" pitchFamily="34" charset="-120"/>
                        </a:rPr>
                        <a:t>Not used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Slurm + Ray for AI · 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30E"/>
                </a:solidFill>
                <a:latin typeface="JetBrains Mono" pitchFamily="49" charset="0"/>
                <a:ea typeface="JetBrains Mono" pitchFamily="49" charset="-122"/>
                <a:cs typeface="JetBrains Mono" pitchFamily="49" charset="-120"/>
              </a:rPr>
              <a:t>03 · RAY</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11B2B"/>
                </a:solidFill>
                <a:latin typeface="IBM Plex Sans" pitchFamily="34" charset="0"/>
                <a:ea typeface="IBM Plex Sans" pitchFamily="34" charset="-122"/>
                <a:cs typeface="IBM Plex Sans" pitchFamily="34" charset="-120"/>
              </a:rPr>
              <a:t>What is Ray?</a:t>
            </a:r>
            <a:endParaRPr lang="en-US" sz="3200" dirty="0"/>
          </a:p>
        </p:txBody>
      </p:sp>
      <p:sp>
        <p:nvSpPr>
          <p:cNvPr id="4" name="Text 2"/>
          <p:cNvSpPr/>
          <p:nvPr/>
        </p:nvSpPr>
        <p:spPr>
          <a:xfrm>
            <a:off x="812800" y="1803301"/>
            <a:ext cx="981075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111B2B"/>
                </a:solidFill>
                <a:latin typeface="IBM Plex Sans" pitchFamily="34" charset="0"/>
                <a:ea typeface="IBM Plex Sans" pitchFamily="34" charset="-122"/>
                <a:cs typeface="IBM Plex Sans" pitchFamily="34" charset="-120"/>
              </a:rPr>
              <a:t>An open-source Python framework that turns ordinary functions and classes into work that runs </a:t>
            </a:r>
            <a:r>
              <a:rPr lang="en-US" sz="2000" dirty="0">
                <a:solidFill>
                  <a:srgbClr val="B5530E"/>
                </a:solidFill>
                <a:latin typeface="IBM Plex Sans" pitchFamily="34" charset="0"/>
                <a:ea typeface="IBM Plex Sans" pitchFamily="34" charset="-122"/>
                <a:cs typeface="IBM Plex Sans" pitchFamily="34" charset="-120"/>
              </a:rPr>
              <a:t>across many machines</a:t>
            </a:r>
            <a:r>
              <a:rPr lang="en-US" sz="2000" dirty="0">
                <a:solidFill>
                  <a:srgbClr val="111B2B"/>
                </a:solidFill>
                <a:latin typeface="IBM Plex Sans" pitchFamily="34" charset="0"/>
                <a:ea typeface="IBM Plex Sans" pitchFamily="34" charset="-122"/>
                <a:cs typeface="IBM Plex Sans" pitchFamily="34" charset="-120"/>
              </a:rPr>
              <a:t>.</a:t>
            </a:r>
            <a:endParaRPr lang="en-US" sz="2000" dirty="0"/>
          </a:p>
        </p:txBody>
      </p:sp>
      <p:sp>
        <p:nvSpPr>
          <p:cNvPr id="5" name="Shape 3"/>
          <p:cNvSpPr/>
          <p:nvPr/>
        </p:nvSpPr>
        <p:spPr>
          <a:xfrm>
            <a:off x="815975" y="2746276"/>
            <a:ext cx="3414117" cy="1103511"/>
          </a:xfrm>
          <a:prstGeom prst="roundRect">
            <a:avLst>
              <a:gd name="adj" fmla="val 8919"/>
            </a:avLst>
          </a:prstGeom>
          <a:solidFill>
            <a:srgbClr val="FCFBF7"/>
          </a:solidFill>
          <a:ln w="6350">
            <a:solidFill>
              <a:srgbClr val="DCD6CA"/>
            </a:solidFill>
            <a:prstDash val="solid"/>
          </a:ln>
        </p:spPr>
      </p:sp>
      <p:sp>
        <p:nvSpPr>
          <p:cNvPr id="6" name="Text 4"/>
          <p:cNvSpPr/>
          <p:nvPr/>
        </p:nvSpPr>
        <p:spPr>
          <a:xfrm>
            <a:off x="1022350" y="2927251"/>
            <a:ext cx="3091408"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11B2B"/>
                </a:solidFill>
                <a:latin typeface="IBM Plex Sans" pitchFamily="34" charset="0"/>
                <a:ea typeface="IBM Plex Sans" pitchFamily="34" charset="-122"/>
                <a:cs typeface="IBM Plex Sans" pitchFamily="34" charset="-120"/>
              </a:rPr>
              <a:t>Task</a:t>
            </a:r>
            <a:endParaRPr lang="en-US" sz="1600" dirty="0"/>
          </a:p>
        </p:txBody>
      </p:sp>
      <p:sp>
        <p:nvSpPr>
          <p:cNvPr id="7" name="Text 5"/>
          <p:cNvSpPr/>
          <p:nvPr/>
        </p:nvSpPr>
        <p:spPr>
          <a:xfrm>
            <a:off x="1022350" y="3242171"/>
            <a:ext cx="309140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A function that runs remotely, anywhere in the cluster.</a:t>
            </a:r>
            <a:endParaRPr lang="en-US" sz="1200" dirty="0"/>
          </a:p>
        </p:txBody>
      </p:sp>
      <p:sp>
        <p:nvSpPr>
          <p:cNvPr id="8" name="Shape 6"/>
          <p:cNvSpPr/>
          <p:nvPr/>
        </p:nvSpPr>
        <p:spPr>
          <a:xfrm>
            <a:off x="4388842" y="2746276"/>
            <a:ext cx="3414216" cy="1103511"/>
          </a:xfrm>
          <a:prstGeom prst="roundRect">
            <a:avLst>
              <a:gd name="adj" fmla="val 8919"/>
            </a:avLst>
          </a:prstGeom>
          <a:solidFill>
            <a:srgbClr val="FCFBF7"/>
          </a:solidFill>
          <a:ln w="6350">
            <a:solidFill>
              <a:srgbClr val="DCD6CA"/>
            </a:solidFill>
            <a:prstDash val="solid"/>
          </a:ln>
        </p:spPr>
      </p:sp>
      <p:sp>
        <p:nvSpPr>
          <p:cNvPr id="9" name="Text 7"/>
          <p:cNvSpPr/>
          <p:nvPr/>
        </p:nvSpPr>
        <p:spPr>
          <a:xfrm>
            <a:off x="4595217" y="2927251"/>
            <a:ext cx="3091510"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11B2B"/>
                </a:solidFill>
                <a:latin typeface="IBM Plex Sans" pitchFamily="34" charset="0"/>
                <a:ea typeface="IBM Plex Sans" pitchFamily="34" charset="-122"/>
                <a:cs typeface="IBM Plex Sans" pitchFamily="34" charset="-120"/>
              </a:rPr>
              <a:t>Actor</a:t>
            </a:r>
            <a:endParaRPr lang="en-US" sz="1600" dirty="0"/>
          </a:p>
        </p:txBody>
      </p:sp>
      <p:sp>
        <p:nvSpPr>
          <p:cNvPr id="10" name="Text 8"/>
          <p:cNvSpPr/>
          <p:nvPr/>
        </p:nvSpPr>
        <p:spPr>
          <a:xfrm>
            <a:off x="4595217" y="3242171"/>
            <a:ext cx="30915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A class instance living on one node and keeping its state.</a:t>
            </a:r>
            <a:endParaRPr lang="en-US" sz="1200" dirty="0"/>
          </a:p>
        </p:txBody>
      </p:sp>
      <p:sp>
        <p:nvSpPr>
          <p:cNvPr id="11" name="Shape 9"/>
          <p:cNvSpPr/>
          <p:nvPr/>
        </p:nvSpPr>
        <p:spPr>
          <a:xfrm>
            <a:off x="7961809" y="2746276"/>
            <a:ext cx="3414216" cy="1103511"/>
          </a:xfrm>
          <a:prstGeom prst="roundRect">
            <a:avLst>
              <a:gd name="adj" fmla="val 8919"/>
            </a:avLst>
          </a:prstGeom>
          <a:solidFill>
            <a:srgbClr val="FCFBF7"/>
          </a:solidFill>
          <a:ln w="6350">
            <a:solidFill>
              <a:srgbClr val="DCD6CA"/>
            </a:solidFill>
            <a:prstDash val="solid"/>
          </a:ln>
        </p:spPr>
      </p:sp>
      <p:sp>
        <p:nvSpPr>
          <p:cNvPr id="12" name="Text 10"/>
          <p:cNvSpPr/>
          <p:nvPr/>
        </p:nvSpPr>
        <p:spPr>
          <a:xfrm>
            <a:off x="8168184" y="2927251"/>
            <a:ext cx="3091510"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11B2B"/>
                </a:solidFill>
                <a:latin typeface="IBM Plex Sans" pitchFamily="34" charset="0"/>
                <a:ea typeface="IBM Plex Sans" pitchFamily="34" charset="-122"/>
                <a:cs typeface="IBM Plex Sans" pitchFamily="34" charset="-120"/>
              </a:rPr>
              <a:t>Object</a:t>
            </a:r>
            <a:endParaRPr lang="en-US" sz="1600" dirty="0"/>
          </a:p>
        </p:txBody>
      </p:sp>
      <p:sp>
        <p:nvSpPr>
          <p:cNvPr id="13" name="Text 11"/>
          <p:cNvSpPr/>
          <p:nvPr/>
        </p:nvSpPr>
        <p:spPr>
          <a:xfrm>
            <a:off x="8168184" y="3242171"/>
            <a:ext cx="30915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A result held in a shared, cluster-wide object store.</a:t>
            </a:r>
            <a:endParaRPr lang="en-US" sz="1200" dirty="0"/>
          </a:p>
        </p:txBody>
      </p:sp>
      <p:sp>
        <p:nvSpPr>
          <p:cNvPr id="14" name="Text 12"/>
          <p:cNvSpPr/>
          <p:nvPr/>
        </p:nvSpPr>
        <p:spPr>
          <a:xfrm>
            <a:off x="812800" y="4106962"/>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568"/>
                </a:solidFill>
                <a:latin typeface="IBM Plex Sans" pitchFamily="34" charset="0"/>
                <a:ea typeface="IBM Plex Sans" pitchFamily="34" charset="-122"/>
                <a:cs typeface="IBM Plex Sans" pitchFamily="34" charset="-120"/>
              </a:rPr>
              <a:t>Ready-made AI libraries built on those three</a:t>
            </a:r>
            <a:endParaRPr lang="en-US" sz="1200" dirty="0"/>
          </a:p>
        </p:txBody>
      </p:sp>
      <p:sp>
        <p:nvSpPr>
          <p:cNvPr id="15" name="Text 13"/>
          <p:cNvSpPr/>
          <p:nvPr/>
        </p:nvSpPr>
        <p:spPr>
          <a:xfrm>
            <a:off x="815975" y="4425057"/>
            <a:ext cx="2028130" cy="636191"/>
          </a:xfrm>
          <a:prstGeom prst="roundRect">
            <a:avLst>
              <a:gd name="adj" fmla="val 11478"/>
            </a:avLst>
          </a:prstGeom>
          <a:solidFill>
            <a:srgbClr val="FCFBF7"/>
          </a:solidFill>
          <a:ln w="6350">
            <a:solidFill>
              <a:srgbClr val="DCD6CA"/>
            </a:solidFill>
            <a:prstDash val="solid"/>
          </a:ln>
        </p:spPr>
        <p:txBody>
          <a:bodyPr wrap="square" lIns="108787" tIns="83387" rIns="55753" bIns="57987" rtlCol="0" anchor="t">
            <a:normAutofit/>
          </a:bodyPr>
          <a:lstStyle/>
          <a:p>
            <a:pPr algn="l" indent="0" marL="0">
              <a:lnSpc>
                <a:spcPts val="1680"/>
              </a:lnSpc>
              <a:buNone/>
            </a:pPr>
            <a:r>
              <a:rPr lang="en-US" sz="1200" b="1" dirty="0">
                <a:solidFill>
                  <a:srgbClr val="111B2B"/>
                </a:solidFill>
                <a:latin typeface="IBM Plex Sans" pitchFamily="34" charset="0"/>
                <a:ea typeface="IBM Plex Sans" pitchFamily="34" charset="-122"/>
                <a:cs typeface="IBM Plex Sans" pitchFamily="34" charset="-120"/>
              </a:rPr>
              <a:t>Ray Data</a:t>
            </a:r>
            <a:endParaRPr lang="en-US" sz="1200" dirty="0"/>
          </a:p>
          <a:p>
            <a:pPr algn="l" indent="0" marL="0">
              <a:lnSpc>
                <a:spcPts val="1680"/>
              </a:lnSpc>
              <a:buNone/>
            </a:pPr>
            <a:r>
              <a:rPr lang="en-US" sz="1200" dirty="0">
                <a:solidFill>
                  <a:srgbClr val="111B2B"/>
                </a:solidFill>
                <a:latin typeface="IBM Plex Sans" pitchFamily="34" charset="0"/>
                <a:ea typeface="IBM Plex Sans" pitchFamily="34" charset="-122"/>
                <a:cs typeface="IBM Plex Sans" pitchFamily="34" charset="-120"/>
              </a:rPr>
              <a:t>parallel data loading</a:t>
            </a:r>
            <a:endParaRPr lang="en-US" sz="1200" dirty="0"/>
          </a:p>
        </p:txBody>
      </p:sp>
      <p:sp>
        <p:nvSpPr>
          <p:cNvPr id="16" name="Text 14"/>
          <p:cNvSpPr/>
          <p:nvPr/>
        </p:nvSpPr>
        <p:spPr>
          <a:xfrm>
            <a:off x="2952055" y="4425057"/>
            <a:ext cx="2028230" cy="636191"/>
          </a:xfrm>
          <a:prstGeom prst="roundRect">
            <a:avLst>
              <a:gd name="adj" fmla="val 11478"/>
            </a:avLst>
          </a:prstGeom>
          <a:solidFill>
            <a:srgbClr val="FCFBF7"/>
          </a:solidFill>
          <a:ln w="6350">
            <a:solidFill>
              <a:srgbClr val="DCD6CA"/>
            </a:solidFill>
            <a:prstDash val="solid"/>
          </a:ln>
        </p:spPr>
        <p:txBody>
          <a:bodyPr wrap="square" lIns="108787" tIns="83387" rIns="55750" bIns="57987" rtlCol="0" anchor="t">
            <a:normAutofit/>
          </a:bodyPr>
          <a:lstStyle/>
          <a:p>
            <a:pPr algn="l" indent="0" marL="0">
              <a:lnSpc>
                <a:spcPts val="1680"/>
              </a:lnSpc>
              <a:buNone/>
            </a:pPr>
            <a:r>
              <a:rPr lang="en-US" sz="1200" b="1" dirty="0">
                <a:solidFill>
                  <a:srgbClr val="111B2B"/>
                </a:solidFill>
                <a:latin typeface="IBM Plex Sans" pitchFamily="34" charset="0"/>
                <a:ea typeface="IBM Plex Sans" pitchFamily="34" charset="-122"/>
                <a:cs typeface="IBM Plex Sans" pitchFamily="34" charset="-120"/>
              </a:rPr>
              <a:t>Ray Train</a:t>
            </a:r>
            <a:endParaRPr lang="en-US" sz="1200" dirty="0"/>
          </a:p>
          <a:p>
            <a:pPr algn="l" indent="0" marL="0">
              <a:lnSpc>
                <a:spcPts val="1680"/>
              </a:lnSpc>
              <a:buNone/>
            </a:pPr>
            <a:r>
              <a:rPr lang="en-US" sz="1200" dirty="0">
                <a:solidFill>
                  <a:srgbClr val="111B2B"/>
                </a:solidFill>
                <a:latin typeface="IBM Plex Sans" pitchFamily="34" charset="0"/>
                <a:ea typeface="IBM Plex Sans" pitchFamily="34" charset="-122"/>
                <a:cs typeface="IBM Plex Sans" pitchFamily="34" charset="-120"/>
              </a:rPr>
              <a:t>multi-GPU training</a:t>
            </a:r>
            <a:endParaRPr lang="en-US" sz="1200" dirty="0"/>
          </a:p>
        </p:txBody>
      </p:sp>
      <p:sp>
        <p:nvSpPr>
          <p:cNvPr id="17" name="Text 15"/>
          <p:cNvSpPr/>
          <p:nvPr/>
        </p:nvSpPr>
        <p:spPr>
          <a:xfrm>
            <a:off x="5085060" y="4421882"/>
            <a:ext cx="2021780" cy="642541"/>
          </a:xfrm>
          <a:prstGeom prst="roundRect">
            <a:avLst>
              <a:gd name="adj" fmla="val 11859"/>
            </a:avLst>
          </a:prstGeom>
          <a:solidFill>
            <a:srgbClr val="B5530E"/>
          </a:solidFill>
          <a:ln/>
        </p:spPr>
        <p:txBody>
          <a:bodyPr wrap="square" lIns="104682" tIns="79282" rIns="51648" bIns="53882" rtlCol="0" anchor="t">
            <a:normAutofit/>
          </a:bodyPr>
          <a:lstStyle/>
          <a:p>
            <a:pPr algn="l" indent="0" marL="0">
              <a:lnSpc>
                <a:spcPts val="1680"/>
              </a:lnSpc>
              <a:buNone/>
            </a:pPr>
            <a:r>
              <a:rPr lang="en-US" sz="1200" b="1" dirty="0">
                <a:solidFill>
                  <a:srgbClr val="FCFBF7"/>
                </a:solidFill>
                <a:latin typeface="IBM Plex Sans" pitchFamily="34" charset="0"/>
                <a:ea typeface="IBM Plex Sans" pitchFamily="34" charset="-122"/>
                <a:cs typeface="IBM Plex Sans" pitchFamily="34" charset="-120"/>
              </a:rPr>
              <a:t>Ray Tune</a:t>
            </a:r>
            <a:endParaRPr lang="en-US" sz="1200" dirty="0"/>
          </a:p>
          <a:p>
            <a:pPr algn="l" indent="0" marL="0">
              <a:lnSpc>
                <a:spcPts val="1680"/>
              </a:lnSpc>
              <a:buNone/>
            </a:pPr>
            <a:r>
              <a:rPr lang="en-US" sz="1200" dirty="0">
                <a:solidFill>
                  <a:srgbClr val="FCFBF7"/>
                </a:solidFill>
                <a:latin typeface="IBM Plex Sans" pitchFamily="34" charset="0"/>
                <a:ea typeface="IBM Plex Sans" pitchFamily="34" charset="-122"/>
                <a:cs typeface="IBM Plex Sans" pitchFamily="34" charset="-120"/>
              </a:rPr>
              <a:t>tuning · our demo</a:t>
            </a:r>
            <a:endParaRPr lang="en-US" sz="1200" dirty="0"/>
          </a:p>
        </p:txBody>
      </p:sp>
      <p:sp>
        <p:nvSpPr>
          <p:cNvPr id="18" name="Text 16"/>
          <p:cNvSpPr/>
          <p:nvPr/>
        </p:nvSpPr>
        <p:spPr>
          <a:xfrm>
            <a:off x="7211616" y="4425057"/>
            <a:ext cx="2028230" cy="636191"/>
          </a:xfrm>
          <a:prstGeom prst="roundRect">
            <a:avLst>
              <a:gd name="adj" fmla="val 11478"/>
            </a:avLst>
          </a:prstGeom>
          <a:solidFill>
            <a:srgbClr val="FCFBF7"/>
          </a:solidFill>
          <a:ln w="6350">
            <a:solidFill>
              <a:srgbClr val="DCD6CA"/>
            </a:solidFill>
            <a:prstDash val="solid"/>
          </a:ln>
        </p:spPr>
        <p:txBody>
          <a:bodyPr wrap="square" lIns="108787" tIns="83387" rIns="55750" bIns="57987" rtlCol="0" anchor="t">
            <a:normAutofit/>
          </a:bodyPr>
          <a:lstStyle/>
          <a:p>
            <a:pPr algn="l" indent="0" marL="0">
              <a:lnSpc>
                <a:spcPts val="1680"/>
              </a:lnSpc>
              <a:buNone/>
            </a:pPr>
            <a:r>
              <a:rPr lang="en-US" sz="1200" b="1" dirty="0">
                <a:solidFill>
                  <a:srgbClr val="111B2B"/>
                </a:solidFill>
                <a:latin typeface="IBM Plex Sans" pitchFamily="34" charset="0"/>
                <a:ea typeface="IBM Plex Sans" pitchFamily="34" charset="-122"/>
                <a:cs typeface="IBM Plex Sans" pitchFamily="34" charset="-120"/>
              </a:rPr>
              <a:t>Ray Serve</a:t>
            </a:r>
            <a:endParaRPr lang="en-US" sz="1200" dirty="0"/>
          </a:p>
          <a:p>
            <a:pPr algn="l" indent="0" marL="0">
              <a:lnSpc>
                <a:spcPts val="1680"/>
              </a:lnSpc>
              <a:buNone/>
            </a:pPr>
            <a:r>
              <a:rPr lang="en-US" sz="1200" dirty="0">
                <a:solidFill>
                  <a:srgbClr val="111B2B"/>
                </a:solidFill>
                <a:latin typeface="IBM Plex Sans" pitchFamily="34" charset="0"/>
                <a:ea typeface="IBM Plex Sans" pitchFamily="34" charset="-122"/>
                <a:cs typeface="IBM Plex Sans" pitchFamily="34" charset="-120"/>
              </a:rPr>
              <a:t>model serving</a:t>
            </a:r>
            <a:endParaRPr lang="en-US" sz="1200" dirty="0"/>
          </a:p>
        </p:txBody>
      </p:sp>
      <p:sp>
        <p:nvSpPr>
          <p:cNvPr id="19" name="Text 17"/>
          <p:cNvSpPr/>
          <p:nvPr/>
        </p:nvSpPr>
        <p:spPr>
          <a:xfrm>
            <a:off x="9347795" y="4425057"/>
            <a:ext cx="2028230" cy="636191"/>
          </a:xfrm>
          <a:prstGeom prst="roundRect">
            <a:avLst>
              <a:gd name="adj" fmla="val 11478"/>
            </a:avLst>
          </a:prstGeom>
          <a:solidFill>
            <a:srgbClr val="FCFBF7"/>
          </a:solidFill>
          <a:ln w="6350">
            <a:solidFill>
              <a:srgbClr val="DCD6CA"/>
            </a:solidFill>
            <a:prstDash val="solid"/>
          </a:ln>
        </p:spPr>
        <p:txBody>
          <a:bodyPr wrap="square" lIns="108787" tIns="83387" rIns="55750" bIns="57987" rtlCol="0" anchor="t">
            <a:normAutofit/>
          </a:bodyPr>
          <a:lstStyle/>
          <a:p>
            <a:pPr algn="l" indent="0" marL="0">
              <a:lnSpc>
                <a:spcPts val="1680"/>
              </a:lnSpc>
              <a:buNone/>
            </a:pPr>
            <a:r>
              <a:rPr lang="en-US" sz="1200" b="1" dirty="0">
                <a:solidFill>
                  <a:srgbClr val="111B2B"/>
                </a:solidFill>
                <a:latin typeface="IBM Plex Sans" pitchFamily="34" charset="0"/>
                <a:ea typeface="IBM Plex Sans" pitchFamily="34" charset="-122"/>
                <a:cs typeface="IBM Plex Sans" pitchFamily="34" charset="-120"/>
              </a:rPr>
              <a:t>RLlib</a:t>
            </a:r>
            <a:endParaRPr lang="en-US" sz="1200" dirty="0"/>
          </a:p>
          <a:p>
            <a:pPr algn="l" indent="0" marL="0">
              <a:lnSpc>
                <a:spcPts val="1680"/>
              </a:lnSpc>
              <a:buNone/>
            </a:pPr>
            <a:r>
              <a:rPr lang="en-US" sz="1200" dirty="0">
                <a:solidFill>
                  <a:srgbClr val="111B2B"/>
                </a:solidFill>
                <a:latin typeface="IBM Plex Sans" pitchFamily="34" charset="0"/>
                <a:ea typeface="IBM Plex Sans" pitchFamily="34" charset="-122"/>
                <a:cs typeface="IBM Plex Sans" pitchFamily="34" charset="-120"/>
              </a:rPr>
              <a:t>reinforcement learning</a:t>
            </a:r>
            <a:endParaRPr lang="en-US" sz="12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Slurm + Ray for AI · 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30E"/>
                </a:solidFill>
                <a:latin typeface="JetBrains Mono" pitchFamily="49" charset="0"/>
                <a:ea typeface="JetBrains Mono" pitchFamily="49" charset="-122"/>
                <a:cs typeface="JetBrains Mono" pitchFamily="49" charset="-120"/>
              </a:rPr>
              <a:t>03 · RAY</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11B2B"/>
                </a:solidFill>
                <a:latin typeface="IBM Plex Sans" pitchFamily="34" charset="0"/>
                <a:ea typeface="IBM Plex Sans" pitchFamily="34" charset="-122"/>
                <a:cs typeface="IBM Plex Sans" pitchFamily="34" charset="-120"/>
              </a:rPr>
              <a:t>Ray’s architecture</a:t>
            </a:r>
            <a:endParaRPr lang="en-US" sz="3200" dirty="0"/>
          </a:p>
        </p:txBody>
      </p:sp>
      <p:sp>
        <p:nvSpPr>
          <p:cNvPr id="4" name="Shape 2"/>
          <p:cNvSpPr/>
          <p:nvPr/>
        </p:nvSpPr>
        <p:spPr>
          <a:xfrm>
            <a:off x="822325" y="2229346"/>
            <a:ext cx="5306715" cy="2243931"/>
          </a:xfrm>
          <a:prstGeom prst="roundRect">
            <a:avLst>
              <a:gd name="adj" fmla="val 5235"/>
            </a:avLst>
          </a:prstGeom>
          <a:solidFill>
            <a:srgbClr val="FCFBF7"/>
          </a:solidFill>
          <a:ln w="19050">
            <a:solidFill>
              <a:srgbClr val="B5530E"/>
            </a:solidFill>
            <a:prstDash val="solid"/>
          </a:ln>
        </p:spPr>
      </p:sp>
      <p:sp>
        <p:nvSpPr>
          <p:cNvPr id="5" name="Text 3"/>
          <p:cNvSpPr/>
          <p:nvPr/>
        </p:nvSpPr>
        <p:spPr>
          <a:xfrm>
            <a:off x="1035050" y="2442071"/>
            <a:ext cx="151828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11B2B"/>
                </a:solidFill>
                <a:latin typeface="IBM Plex Sans" pitchFamily="34" charset="0"/>
                <a:ea typeface="IBM Plex Sans" pitchFamily="34" charset="-122"/>
                <a:cs typeface="IBM Plex Sans" pitchFamily="34" charset="-120"/>
              </a:rPr>
              <a:t>Head node</a:t>
            </a:r>
            <a:endParaRPr lang="en-US" sz="2000" dirty="0"/>
          </a:p>
        </p:txBody>
      </p:sp>
      <p:sp>
        <p:nvSpPr>
          <p:cNvPr id="6" name="Text 4"/>
          <p:cNvSpPr/>
          <p:nvPr/>
        </p:nvSpPr>
        <p:spPr>
          <a:xfrm>
            <a:off x="4489827" y="2487811"/>
            <a:ext cx="142648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5530E"/>
                </a:solidFill>
                <a:latin typeface="JetBrains Mono" pitchFamily="49" charset="0"/>
                <a:ea typeface="JetBrains Mono" pitchFamily="49" charset="-122"/>
                <a:cs typeface="JetBrains Mono" pitchFamily="49" charset="-120"/>
              </a:rPr>
              <a:t>demo: worker1</a:t>
            </a:r>
            <a:endParaRPr lang="en-US" sz="1200" dirty="0"/>
          </a:p>
        </p:txBody>
      </p:sp>
      <p:sp>
        <p:nvSpPr>
          <p:cNvPr id="7" name="Shape 5"/>
          <p:cNvSpPr/>
          <p:nvPr/>
        </p:nvSpPr>
        <p:spPr>
          <a:xfrm>
            <a:off x="1035050" y="2848471"/>
            <a:ext cx="2389783" cy="655241"/>
          </a:xfrm>
          <a:prstGeom prst="roundRect">
            <a:avLst>
              <a:gd name="adj" fmla="val 11629"/>
            </a:avLst>
          </a:prstGeom>
          <a:solidFill>
            <a:srgbClr val="F6E6D9"/>
          </a:solidFill>
          <a:ln/>
        </p:spPr>
      </p:sp>
      <p:sp>
        <p:nvSpPr>
          <p:cNvPr id="8" name="Text 6"/>
          <p:cNvSpPr/>
          <p:nvPr/>
        </p:nvSpPr>
        <p:spPr>
          <a:xfrm>
            <a:off x="1162050" y="2950071"/>
            <a:ext cx="219985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11B2B"/>
                </a:solidFill>
                <a:latin typeface="IBM Plex Sans" pitchFamily="34" charset="0"/>
                <a:ea typeface="IBM Plex Sans" pitchFamily="34" charset="-122"/>
                <a:cs typeface="IBM Plex Sans" pitchFamily="34" charset="-120"/>
              </a:rPr>
              <a:t>Driver</a:t>
            </a:r>
            <a:endParaRPr lang="en-US" sz="1200" dirty="0"/>
          </a:p>
        </p:txBody>
      </p:sp>
      <p:sp>
        <p:nvSpPr>
          <p:cNvPr id="9" name="Text 7"/>
          <p:cNvSpPr/>
          <p:nvPr/>
        </p:nvSpPr>
        <p:spPr>
          <a:xfrm>
            <a:off x="1162050" y="3188791"/>
            <a:ext cx="21998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your script, ray.init()</a:t>
            </a:r>
            <a:endParaRPr lang="en-US" sz="1200" dirty="0"/>
          </a:p>
        </p:txBody>
      </p:sp>
      <p:sp>
        <p:nvSpPr>
          <p:cNvPr id="10" name="Shape 8"/>
          <p:cNvSpPr/>
          <p:nvPr/>
        </p:nvSpPr>
        <p:spPr>
          <a:xfrm>
            <a:off x="3526433" y="2848471"/>
            <a:ext cx="2389882" cy="655241"/>
          </a:xfrm>
          <a:prstGeom prst="roundRect">
            <a:avLst>
              <a:gd name="adj" fmla="val 11629"/>
            </a:avLst>
          </a:prstGeom>
          <a:solidFill>
            <a:srgbClr val="F6E6D9"/>
          </a:solidFill>
          <a:ln/>
        </p:spPr>
      </p:sp>
      <p:sp>
        <p:nvSpPr>
          <p:cNvPr id="11" name="Text 9"/>
          <p:cNvSpPr/>
          <p:nvPr/>
        </p:nvSpPr>
        <p:spPr>
          <a:xfrm>
            <a:off x="3653433" y="2950071"/>
            <a:ext cx="219995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11B2B"/>
                </a:solidFill>
                <a:latin typeface="IBM Plex Sans" pitchFamily="34" charset="0"/>
                <a:ea typeface="IBM Plex Sans" pitchFamily="34" charset="-122"/>
                <a:cs typeface="IBM Plex Sans" pitchFamily="34" charset="-120"/>
              </a:rPr>
              <a:t>GCS · port 6379</a:t>
            </a:r>
            <a:endParaRPr lang="en-US" sz="1200" dirty="0"/>
          </a:p>
        </p:txBody>
      </p:sp>
      <p:sp>
        <p:nvSpPr>
          <p:cNvPr id="12" name="Text 10"/>
          <p:cNvSpPr/>
          <p:nvPr/>
        </p:nvSpPr>
        <p:spPr>
          <a:xfrm>
            <a:off x="3653433" y="3188791"/>
            <a:ext cx="219995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cluster state and registry</a:t>
            </a:r>
            <a:endParaRPr lang="en-US" sz="1200" dirty="0"/>
          </a:p>
        </p:txBody>
      </p:sp>
      <p:sp>
        <p:nvSpPr>
          <p:cNvPr id="13" name="Shape 11"/>
          <p:cNvSpPr/>
          <p:nvPr/>
        </p:nvSpPr>
        <p:spPr>
          <a:xfrm>
            <a:off x="1035050" y="3605312"/>
            <a:ext cx="2389783" cy="655241"/>
          </a:xfrm>
          <a:prstGeom prst="roundRect">
            <a:avLst>
              <a:gd name="adj" fmla="val 11629"/>
            </a:avLst>
          </a:prstGeom>
          <a:solidFill>
            <a:srgbClr val="F6E6D9"/>
          </a:solidFill>
          <a:ln/>
        </p:spPr>
      </p:sp>
      <p:sp>
        <p:nvSpPr>
          <p:cNvPr id="14" name="Text 12"/>
          <p:cNvSpPr/>
          <p:nvPr/>
        </p:nvSpPr>
        <p:spPr>
          <a:xfrm>
            <a:off x="1162050" y="3706912"/>
            <a:ext cx="219985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11B2B"/>
                </a:solidFill>
                <a:latin typeface="IBM Plex Sans" pitchFamily="34" charset="0"/>
                <a:ea typeface="IBM Plex Sans" pitchFamily="34" charset="-122"/>
                <a:cs typeface="IBM Plex Sans" pitchFamily="34" charset="-120"/>
              </a:rPr>
              <a:t>Dashboard · 8265</a:t>
            </a:r>
            <a:endParaRPr lang="en-US" sz="1200" dirty="0"/>
          </a:p>
        </p:txBody>
      </p:sp>
      <p:sp>
        <p:nvSpPr>
          <p:cNvPr id="15" name="Text 13"/>
          <p:cNvSpPr/>
          <p:nvPr/>
        </p:nvSpPr>
        <p:spPr>
          <a:xfrm>
            <a:off x="1162050" y="3945632"/>
            <a:ext cx="21998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web UI and job API</a:t>
            </a:r>
            <a:endParaRPr lang="en-US" sz="1200" dirty="0"/>
          </a:p>
        </p:txBody>
      </p:sp>
      <p:sp>
        <p:nvSpPr>
          <p:cNvPr id="16" name="Shape 14"/>
          <p:cNvSpPr/>
          <p:nvPr/>
        </p:nvSpPr>
        <p:spPr>
          <a:xfrm>
            <a:off x="3526433" y="3605312"/>
            <a:ext cx="2389882" cy="655241"/>
          </a:xfrm>
          <a:prstGeom prst="roundRect">
            <a:avLst>
              <a:gd name="adj" fmla="val 11629"/>
            </a:avLst>
          </a:prstGeom>
          <a:solidFill>
            <a:srgbClr val="F6E6D9"/>
          </a:solidFill>
          <a:ln/>
        </p:spPr>
      </p:sp>
      <p:sp>
        <p:nvSpPr>
          <p:cNvPr id="17" name="Text 15"/>
          <p:cNvSpPr/>
          <p:nvPr/>
        </p:nvSpPr>
        <p:spPr>
          <a:xfrm>
            <a:off x="3653433" y="3706912"/>
            <a:ext cx="219995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11B2B"/>
                </a:solidFill>
                <a:latin typeface="IBM Plex Sans" pitchFamily="34" charset="0"/>
                <a:ea typeface="IBM Plex Sans" pitchFamily="34" charset="-122"/>
                <a:cs typeface="IBM Plex Sans" pitchFamily="34" charset="-120"/>
              </a:rPr>
              <a:t>Raylet + workers</a:t>
            </a:r>
            <a:endParaRPr lang="en-US" sz="1200" dirty="0"/>
          </a:p>
        </p:txBody>
      </p:sp>
      <p:sp>
        <p:nvSpPr>
          <p:cNvPr id="18" name="Text 16"/>
          <p:cNvSpPr/>
          <p:nvPr/>
        </p:nvSpPr>
        <p:spPr>
          <a:xfrm>
            <a:off x="3653433" y="3945632"/>
            <a:ext cx="219995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it runs tasks too</a:t>
            </a:r>
            <a:endParaRPr lang="en-US" sz="1200" dirty="0"/>
          </a:p>
        </p:txBody>
      </p:sp>
      <p:pic>
        <p:nvPicPr>
          <p:cNvPr id="19" name="Image 0" descr="arrow-right">    </p:cNvPr>
          <p:cNvPicPr>
            <a:picLocks noChangeAspect="1"/>
          </p:cNvPicPr>
          <p:nvPr/>
        </p:nvPicPr>
        <p:blipFill>
          <a:blip r:embed="rId1"/>
          <a:srcRect l="0" r="0" t="0" b="0"/>
          <a:stretch/>
        </p:blipFill>
        <p:spPr>
          <a:xfrm>
            <a:off x="6443365" y="2965252"/>
            <a:ext cx="457200" cy="203200"/>
          </a:xfrm>
          <a:prstGeom prst="rect">
            <a:avLst/>
          </a:prstGeom>
        </p:spPr>
      </p:pic>
      <p:pic>
        <p:nvPicPr>
          <p:cNvPr id="20" name="Image 1" descr="arrow-left">    </p:cNvPr>
          <p:cNvPicPr>
            <a:picLocks noChangeAspect="1"/>
          </p:cNvPicPr>
          <p:nvPr/>
        </p:nvPicPr>
        <p:blipFill>
          <a:blip r:embed="rId2"/>
          <a:srcRect l="0" r="0" t="0" b="0"/>
          <a:stretch/>
        </p:blipFill>
        <p:spPr>
          <a:xfrm>
            <a:off x="6443365" y="3244652"/>
            <a:ext cx="457200" cy="203200"/>
          </a:xfrm>
          <a:prstGeom prst="rect">
            <a:avLst/>
          </a:prstGeom>
        </p:spPr>
      </p:pic>
      <p:sp>
        <p:nvSpPr>
          <p:cNvPr id="21" name="Text 17"/>
          <p:cNvSpPr/>
          <p:nvPr/>
        </p:nvSpPr>
        <p:spPr>
          <a:xfrm>
            <a:off x="6334909" y="3524052"/>
            <a:ext cx="67401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network</a:t>
            </a:r>
            <a:endParaRPr lang="en-US" sz="1200" dirty="0"/>
          </a:p>
        </p:txBody>
      </p:sp>
      <p:sp>
        <p:nvSpPr>
          <p:cNvPr id="22" name="Shape 18"/>
          <p:cNvSpPr/>
          <p:nvPr/>
        </p:nvSpPr>
        <p:spPr>
          <a:xfrm>
            <a:off x="7208540" y="1857276"/>
            <a:ext cx="4167485" cy="2988072"/>
          </a:xfrm>
          <a:prstGeom prst="roundRect">
            <a:avLst>
              <a:gd name="adj" fmla="val 4144"/>
            </a:avLst>
          </a:prstGeom>
          <a:solidFill>
            <a:srgbClr val="FCFBF7"/>
          </a:solidFill>
          <a:ln w="6350">
            <a:solidFill>
              <a:srgbClr val="DCD6CA"/>
            </a:solidFill>
            <a:prstDash val="solid"/>
          </a:ln>
        </p:spPr>
      </p:sp>
      <p:sp>
        <p:nvSpPr>
          <p:cNvPr id="23" name="Text 19"/>
          <p:cNvSpPr/>
          <p:nvPr/>
        </p:nvSpPr>
        <p:spPr>
          <a:xfrm>
            <a:off x="7414915" y="2063651"/>
            <a:ext cx="180355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11B2B"/>
                </a:solidFill>
                <a:latin typeface="IBM Plex Sans" pitchFamily="34" charset="0"/>
                <a:ea typeface="IBM Plex Sans" pitchFamily="34" charset="-122"/>
                <a:cs typeface="IBM Plex Sans" pitchFamily="34" charset="-120"/>
              </a:rPr>
              <a:t>Worker node</a:t>
            </a:r>
            <a:endParaRPr lang="en-US" sz="2000" dirty="0"/>
          </a:p>
        </p:txBody>
      </p:sp>
      <p:sp>
        <p:nvSpPr>
          <p:cNvPr id="24" name="Text 20"/>
          <p:cNvSpPr/>
          <p:nvPr/>
        </p:nvSpPr>
        <p:spPr>
          <a:xfrm>
            <a:off x="10401459" y="2109391"/>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5530E"/>
                </a:solidFill>
                <a:latin typeface="JetBrains Mono" pitchFamily="49" charset="0"/>
                <a:ea typeface="JetBrains Mono" pitchFamily="49" charset="-122"/>
                <a:cs typeface="JetBrains Mono" pitchFamily="49" charset="-120"/>
              </a:rPr>
              <a:t>worker2</a:t>
            </a:r>
            <a:endParaRPr lang="en-US" sz="1200" dirty="0"/>
          </a:p>
        </p:txBody>
      </p:sp>
      <p:sp>
        <p:nvSpPr>
          <p:cNvPr id="25" name="Shape 21"/>
          <p:cNvSpPr/>
          <p:nvPr/>
        </p:nvSpPr>
        <p:spPr>
          <a:xfrm>
            <a:off x="7414915" y="2470051"/>
            <a:ext cx="3754735" cy="655241"/>
          </a:xfrm>
          <a:prstGeom prst="roundRect">
            <a:avLst>
              <a:gd name="adj" fmla="val 11629"/>
            </a:avLst>
          </a:prstGeom>
          <a:solidFill>
            <a:srgbClr val="EEEAE1"/>
          </a:solidFill>
          <a:ln/>
        </p:spPr>
      </p:sp>
      <p:sp>
        <p:nvSpPr>
          <p:cNvPr id="26" name="Text 22"/>
          <p:cNvSpPr/>
          <p:nvPr/>
        </p:nvSpPr>
        <p:spPr>
          <a:xfrm>
            <a:off x="7541915" y="2571651"/>
            <a:ext cx="360575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11B2B"/>
                </a:solidFill>
                <a:latin typeface="IBM Plex Sans" pitchFamily="34" charset="0"/>
                <a:ea typeface="IBM Plex Sans" pitchFamily="34" charset="-122"/>
                <a:cs typeface="IBM Plex Sans" pitchFamily="34" charset="-120"/>
              </a:rPr>
              <a:t>Raylet</a:t>
            </a:r>
            <a:endParaRPr lang="en-US" sz="1200" dirty="0"/>
          </a:p>
        </p:txBody>
      </p:sp>
      <p:sp>
        <p:nvSpPr>
          <p:cNvPr id="27" name="Text 23"/>
          <p:cNvSpPr/>
          <p:nvPr/>
        </p:nvSpPr>
        <p:spPr>
          <a:xfrm>
            <a:off x="7541915" y="2810371"/>
            <a:ext cx="36057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local scheduler for this node</a:t>
            </a:r>
            <a:endParaRPr lang="en-US" sz="1200" dirty="0"/>
          </a:p>
        </p:txBody>
      </p:sp>
      <p:sp>
        <p:nvSpPr>
          <p:cNvPr id="28" name="Shape 24"/>
          <p:cNvSpPr/>
          <p:nvPr/>
        </p:nvSpPr>
        <p:spPr>
          <a:xfrm>
            <a:off x="7414915" y="3226891"/>
            <a:ext cx="3754735" cy="655241"/>
          </a:xfrm>
          <a:prstGeom prst="roundRect">
            <a:avLst>
              <a:gd name="adj" fmla="val 11629"/>
            </a:avLst>
          </a:prstGeom>
          <a:solidFill>
            <a:srgbClr val="EEEAE1"/>
          </a:solidFill>
          <a:ln/>
        </p:spPr>
      </p:sp>
      <p:sp>
        <p:nvSpPr>
          <p:cNvPr id="29" name="Text 25"/>
          <p:cNvSpPr/>
          <p:nvPr/>
        </p:nvSpPr>
        <p:spPr>
          <a:xfrm>
            <a:off x="7541915" y="3328491"/>
            <a:ext cx="360575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11B2B"/>
                </a:solidFill>
                <a:latin typeface="IBM Plex Sans" pitchFamily="34" charset="0"/>
                <a:ea typeface="IBM Plex Sans" pitchFamily="34" charset="-122"/>
                <a:cs typeface="IBM Plex Sans" pitchFamily="34" charset="-120"/>
              </a:rPr>
              <a:t>Object store</a:t>
            </a:r>
            <a:endParaRPr lang="en-US" sz="1200" dirty="0"/>
          </a:p>
        </p:txBody>
      </p:sp>
      <p:sp>
        <p:nvSpPr>
          <p:cNvPr id="30" name="Text 26"/>
          <p:cNvSpPr/>
          <p:nvPr/>
        </p:nvSpPr>
        <p:spPr>
          <a:xfrm>
            <a:off x="7541915" y="3567212"/>
            <a:ext cx="36057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shared memory for results</a:t>
            </a:r>
            <a:endParaRPr lang="en-US" sz="1200" dirty="0"/>
          </a:p>
        </p:txBody>
      </p:sp>
      <p:sp>
        <p:nvSpPr>
          <p:cNvPr id="31" name="Shape 27"/>
          <p:cNvSpPr/>
          <p:nvPr/>
        </p:nvSpPr>
        <p:spPr>
          <a:xfrm>
            <a:off x="7414915" y="3983732"/>
            <a:ext cx="3754735" cy="655241"/>
          </a:xfrm>
          <a:prstGeom prst="roundRect">
            <a:avLst>
              <a:gd name="adj" fmla="val 11629"/>
            </a:avLst>
          </a:prstGeom>
          <a:solidFill>
            <a:srgbClr val="EEEAE1"/>
          </a:solidFill>
          <a:ln/>
        </p:spPr>
      </p:sp>
      <p:sp>
        <p:nvSpPr>
          <p:cNvPr id="32" name="Text 28"/>
          <p:cNvSpPr/>
          <p:nvPr/>
        </p:nvSpPr>
        <p:spPr>
          <a:xfrm>
            <a:off x="7541915" y="4085332"/>
            <a:ext cx="360575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11B2B"/>
                </a:solidFill>
                <a:latin typeface="IBM Plex Sans" pitchFamily="34" charset="0"/>
                <a:ea typeface="IBM Plex Sans" pitchFamily="34" charset="-122"/>
                <a:cs typeface="IBM Plex Sans" pitchFamily="34" charset="-120"/>
              </a:rPr>
              <a:t>Worker processes</a:t>
            </a:r>
            <a:endParaRPr lang="en-US" sz="1200" dirty="0"/>
          </a:p>
        </p:txBody>
      </p:sp>
      <p:sp>
        <p:nvSpPr>
          <p:cNvPr id="33" name="Text 29"/>
          <p:cNvSpPr/>
          <p:nvPr/>
        </p:nvSpPr>
        <p:spPr>
          <a:xfrm>
            <a:off x="7541915" y="4324052"/>
            <a:ext cx="36057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run tasks and actors</a:t>
            </a:r>
            <a:endParaRPr lang="en-US" sz="1200" dirty="0"/>
          </a:p>
        </p:txBody>
      </p:sp>
      <p:sp>
        <p:nvSpPr>
          <p:cNvPr id="34" name="Text 30"/>
          <p:cNvSpPr/>
          <p:nvPr/>
        </p:nvSpPr>
        <p:spPr>
          <a:xfrm>
            <a:off x="812800" y="5153323"/>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Every node runs a raylet. Only the head adds the GCS and dashboard. Workers join with the head’s address.</a:t>
            </a:r>
            <a:endParaRPr lang="en-US" sz="1500" dirty="0"/>
          </a:p>
        </p:txBody>
      </p:sp>
      <p:sp>
        <p:nvSpPr>
          <p:cNvPr id="35" name="Text 3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Slurm + Ray for AI · 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30E"/>
                </a:solidFill>
                <a:latin typeface="JetBrains Mono" pitchFamily="49" charset="0"/>
                <a:ea typeface="JetBrains Mono" pitchFamily="49" charset="-122"/>
                <a:cs typeface="JetBrains Mono" pitchFamily="49" charset="-120"/>
              </a:rPr>
              <a:t>03 · RAY</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11B2B"/>
                </a:solidFill>
                <a:latin typeface="IBM Plex Sans" pitchFamily="34" charset="0"/>
                <a:ea typeface="IBM Plex Sans" pitchFamily="34" charset="-122"/>
                <a:cs typeface="IBM Plex Sans" pitchFamily="34" charset="-120"/>
              </a:rPr>
              <a:t>From a function to a cluster</a:t>
            </a:r>
            <a:endParaRPr lang="en-US" sz="3200" dirty="0"/>
          </a:p>
        </p:txBody>
      </p:sp>
      <p:sp>
        <p:nvSpPr>
          <p:cNvPr id="4" name="Text 2"/>
          <p:cNvSpPr/>
          <p:nvPr/>
        </p:nvSpPr>
        <p:spPr>
          <a:xfrm>
            <a:off x="812800" y="1854101"/>
            <a:ext cx="5588000" cy="3221137"/>
          </a:xfrm>
          <a:prstGeom prst="roundRect">
            <a:avLst>
              <a:gd name="adj" fmla="val 3154"/>
            </a:avLst>
          </a:prstGeom>
          <a:solidFill>
            <a:srgbClr val="111B2B"/>
          </a:solidFill>
          <a:ln/>
        </p:spPr>
        <p:txBody>
          <a:bodyPr wrap="none" lIns="224242" tIns="173442" rIns="71842" bIns="148042" rtlCol="0" anchor="t">
            <a:normAutofit/>
          </a:bodyPr>
          <a:lstStyle/>
          <a:p>
            <a:pPr algn="l" indent="0" marL="0">
              <a:lnSpc>
                <a:spcPts val="2015"/>
              </a:lnSpc>
              <a:buNone/>
            </a:pPr>
            <a:r>
              <a:rPr lang="en-US" sz="1300" dirty="0">
                <a:solidFill>
                  <a:srgbClr val="E9E4D8"/>
                </a:solidFill>
                <a:latin typeface="JetBrains Mono" pitchFamily="49" charset="0"/>
                <a:ea typeface="JetBrains Mono" pitchFamily="49" charset="-122"/>
                <a:cs typeface="JetBrains Mono" pitchFamily="49" charset="-120"/>
              </a:rPr>
              <a:t>import ray</a:t>
            </a:r>
            <a:endParaRPr lang="en-US" sz="1300" dirty="0"/>
          </a:p>
          <a:p>
            <a:pPr algn="l" indent="0" marL="0">
              <a:lnSpc>
                <a:spcPts val="2015"/>
              </a:lnSpc>
              <a:buNone/>
            </a:pPr>
            <a:r>
              <a:rPr lang="en-US" sz="1300" dirty="0">
                <a:solidFill>
                  <a:srgbClr val="E9E4D8"/>
                </a:solidFill>
                <a:latin typeface="JetBrains Mono" pitchFamily="49" charset="0"/>
                <a:ea typeface="JetBrains Mono" pitchFamily="49" charset="-122"/>
                <a:cs typeface="JetBrains Mono" pitchFamily="49" charset="-120"/>
              </a:rPr>
              <a:t>ray.init(address="auto")</a:t>
            </a:r>
            <a:endParaRPr lang="en-US" sz="1300" dirty="0"/>
          </a:p>
          <a:p>
            <a:pPr algn="l" indent="0" marL="0">
              <a:lnSpc>
                <a:spcPts val="2015"/>
              </a:lnSpc>
              <a:buNone/>
            </a:pPr>
            <a:r>
              <a:rPr lang="en-US" sz="1300" dirty="0">
                <a:solidFill>
                  <a:srgbClr val="8E9AAF"/>
                </a:solidFill>
                <a:latin typeface="JetBrains Mono" pitchFamily="49" charset="0"/>
                <a:ea typeface="JetBrains Mono" pitchFamily="49" charset="-122"/>
                <a:cs typeface="JetBrains Mono" pitchFamily="49" charset="-120"/>
              </a:rPr>
              <a:t># joins the running cluster</a:t>
            </a:r>
            <a:endParaRPr lang="en-US" sz="1300" dirty="0"/>
          </a:p>
          <a:p>
            <a:pPr algn="l" indent="0" marL="0">
              <a:lnSpc>
                <a:spcPts val="2015"/>
              </a:lnSpc>
              <a:buNone/>
            </a:pPr>
            <a:endParaRPr lang="en-US" sz="1300" dirty="0"/>
          </a:p>
          <a:p>
            <a:pPr algn="l" indent="0" marL="0">
              <a:lnSpc>
                <a:spcPts val="2015"/>
              </a:lnSpc>
              <a:buNone/>
            </a:pPr>
            <a:r>
              <a:rPr lang="en-US" sz="1300" dirty="0">
                <a:solidFill>
                  <a:srgbClr val="F2A25C"/>
                </a:solidFill>
                <a:latin typeface="JetBrains Mono" pitchFamily="49" charset="0"/>
                <a:ea typeface="JetBrains Mono" pitchFamily="49" charset="-122"/>
                <a:cs typeface="JetBrains Mono" pitchFamily="49" charset="-120"/>
              </a:rPr>
              <a:t>@ray.remote</a:t>
            </a:r>
            <a:endParaRPr lang="en-US" sz="1300" dirty="0"/>
          </a:p>
          <a:p>
            <a:pPr algn="l" indent="0" marL="0">
              <a:lnSpc>
                <a:spcPts val="2015"/>
              </a:lnSpc>
              <a:buNone/>
            </a:pPr>
            <a:r>
              <a:rPr lang="en-US" sz="1300" dirty="0">
                <a:solidFill>
                  <a:srgbClr val="E9E4D8"/>
                </a:solidFill>
                <a:latin typeface="JetBrains Mono" pitchFamily="49" charset="0"/>
                <a:ea typeface="JetBrains Mono" pitchFamily="49" charset="-122"/>
                <a:cs typeface="JetBrains Mono" pitchFamily="49" charset="-120"/>
              </a:rPr>
              <a:t>def square(x):</a:t>
            </a:r>
            <a:endParaRPr lang="en-US" sz="1300" dirty="0"/>
          </a:p>
          <a:p>
            <a:pPr algn="l" indent="0" marL="0">
              <a:lnSpc>
                <a:spcPts val="2015"/>
              </a:lnSpc>
              <a:buNone/>
            </a:pPr>
            <a:r>
              <a:rPr lang="en-US" sz="1300" dirty="0">
                <a:solidFill>
                  <a:srgbClr val="E9E4D8"/>
                </a:solidFill>
                <a:latin typeface="JetBrains Mono" pitchFamily="49" charset="0"/>
                <a:ea typeface="JetBrains Mono" pitchFamily="49" charset="-122"/>
                <a:cs typeface="JetBrains Mono" pitchFamily="49" charset="-120"/>
              </a:rPr>
              <a:t>    return x * x</a:t>
            </a:r>
            <a:endParaRPr lang="en-US" sz="1300" dirty="0"/>
          </a:p>
          <a:p>
            <a:pPr algn="l" indent="0" marL="0">
              <a:lnSpc>
                <a:spcPts val="2015"/>
              </a:lnSpc>
              <a:buNone/>
            </a:pPr>
            <a:endParaRPr lang="en-US" sz="1300" dirty="0"/>
          </a:p>
          <a:p>
            <a:pPr algn="l" indent="0" marL="0">
              <a:lnSpc>
                <a:spcPts val="2015"/>
              </a:lnSpc>
              <a:buNone/>
            </a:pPr>
            <a:r>
              <a:rPr lang="en-US" sz="1300" dirty="0">
                <a:solidFill>
                  <a:srgbClr val="E9E4D8"/>
                </a:solidFill>
                <a:latin typeface="JetBrains Mono" pitchFamily="49" charset="0"/>
                <a:ea typeface="JetBrains Mono" pitchFamily="49" charset="-122"/>
                <a:cs typeface="JetBrains Mono" pitchFamily="49" charset="-120"/>
              </a:rPr>
              <a:t>futures = [square</a:t>
            </a:r>
            <a:r>
              <a:rPr lang="en-US" sz="1300" dirty="0">
                <a:solidFill>
                  <a:srgbClr val="F2A25C"/>
                </a:solidFill>
                <a:latin typeface="JetBrains Mono" pitchFamily="49" charset="0"/>
                <a:ea typeface="JetBrains Mono" pitchFamily="49" charset="-122"/>
                <a:cs typeface="JetBrains Mono" pitchFamily="49" charset="-120"/>
              </a:rPr>
              <a:t>.remote</a:t>
            </a:r>
            <a:r>
              <a:rPr lang="en-US" sz="1300" dirty="0">
                <a:solidFill>
                  <a:srgbClr val="E9E4D8"/>
                </a:solidFill>
                <a:latin typeface="JetBrains Mono" pitchFamily="49" charset="0"/>
                <a:ea typeface="JetBrains Mono" pitchFamily="49" charset="-122"/>
                <a:cs typeface="JetBrains Mono" pitchFamily="49" charset="-120"/>
              </a:rPr>
              <a:t>(i)</a:t>
            </a:r>
            <a:endParaRPr lang="en-US" sz="1300" dirty="0"/>
          </a:p>
          <a:p>
            <a:pPr algn="l" indent="0" marL="0">
              <a:lnSpc>
                <a:spcPts val="2015"/>
              </a:lnSpc>
              <a:buNone/>
            </a:pPr>
            <a:r>
              <a:rPr lang="en-US" sz="1300" dirty="0">
                <a:solidFill>
                  <a:srgbClr val="E9E4D8"/>
                </a:solidFill>
                <a:latin typeface="JetBrains Mono" pitchFamily="49" charset="0"/>
                <a:ea typeface="JetBrains Mono" pitchFamily="49" charset="-122"/>
                <a:cs typeface="JetBrains Mono" pitchFamily="49" charset="-120"/>
              </a:rPr>
              <a:t>           for i in range(100)]</a:t>
            </a:r>
            <a:endParaRPr lang="en-US" sz="1300" dirty="0"/>
          </a:p>
          <a:p>
            <a:pPr algn="l" indent="0" marL="0">
              <a:lnSpc>
                <a:spcPts val="2015"/>
              </a:lnSpc>
              <a:buNone/>
            </a:pPr>
            <a:r>
              <a:rPr lang="en-US" sz="1300" dirty="0">
                <a:solidFill>
                  <a:srgbClr val="E9E4D8"/>
                </a:solidFill>
                <a:latin typeface="JetBrains Mono" pitchFamily="49" charset="0"/>
                <a:ea typeface="JetBrains Mono" pitchFamily="49" charset="-122"/>
                <a:cs typeface="JetBrains Mono" pitchFamily="49" charset="-120"/>
              </a:rPr>
              <a:t>print(sum(ray</a:t>
            </a:r>
            <a:r>
              <a:rPr lang="en-US" sz="1300" dirty="0">
                <a:solidFill>
                  <a:srgbClr val="F2A25C"/>
                </a:solidFill>
                <a:latin typeface="JetBrains Mono" pitchFamily="49" charset="0"/>
                <a:ea typeface="JetBrains Mono" pitchFamily="49" charset="-122"/>
                <a:cs typeface="JetBrains Mono" pitchFamily="49" charset="-120"/>
              </a:rPr>
              <a:t>.get</a:t>
            </a:r>
            <a:r>
              <a:rPr lang="en-US" sz="1300" dirty="0">
                <a:solidFill>
                  <a:srgbClr val="E9E4D8"/>
                </a:solidFill>
                <a:latin typeface="JetBrains Mono" pitchFamily="49" charset="0"/>
                <a:ea typeface="JetBrains Mono" pitchFamily="49" charset="-122"/>
                <a:cs typeface="JetBrains Mono" pitchFamily="49" charset="-120"/>
              </a:rPr>
              <a:t>(futures)))</a:t>
            </a:r>
            <a:endParaRPr lang="en-US" sz="1300" dirty="0"/>
          </a:p>
        </p:txBody>
      </p:sp>
      <p:sp>
        <p:nvSpPr>
          <p:cNvPr id="5" name="Text 3"/>
          <p:cNvSpPr/>
          <p:nvPr/>
        </p:nvSpPr>
        <p:spPr>
          <a:xfrm>
            <a:off x="6756400" y="1854101"/>
            <a:ext cx="160040"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5530E"/>
                </a:solidFill>
                <a:latin typeface="JetBrains Mono" pitchFamily="49" charset="0"/>
                <a:ea typeface="JetBrains Mono" pitchFamily="49" charset="-122"/>
                <a:cs typeface="JetBrains Mono" pitchFamily="49" charset="-120"/>
              </a:rPr>
              <a:t>1</a:t>
            </a:r>
            <a:endParaRPr lang="en-US" sz="1500" dirty="0"/>
          </a:p>
        </p:txBody>
      </p:sp>
      <p:sp>
        <p:nvSpPr>
          <p:cNvPr id="6" name="Text 4"/>
          <p:cNvSpPr/>
          <p:nvPr/>
        </p:nvSpPr>
        <p:spPr>
          <a:xfrm>
            <a:off x="6992640" y="1854101"/>
            <a:ext cx="4518157"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11B2B"/>
                </a:solidFill>
                <a:latin typeface="IBM Plex Sans" pitchFamily="34" charset="0"/>
                <a:ea typeface="IBM Plex Sans" pitchFamily="34" charset="-122"/>
                <a:cs typeface="IBM Plex Sans" pitchFamily="34" charset="-120"/>
              </a:rPr>
              <a:t>@ray.remote</a:t>
            </a:r>
            <a:r>
              <a:rPr lang="en-US" sz="1500" dirty="0">
                <a:solidFill>
                  <a:srgbClr val="111B2B"/>
                </a:solidFill>
                <a:latin typeface="IBM Plex Sans" pitchFamily="34" charset="0"/>
                <a:ea typeface="IBM Plex Sans" pitchFamily="34" charset="-122"/>
                <a:cs typeface="IBM Plex Sans" pitchFamily="34" charset="-120"/>
              </a:rPr>
              <a:t> marks a function as runnable anywhere.</a:t>
            </a:r>
            <a:endParaRPr lang="en-US" sz="1500" dirty="0"/>
          </a:p>
        </p:txBody>
      </p:sp>
      <p:sp>
        <p:nvSpPr>
          <p:cNvPr id="7" name="Text 5"/>
          <p:cNvSpPr/>
          <p:nvPr/>
        </p:nvSpPr>
        <p:spPr>
          <a:xfrm>
            <a:off x="6756400" y="2565301"/>
            <a:ext cx="132755"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5530E"/>
                </a:solidFill>
                <a:latin typeface="JetBrains Mono" pitchFamily="49" charset="0"/>
                <a:ea typeface="JetBrains Mono" pitchFamily="49" charset="-122"/>
                <a:cs typeface="JetBrains Mono" pitchFamily="49" charset="-120"/>
              </a:rPr>
              <a:t>2</a:t>
            </a:r>
            <a:endParaRPr lang="en-US" sz="1500" dirty="0"/>
          </a:p>
        </p:txBody>
      </p:sp>
      <p:sp>
        <p:nvSpPr>
          <p:cNvPr id="8" name="Text 6"/>
          <p:cNvSpPr/>
          <p:nvPr/>
        </p:nvSpPr>
        <p:spPr>
          <a:xfrm>
            <a:off x="6965355" y="2565301"/>
            <a:ext cx="4546261"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11B2B"/>
                </a:solidFill>
                <a:latin typeface="IBM Plex Sans" pitchFamily="34" charset="0"/>
                <a:ea typeface="IBM Plex Sans" pitchFamily="34" charset="-122"/>
                <a:cs typeface="IBM Plex Sans" pitchFamily="34" charset="-120"/>
              </a:rPr>
              <a:t>.remote()</a:t>
            </a:r>
            <a:r>
              <a:rPr lang="en-US" sz="1500" dirty="0">
                <a:solidFill>
                  <a:srgbClr val="111B2B"/>
                </a:solidFill>
                <a:latin typeface="IBM Plex Sans" pitchFamily="34" charset="0"/>
                <a:ea typeface="IBM Plex Sans" pitchFamily="34" charset="-122"/>
                <a:cs typeface="IBM Plex Sans" pitchFamily="34" charset="-120"/>
              </a:rPr>
              <a:t> returns a future at once; 100 calls spread over every free CPU.</a:t>
            </a:r>
            <a:endParaRPr lang="en-US" sz="1500" dirty="0"/>
          </a:p>
        </p:txBody>
      </p:sp>
      <p:sp>
        <p:nvSpPr>
          <p:cNvPr id="9" name="Text 7"/>
          <p:cNvSpPr/>
          <p:nvPr/>
        </p:nvSpPr>
        <p:spPr>
          <a:xfrm>
            <a:off x="6756400" y="3276501"/>
            <a:ext cx="1651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5530E"/>
                </a:solidFill>
                <a:latin typeface="JetBrains Mono" pitchFamily="49" charset="0"/>
                <a:ea typeface="JetBrains Mono" pitchFamily="49" charset="-122"/>
                <a:cs typeface="JetBrains Mono" pitchFamily="49" charset="-120"/>
              </a:rPr>
              <a:t>3</a:t>
            </a:r>
            <a:endParaRPr lang="en-US" sz="1500" dirty="0"/>
          </a:p>
        </p:txBody>
      </p:sp>
      <p:sp>
        <p:nvSpPr>
          <p:cNvPr id="10" name="Text 8"/>
          <p:cNvSpPr/>
          <p:nvPr/>
        </p:nvSpPr>
        <p:spPr>
          <a:xfrm>
            <a:off x="6997700" y="3276501"/>
            <a:ext cx="398942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11B2B"/>
                </a:solidFill>
                <a:latin typeface="IBM Plex Sans" pitchFamily="34" charset="0"/>
                <a:ea typeface="IBM Plex Sans" pitchFamily="34" charset="-122"/>
                <a:cs typeface="IBM Plex Sans" pitchFamily="34" charset="-120"/>
              </a:rPr>
              <a:t>ray.get()</a:t>
            </a:r>
            <a:r>
              <a:rPr lang="en-US" sz="1500" dirty="0">
                <a:solidFill>
                  <a:srgbClr val="111B2B"/>
                </a:solidFill>
                <a:latin typeface="IBM Plex Sans" pitchFamily="34" charset="0"/>
                <a:ea typeface="IBM Plex Sans" pitchFamily="34" charset="-122"/>
                <a:cs typeface="IBM Plex Sans" pitchFamily="34" charset="-120"/>
              </a:rPr>
              <a:t> waits and collects the results.</a:t>
            </a:r>
            <a:endParaRPr lang="en-US" sz="1500" dirty="0"/>
          </a:p>
        </p:txBody>
      </p:sp>
      <p:sp>
        <p:nvSpPr>
          <p:cNvPr id="11" name="Shape 9"/>
          <p:cNvSpPr/>
          <p:nvPr/>
        </p:nvSpPr>
        <p:spPr>
          <a:xfrm>
            <a:off x="6756400" y="3721001"/>
            <a:ext cx="4622800" cy="1046361"/>
          </a:xfrm>
          <a:prstGeom prst="roundRect">
            <a:avLst>
              <a:gd name="adj" fmla="val 9710"/>
            </a:avLst>
          </a:prstGeom>
          <a:solidFill>
            <a:srgbClr val="F6E6D9"/>
          </a:solidFill>
          <a:ln/>
        </p:spPr>
      </p:sp>
      <p:sp>
        <p:nvSpPr>
          <p:cNvPr id="12" name="Text 10"/>
          <p:cNvSpPr/>
          <p:nvPr/>
        </p:nvSpPr>
        <p:spPr>
          <a:xfrm>
            <a:off x="6934200" y="3873401"/>
            <a:ext cx="439521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5530E"/>
                </a:solidFill>
                <a:latin typeface="IBM Plex Sans" pitchFamily="34" charset="0"/>
                <a:ea typeface="IBM Plex Sans" pitchFamily="34" charset="-122"/>
                <a:cs typeface="IBM Plex Sans" pitchFamily="34" charset="-120"/>
              </a:rPr>
              <a:t>Ray Tune uses the same machinery</a:t>
            </a:r>
            <a:endParaRPr lang="en-US" sz="1200" dirty="0"/>
          </a:p>
        </p:txBody>
      </p:sp>
      <p:sp>
        <p:nvSpPr>
          <p:cNvPr id="13" name="Text 11"/>
          <p:cNvSpPr/>
          <p:nvPr/>
        </p:nvSpPr>
        <p:spPr>
          <a:xfrm>
            <a:off x="6934200" y="4137521"/>
            <a:ext cx="43952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11B2B"/>
                </a:solidFill>
                <a:latin typeface="JetBrains Mono" pitchFamily="49" charset="0"/>
                <a:ea typeface="JetBrains Mono" pitchFamily="49" charset="-122"/>
                <a:cs typeface="JetBrains Mono" pitchFamily="49" charset="-120"/>
              </a:rPr>
              <a:t>tune.run(train_mnist, num_samples=12)</a:t>
            </a:r>
            <a:endParaRPr lang="en-US" sz="1200" dirty="0"/>
          </a:p>
        </p:txBody>
      </p:sp>
      <p:sp>
        <p:nvSpPr>
          <p:cNvPr id="14" name="Text 12"/>
          <p:cNvSpPr/>
          <p:nvPr/>
        </p:nvSpPr>
        <p:spPr>
          <a:xfrm>
            <a:off x="6934200" y="4401641"/>
            <a:ext cx="43952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Each trial becomes a Ray actor on a free CPU.</a:t>
            </a:r>
            <a:endParaRPr lang="en-US" sz="12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Slurm + Ray for AI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30E"/>
                </a:solidFill>
                <a:latin typeface="JetBrains Mono" pitchFamily="49" charset="0"/>
                <a:ea typeface="JetBrains Mono" pitchFamily="49" charset="-122"/>
                <a:cs typeface="JetBrains Mono" pitchFamily="49" charset="-120"/>
              </a:rPr>
              <a:t>03 · RAY</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11B2B"/>
                </a:solidFill>
                <a:latin typeface="IBM Plex Sans" pitchFamily="34" charset="0"/>
                <a:ea typeface="IBM Plex Sans" pitchFamily="34" charset="-122"/>
                <a:cs typeface="IBM Plex Sans" pitchFamily="34" charset="-120"/>
              </a:rPr>
              <a:t>Ray commands to know</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66801"/>
          <a:ext cx="10553700" cy="3233440"/>
        </p:xfrm>
        <a:graphic>
          <a:graphicData uri="http://schemas.openxmlformats.org/drawingml/2006/table">
            <a:tbl>
              <a:tblPr/>
              <a:tblGrid>
                <a:gridCol w="4010406"/>
                <a:gridCol w="4010406"/>
                <a:gridCol w="2532888"/>
              </a:tblGrid>
              <a:tr h="359271">
                <a:tc>
                  <a:txBody>
                    <a:bodyPr/>
                    <a:lstStyle/>
                    <a:p>
                      <a:pPr indent="0" marL="0">
                        <a:lnSpc>
                          <a:spcPts val="1820"/>
                        </a:lnSpc>
                        <a:buNone/>
                      </a:pPr>
                      <a:r>
                        <a:rPr lang="en-US" sz="1300" b="1" dirty="0">
                          <a:solidFill>
                            <a:srgbClr val="111B2B"/>
                          </a:solidFill>
                          <a:latin typeface="IBM Plex Sans" pitchFamily="34" charset="0"/>
                          <a:ea typeface="IBM Plex Sans" pitchFamily="34" charset="-122"/>
                          <a:cs typeface="IBM Plex Sans" pitchFamily="34" charset="-120"/>
                        </a:rPr>
                        <a:t>Command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B8AD"/>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B8AD"/>
                      </a:solidFill>
                      <a:prstDash val="solid"/>
                      <a:round/>
                      <a:headEnd type="none" w="med" len="med"/>
                      <a:tailEnd type="none" w="med" len="med"/>
                    </a:lnB>
                    <a:solidFill>
                      <a:srgbClr val="F6E6D9"/>
                    </a:solidFill>
                  </a:tcPr>
                </a:tc>
                <a:tc>
                  <a:txBody>
                    <a:bodyPr/>
                    <a:lstStyle/>
                    <a:p>
                      <a:pPr indent="0" marL="0">
                        <a:lnSpc>
                          <a:spcPts val="1820"/>
                        </a:lnSpc>
                        <a:buNone/>
                      </a:pPr>
                      <a:r>
                        <a:rPr lang="en-US" sz="1300" b="1" dirty="0">
                          <a:solidFill>
                            <a:srgbClr val="111B2B"/>
                          </a:solidFill>
                          <a:latin typeface="IBM Plex Sans" pitchFamily="34" charset="0"/>
                          <a:ea typeface="IBM Plex Sans" pitchFamily="34" charset="-122"/>
                          <a:cs typeface="IBM Plex Sans" pitchFamily="34" charset="-120"/>
                        </a:rPr>
                        <a:t>What it does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B8AD"/>
                      </a:solidFill>
                      <a:prstDash val="solid"/>
                      <a:round/>
                      <a:headEnd type="none" w="med" len="med"/>
                      <a:tailEnd type="none" w="med" len="med"/>
                    </a:lnL>
                    <a:lnR w="12700" cap="flat" cmpd="sng" algn="ctr">
                      <a:solidFill>
                        <a:srgbClr val="C4B8AD"/>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B8AD"/>
                      </a:solidFill>
                      <a:prstDash val="solid"/>
                      <a:round/>
                      <a:headEnd type="none" w="med" len="med"/>
                      <a:tailEnd type="none" w="med" len="med"/>
                    </a:lnB>
                    <a:solidFill>
                      <a:srgbClr val="F6E6D9"/>
                    </a:solidFill>
                  </a:tcPr>
                </a:tc>
                <a:tc>
                  <a:txBody>
                    <a:bodyPr/>
                    <a:lstStyle/>
                    <a:p>
                      <a:pPr indent="0" marL="0">
                        <a:lnSpc>
                          <a:spcPts val="1820"/>
                        </a:lnSpc>
                        <a:buNone/>
                      </a:pPr>
                      <a:r>
                        <a:rPr lang="en-US" sz="1300" b="1" dirty="0">
                          <a:solidFill>
                            <a:srgbClr val="111B2B"/>
                          </a:solidFill>
                          <a:latin typeface="IBM Plex Sans" pitchFamily="34" charset="0"/>
                          <a:ea typeface="IBM Plex Sans" pitchFamily="34" charset="-122"/>
                          <a:cs typeface="IBM Plex Sans" pitchFamily="34" charset="-120"/>
                        </a:rPr>
                        <a:t>In our demo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B8AD"/>
                      </a:solidFill>
                      <a:prstDash val="solid"/>
                      <a:round/>
                      <a:headEnd type="none" w="med" len="med"/>
                      <a:tailEnd type="none" w="med" len="med"/>
                    </a:lnL>
                    <a:lnR w="12700" cap="flat" cmpd="sng" algn="ctr">
                      <a:solidFill>
                        <a:srgbClr val="C4B8AD"/>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B8AD"/>
                      </a:solidFill>
                      <a:prstDash val="solid"/>
                      <a:round/>
                      <a:headEnd type="none" w="med" len="med"/>
                      <a:tailEnd type="none" w="med" len="med"/>
                    </a:lnB>
                    <a:solidFill>
                      <a:srgbClr val="F6E6D9"/>
                    </a:solidFill>
                  </a:tcPr>
                </a:tc>
              </a:tr>
              <a:tr h="359271">
                <a:tc>
                  <a:txBody>
                    <a:bodyPr/>
                    <a:lstStyle/>
                    <a:p>
                      <a:pPr indent="0" marL="0">
                        <a:lnSpc>
                          <a:spcPts val="1820"/>
                        </a:lnSpc>
                        <a:buNone/>
                      </a:pPr>
                      <a:r>
                        <a:rPr lang="en-US" sz="1300" dirty="0">
                          <a:solidFill>
                            <a:srgbClr val="111B2B"/>
                          </a:solidFill>
                          <a:latin typeface="IBM Plex Sans" pitchFamily="34" charset="0"/>
                          <a:ea typeface="IBM Plex Sans" pitchFamily="34" charset="-122"/>
                          <a:cs typeface="IBM Plex Sans" pitchFamily="34" charset="-120"/>
                        </a:rPr>
                        <a:t>ray start --head --port=6379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B8AD"/>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11B2B"/>
                          </a:solidFill>
                          <a:latin typeface="IBM Plex Sans" pitchFamily="34" charset="0"/>
                          <a:ea typeface="IBM Plex Sans" pitchFamily="34" charset="-122"/>
                          <a:cs typeface="IBM Plex Sans" pitchFamily="34" charset="-120"/>
                        </a:rPr>
                        <a:t>Make this machine the head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B8AD"/>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11B2B"/>
                          </a:solidFill>
                          <a:latin typeface="IBM Plex Sans" pitchFamily="34" charset="0"/>
                          <a:ea typeface="IBM Plex Sans" pitchFamily="34" charset="-122"/>
                          <a:cs typeface="IBM Plex Sans" pitchFamily="34" charset="-120"/>
                        </a:rPr>
                        <a:t>On worker1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B8AD"/>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9271">
                <a:tc>
                  <a:txBody>
                    <a:bodyPr/>
                    <a:lstStyle/>
                    <a:p>
                      <a:pPr indent="0" marL="0">
                        <a:lnSpc>
                          <a:spcPts val="1820"/>
                        </a:lnSpc>
                        <a:buNone/>
                      </a:pPr>
                      <a:r>
                        <a:rPr lang="en-US" sz="1300" dirty="0">
                          <a:solidFill>
                            <a:srgbClr val="111B2B"/>
                          </a:solidFill>
                          <a:latin typeface="IBM Plex Sans" pitchFamily="34" charset="0"/>
                          <a:ea typeface="IBM Plex Sans" pitchFamily="34" charset="-122"/>
                          <a:cs typeface="IBM Plex Sans" pitchFamily="34" charset="-120"/>
                        </a:rPr>
                        <a:t>ray start --address=IP:6379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820"/>
                        </a:lnSpc>
                        <a:buNone/>
                      </a:pPr>
                      <a:r>
                        <a:rPr lang="en-US" sz="1300" dirty="0">
                          <a:solidFill>
                            <a:srgbClr val="111B2B"/>
                          </a:solidFill>
                          <a:latin typeface="IBM Plex Sans" pitchFamily="34" charset="0"/>
                          <a:ea typeface="IBM Plex Sans" pitchFamily="34" charset="-122"/>
                          <a:cs typeface="IBM Plex Sans" pitchFamily="34" charset="-120"/>
                        </a:rPr>
                        <a:t>Join an existing cluster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820"/>
                        </a:lnSpc>
                        <a:buNone/>
                      </a:pPr>
                      <a:r>
                        <a:rPr lang="en-US" sz="1300" dirty="0">
                          <a:solidFill>
                            <a:srgbClr val="111B2B"/>
                          </a:solidFill>
                          <a:latin typeface="IBM Plex Sans" pitchFamily="34" charset="0"/>
                          <a:ea typeface="IBM Plex Sans" pitchFamily="34" charset="-122"/>
                          <a:cs typeface="IBM Plex Sans" pitchFamily="34" charset="-120"/>
                        </a:rPr>
                        <a:t>On worker2, via srun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59271">
                <a:tc>
                  <a:txBody>
                    <a:bodyPr/>
                    <a:lstStyle/>
                    <a:p>
                      <a:pPr indent="0" marL="0">
                        <a:lnSpc>
                          <a:spcPts val="1820"/>
                        </a:lnSpc>
                        <a:buNone/>
                      </a:pPr>
                      <a:r>
                        <a:rPr lang="en-US" sz="1300" dirty="0">
                          <a:solidFill>
                            <a:srgbClr val="111B2B"/>
                          </a:solidFill>
                          <a:latin typeface="IBM Plex Sans" pitchFamily="34" charset="0"/>
                          <a:ea typeface="IBM Plex Sans" pitchFamily="34" charset="-122"/>
                          <a:cs typeface="IBM Plex Sans" pitchFamily="34" charset="-120"/>
                        </a:rPr>
                        <a:t>--num-cpus=2 / --num-gpus=N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11B2B"/>
                          </a:solidFill>
                          <a:latin typeface="IBM Plex Sans" pitchFamily="34" charset="0"/>
                          <a:ea typeface="IBM Plex Sans" pitchFamily="34" charset="-122"/>
                          <a:cs typeface="IBM Plex Sans" pitchFamily="34" charset="-120"/>
                        </a:rPr>
                        <a:t>Tell Ray what this node offers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11B2B"/>
                          </a:solidFill>
                          <a:latin typeface="IBM Plex Sans" pitchFamily="34" charset="0"/>
                          <a:ea typeface="IBM Plex Sans" pitchFamily="34" charset="-122"/>
                          <a:cs typeface="IBM Plex Sans" pitchFamily="34" charset="-120"/>
                        </a:rPr>
                        <a:t>--num-cpus=2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9271">
                <a:tc>
                  <a:txBody>
                    <a:bodyPr/>
                    <a:lstStyle/>
                    <a:p>
                      <a:pPr indent="0" marL="0">
                        <a:lnSpc>
                          <a:spcPts val="1820"/>
                        </a:lnSpc>
                        <a:buNone/>
                      </a:pPr>
                      <a:r>
                        <a:rPr lang="en-US" sz="1300" dirty="0">
                          <a:solidFill>
                            <a:srgbClr val="111B2B"/>
                          </a:solidFill>
                          <a:latin typeface="IBM Plex Sans" pitchFamily="34" charset="0"/>
                          <a:ea typeface="IBM Plex Sans" pitchFamily="34" charset="-122"/>
                          <a:cs typeface="IBM Plex Sans" pitchFamily="34" charset="-120"/>
                        </a:rPr>
                        <a:t>ray status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820"/>
                        </a:lnSpc>
                        <a:buNone/>
                      </a:pPr>
                      <a:r>
                        <a:rPr lang="en-US" sz="1300" dirty="0">
                          <a:solidFill>
                            <a:srgbClr val="111B2B"/>
                          </a:solidFill>
                          <a:latin typeface="IBM Plex Sans" pitchFamily="34" charset="0"/>
                          <a:ea typeface="IBM Plex Sans" pitchFamily="34" charset="-122"/>
                          <a:cs typeface="IBM Plex Sans" pitchFamily="34" charset="-120"/>
                        </a:rPr>
                        <a:t>List nodes and free resources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820"/>
                        </a:lnSpc>
                        <a:buNone/>
                      </a:pPr>
                      <a:r>
                        <a:rPr lang="en-US" sz="1300" dirty="0">
                          <a:solidFill>
                            <a:srgbClr val="111B2B"/>
                          </a:solidFill>
                          <a:latin typeface="IBM Plex Sans" pitchFamily="34" charset="0"/>
                          <a:ea typeface="IBM Plex Sans" pitchFamily="34" charset="-122"/>
                          <a:cs typeface="IBM Plex Sans" pitchFamily="34" charset="-120"/>
                        </a:rPr>
                        <a:t>Checks 4 CPUs joined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59271">
                <a:tc>
                  <a:txBody>
                    <a:bodyPr/>
                    <a:lstStyle/>
                    <a:p>
                      <a:pPr indent="0" marL="0">
                        <a:lnSpc>
                          <a:spcPts val="1820"/>
                        </a:lnSpc>
                        <a:buNone/>
                      </a:pPr>
                      <a:r>
                        <a:rPr lang="en-US" sz="1300" dirty="0">
                          <a:solidFill>
                            <a:srgbClr val="111B2B"/>
                          </a:solidFill>
                          <a:latin typeface="IBM Plex Sans" pitchFamily="34" charset="0"/>
                          <a:ea typeface="IBM Plex Sans" pitchFamily="34" charset="-122"/>
                          <a:cs typeface="IBM Plex Sans" pitchFamily="34" charset="-120"/>
                        </a:rPr>
                        <a:t>ray stop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11B2B"/>
                          </a:solidFill>
                          <a:latin typeface="IBM Plex Sans" pitchFamily="34" charset="0"/>
                          <a:ea typeface="IBM Plex Sans" pitchFamily="34" charset="-122"/>
                          <a:cs typeface="IBM Plex Sans" pitchFamily="34" charset="-120"/>
                        </a:rPr>
                        <a:t>Shut Ray down on this node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11B2B"/>
                          </a:solidFill>
                          <a:latin typeface="IBM Plex Sans" pitchFamily="34" charset="0"/>
                          <a:ea typeface="IBM Plex Sans" pitchFamily="34" charset="-122"/>
                          <a:cs typeface="IBM Plex Sans" pitchFamily="34" charset="-120"/>
                        </a:rPr>
                        <a:t>Last line of the job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9271">
                <a:tc>
                  <a:txBody>
                    <a:bodyPr/>
                    <a:lstStyle/>
                    <a:p>
                      <a:pPr indent="0" marL="0">
                        <a:lnSpc>
                          <a:spcPts val="1820"/>
                        </a:lnSpc>
                        <a:buNone/>
                      </a:pPr>
                      <a:r>
                        <a:rPr lang="en-US" sz="1300" dirty="0">
                          <a:solidFill>
                            <a:srgbClr val="111B2B"/>
                          </a:solidFill>
                          <a:latin typeface="IBM Plex Sans" pitchFamily="34" charset="0"/>
                          <a:ea typeface="IBM Plex Sans" pitchFamily="34" charset="-122"/>
                          <a:cs typeface="IBM Plex Sans" pitchFamily="34" charset="-120"/>
                        </a:rPr>
                        <a:t>ray.init(address="auto")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820"/>
                        </a:lnSpc>
                        <a:buNone/>
                      </a:pPr>
                      <a:r>
                        <a:rPr lang="en-US" sz="1300" dirty="0">
                          <a:solidFill>
                            <a:srgbClr val="111B2B"/>
                          </a:solidFill>
                          <a:latin typeface="IBM Plex Sans" pitchFamily="34" charset="0"/>
                          <a:ea typeface="IBM Plex Sans" pitchFamily="34" charset="-122"/>
                          <a:cs typeface="IBM Plex Sans" pitchFamily="34" charset="-120"/>
                        </a:rPr>
                        <a:t>Python: connect to the cluster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820"/>
                        </a:lnSpc>
                        <a:buNone/>
                      </a:pPr>
                      <a:r>
                        <a:rPr lang="en-US" sz="1300" dirty="0">
                          <a:solidFill>
                            <a:srgbClr val="111B2B"/>
                          </a:solidFill>
                          <a:latin typeface="IBM Plex Sans" pitchFamily="34" charset="0"/>
                          <a:ea typeface="IBM Plex Sans" pitchFamily="34" charset="-122"/>
                          <a:cs typeface="IBM Plex Sans" pitchFamily="34" charset="-120"/>
                        </a:rPr>
                        <a:t>In tune_mnist.py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59271">
                <a:tc>
                  <a:txBody>
                    <a:bodyPr/>
                    <a:lstStyle/>
                    <a:p>
                      <a:pPr indent="0" marL="0">
                        <a:lnSpc>
                          <a:spcPts val="1820"/>
                        </a:lnSpc>
                        <a:buNone/>
                      </a:pPr>
                      <a:r>
                        <a:rPr lang="en-US" sz="1300" dirty="0">
                          <a:solidFill>
                            <a:srgbClr val="111B2B"/>
                          </a:solidFill>
                          <a:latin typeface="IBM Plex Sans" pitchFamily="34" charset="0"/>
                          <a:ea typeface="IBM Plex Sans" pitchFamily="34" charset="-122"/>
                          <a:cs typeface="IBM Plex Sans" pitchFamily="34" charset="-120"/>
                        </a:rPr>
                        <a:t>ray job submit -- python x.py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11B2B"/>
                          </a:solidFill>
                          <a:latin typeface="IBM Plex Sans" pitchFamily="34" charset="0"/>
                          <a:ea typeface="IBM Plex Sans" pitchFamily="34" charset="-122"/>
                          <a:cs typeface="IBM Plex Sans" pitchFamily="34" charset="-120"/>
                        </a:rPr>
                        <a:t>Send a script to a cluster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11B2B"/>
                          </a:solidFill>
                          <a:latin typeface="IBM Plex Sans" pitchFamily="34" charset="0"/>
                          <a:ea typeface="IBM Plex Sans" pitchFamily="34" charset="-122"/>
                          <a:cs typeface="IBM Plex Sans" pitchFamily="34" charset="-120"/>
                        </a:rPr>
                        <a:t>Not used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9271">
                <a:tc>
                  <a:txBody>
                    <a:bodyPr/>
                    <a:lstStyle/>
                    <a:p>
                      <a:pPr indent="0" marL="0">
                        <a:lnSpc>
                          <a:spcPts val="1820"/>
                        </a:lnSpc>
                        <a:buNone/>
                      </a:pPr>
                      <a:r>
                        <a:rPr lang="en-US" sz="1300" dirty="0">
                          <a:solidFill>
                            <a:srgbClr val="111B2B"/>
                          </a:solidFill>
                          <a:latin typeface="IBM Plex Sans" pitchFamily="34" charset="0"/>
                          <a:ea typeface="IBM Plex Sans" pitchFamily="34" charset="-122"/>
                          <a:cs typeface="IBM Plex Sans" pitchFamily="34" charset="-120"/>
                        </a:rPr>
                        <a:t>http://HEAD:8265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820"/>
                        </a:lnSpc>
                        <a:buNone/>
                      </a:pPr>
                      <a:r>
                        <a:rPr lang="en-US" sz="1300" dirty="0">
                          <a:solidFill>
                            <a:srgbClr val="111B2B"/>
                          </a:solidFill>
                          <a:latin typeface="IBM Plex Sans" pitchFamily="34" charset="0"/>
                          <a:ea typeface="IBM Plex Sans" pitchFamily="34" charset="-122"/>
                          <a:cs typeface="IBM Plex Sans" pitchFamily="34" charset="-120"/>
                        </a:rPr>
                        <a:t>Dashboard: tasks, logs, usage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820"/>
                        </a:lnSpc>
                        <a:buNone/>
                      </a:pPr>
                      <a:r>
                        <a:rPr lang="en-US" sz="1300" dirty="0">
                          <a:solidFill>
                            <a:srgbClr val="111B2B"/>
                          </a:solidFill>
                          <a:latin typeface="IBM Plex Sans" pitchFamily="34" charset="0"/>
                          <a:ea typeface="IBM Plex Sans" pitchFamily="34" charset="-122"/>
                          <a:cs typeface="IBM Plex Sans" pitchFamily="34" charset="-120"/>
                        </a:rPr>
                        <a:t>Not exposed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Slurm + Ray for AI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1B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C4D6"/>
                </a:solidFill>
                <a:latin typeface="JetBrains Mono" pitchFamily="49" charset="0"/>
                <a:ea typeface="JetBrains Mono" pitchFamily="49" charset="-122"/>
                <a:cs typeface="JetBrains Mono" pitchFamily="49" charset="-120"/>
              </a:rPr>
              <a:t>04 · BETTER TOGETHER</a:t>
            </a:r>
            <a:endParaRPr lang="en-US" sz="1200" dirty="0"/>
          </a:p>
        </p:txBody>
      </p:sp>
      <p:sp>
        <p:nvSpPr>
          <p:cNvPr id="3" name="Text 1"/>
          <p:cNvSpPr/>
          <p:nvPr>
            <p:ph type="title"/>
          </p:nvPr>
        </p:nvSpPr>
        <p:spPr>
          <a:xfrm>
            <a:off x="812800" y="1381720"/>
            <a:ext cx="10883392" cy="1366441"/>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8AB8EC"/>
                </a:solidFill>
                <a:latin typeface="IBM Plex Sans" pitchFamily="34" charset="0"/>
                <a:ea typeface="IBM Plex Sans" pitchFamily="34" charset="-122"/>
                <a:cs typeface="IBM Plex Sans" pitchFamily="34" charset="-120"/>
              </a:rPr>
              <a:t>Slurm</a:t>
            </a:r>
            <a:r>
              <a:rPr lang="en-US" sz="4800" b="1" i="0" dirty="0">
                <a:solidFill>
                  <a:srgbClr val="F5F3EE"/>
                </a:solidFill>
                <a:latin typeface="IBM Plex Sans" pitchFamily="34" charset="0"/>
                <a:ea typeface="IBM Plex Sans" pitchFamily="34" charset="-122"/>
                <a:cs typeface="IBM Plex Sans" pitchFamily="34" charset="-120"/>
              </a:rPr>
              <a:t> books the rooms.</a:t>
            </a:r>
            <a:endParaRPr lang="en-US" sz="4800" dirty="0"/>
          </a:p>
          <a:p>
            <a:pPr algn="l" indent="0" marL="0">
              <a:lnSpc>
                <a:spcPts val="5280"/>
              </a:lnSpc>
              <a:buNone/>
            </a:pPr>
            <a:r>
              <a:rPr lang="en-US" sz="4800" b="1" i="0" dirty="0">
                <a:solidFill>
                  <a:srgbClr val="F2A25C"/>
                </a:solidFill>
                <a:latin typeface="IBM Plex Sans" pitchFamily="34" charset="0"/>
                <a:ea typeface="IBM Plex Sans" pitchFamily="34" charset="-122"/>
                <a:cs typeface="IBM Plex Sans" pitchFamily="34" charset="-120"/>
              </a:rPr>
              <a:t>Ray</a:t>
            </a:r>
            <a:r>
              <a:rPr lang="en-US" sz="4800" b="1" i="0" dirty="0">
                <a:solidFill>
                  <a:srgbClr val="F5F3EE"/>
                </a:solidFill>
                <a:latin typeface="IBM Plex Sans" pitchFamily="34" charset="0"/>
                <a:ea typeface="IBM Plex Sans" pitchFamily="34" charset="-122"/>
                <a:cs typeface="IBM Plex Sans" pitchFamily="34" charset="-120"/>
              </a:rPr>
              <a:t> runs the conference.</a:t>
            </a:r>
            <a:endParaRPr lang="en-US" sz="4800" dirty="0"/>
          </a:p>
        </p:txBody>
      </p:sp>
      <p:sp>
        <p:nvSpPr>
          <p:cNvPr id="4" name="Shape 2"/>
          <p:cNvSpPr/>
          <p:nvPr/>
        </p:nvSpPr>
        <p:spPr>
          <a:xfrm>
            <a:off x="812800" y="3091061"/>
            <a:ext cx="5130800" cy="0"/>
          </a:xfrm>
          <a:prstGeom prst="line">
            <a:avLst/>
          </a:prstGeom>
          <a:noFill/>
          <a:ln w="25400">
            <a:solidFill>
              <a:srgbClr val="8AB8EC"/>
            </a:solidFill>
            <a:prstDash val="solid"/>
          </a:ln>
        </p:spPr>
      </p:sp>
      <p:sp>
        <p:nvSpPr>
          <p:cNvPr id="5" name="Text 3"/>
          <p:cNvSpPr/>
          <p:nvPr/>
        </p:nvSpPr>
        <p:spPr>
          <a:xfrm>
            <a:off x="812800" y="3281561"/>
            <a:ext cx="528472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8AB8EC"/>
                </a:solidFill>
                <a:latin typeface="IBM Plex Sans" pitchFamily="34" charset="0"/>
                <a:ea typeface="IBM Plex Sans" pitchFamily="34" charset="-122"/>
                <a:cs typeface="IBM Plex Sans" pitchFamily="34" charset="-120"/>
              </a:rPr>
              <a:t>Slurm decides</a:t>
            </a:r>
            <a:endParaRPr lang="en-US" sz="2000" dirty="0"/>
          </a:p>
        </p:txBody>
      </p:sp>
      <p:sp>
        <p:nvSpPr>
          <p:cNvPr id="6" name="Text 4"/>
          <p:cNvSpPr/>
          <p:nvPr/>
        </p:nvSpPr>
        <p:spPr>
          <a:xfrm>
            <a:off x="812800" y="3687961"/>
            <a:ext cx="5284724"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B8C4D6"/>
                </a:solidFill>
                <a:latin typeface="IBM Plex Sans" pitchFamily="34" charset="0"/>
                <a:ea typeface="IBM Plex Sans" pitchFamily="34" charset="-122"/>
                <a:cs typeface="IBM Plex Sans" pitchFamily="34" charset="-120"/>
              </a:rPr>
              <a:t>Which nodes, how many CPUs and GPUs, for how long, and whose turn it is.</a:t>
            </a:r>
            <a:endParaRPr lang="en-US" sz="1500" dirty="0"/>
          </a:p>
        </p:txBody>
      </p:sp>
      <p:sp>
        <p:nvSpPr>
          <p:cNvPr id="7" name="Shape 5"/>
          <p:cNvSpPr/>
          <p:nvPr/>
        </p:nvSpPr>
        <p:spPr>
          <a:xfrm>
            <a:off x="6248400" y="3091061"/>
            <a:ext cx="5130800" cy="0"/>
          </a:xfrm>
          <a:prstGeom prst="line">
            <a:avLst/>
          </a:prstGeom>
          <a:noFill/>
          <a:ln w="25400">
            <a:solidFill>
              <a:srgbClr val="F2A25C"/>
            </a:solidFill>
            <a:prstDash val="solid"/>
          </a:ln>
        </p:spPr>
      </p:sp>
      <p:sp>
        <p:nvSpPr>
          <p:cNvPr id="8" name="Text 6"/>
          <p:cNvSpPr/>
          <p:nvPr/>
        </p:nvSpPr>
        <p:spPr>
          <a:xfrm>
            <a:off x="6248400" y="3281561"/>
            <a:ext cx="528472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2A25C"/>
                </a:solidFill>
                <a:latin typeface="IBM Plex Sans" pitchFamily="34" charset="0"/>
                <a:ea typeface="IBM Plex Sans" pitchFamily="34" charset="-122"/>
                <a:cs typeface="IBM Plex Sans" pitchFamily="34" charset="-120"/>
              </a:rPr>
              <a:t>Ray decides</a:t>
            </a:r>
            <a:endParaRPr lang="en-US" sz="2000" dirty="0"/>
          </a:p>
        </p:txBody>
      </p:sp>
      <p:sp>
        <p:nvSpPr>
          <p:cNvPr id="9" name="Text 7"/>
          <p:cNvSpPr/>
          <p:nvPr/>
        </p:nvSpPr>
        <p:spPr>
          <a:xfrm>
            <a:off x="6248400" y="3687961"/>
            <a:ext cx="5284724"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B8C4D6"/>
                </a:solidFill>
                <a:latin typeface="IBM Plex Sans" pitchFamily="34" charset="0"/>
                <a:ea typeface="IBM Plex Sans" pitchFamily="34" charset="-122"/>
                <a:cs typeface="IBM Plex Sans" pitchFamily="34" charset="-120"/>
              </a:rPr>
              <a:t>Which trial runs on which CPU, moving data between nodes, retries, stopping bad trials.</a:t>
            </a:r>
            <a:endParaRPr lang="en-US" sz="1500" dirty="0"/>
          </a:p>
        </p:txBody>
      </p:sp>
      <p:sp>
        <p:nvSpPr>
          <p:cNvPr id="10" name="Text 8"/>
          <p:cNvSpPr/>
          <p:nvPr/>
        </p:nvSpPr>
        <p:spPr>
          <a:xfrm>
            <a:off x="812800" y="4615061"/>
            <a:ext cx="10566400" cy="838200"/>
          </a:xfrm>
          <a:prstGeom prst="roundRect">
            <a:avLst>
              <a:gd name="adj" fmla="val 12121"/>
            </a:avLst>
          </a:prstGeom>
          <a:solidFill>
            <a:srgbClr val="1E2C42"/>
          </a:solidFill>
          <a:ln/>
        </p:spPr>
        <p:txBody>
          <a:bodyPr wrap="square" lIns="173442" tIns="122642" rIns="0" bIns="97242" rtlCol="0" anchor="t">
            <a:normAutofit/>
          </a:bodyPr>
          <a:lstStyle/>
          <a:p>
            <a:pPr algn="l" indent="0" marL="0">
              <a:lnSpc>
                <a:spcPts val="2100"/>
              </a:lnSpc>
              <a:buNone/>
            </a:pPr>
            <a:r>
              <a:rPr lang="en-US" sz="1500" dirty="0">
                <a:solidFill>
                  <a:srgbClr val="F5F3EE"/>
                </a:solidFill>
                <a:latin typeface="IBM Plex Sans" pitchFamily="34" charset="0"/>
                <a:ea typeface="IBM Plex Sans" pitchFamily="34" charset="-122"/>
                <a:cs typeface="IBM Plex Sans" pitchFamily="34" charset="-120"/>
              </a:rPr>
              <a:t>The pattern: </a:t>
            </a:r>
            <a:r>
              <a:rPr lang="en-US" sz="1500" b="1" dirty="0">
                <a:solidFill>
                  <a:srgbClr val="F5F3EE"/>
                </a:solidFill>
                <a:latin typeface="IBM Plex Sans" pitchFamily="34" charset="0"/>
                <a:ea typeface="IBM Plex Sans" pitchFamily="34" charset="-122"/>
                <a:cs typeface="IBM Plex Sans" pitchFamily="34" charset="-120"/>
              </a:rPr>
              <a:t>one Slurm job = one temporary Ray cluster</a:t>
            </a:r>
            <a:r>
              <a:rPr lang="en-US" sz="1500" dirty="0">
                <a:solidFill>
                  <a:srgbClr val="F5F3EE"/>
                </a:solidFill>
                <a:latin typeface="IBM Plex Sans" pitchFamily="34" charset="0"/>
                <a:ea typeface="IBM Plex Sans" pitchFamily="34" charset="-122"/>
                <a:cs typeface="IBM Plex Sans" pitchFamily="34" charset="-120"/>
              </a:rPr>
              <a:t>, built on the nodes Slurm gave us and gone when the job ends.</a:t>
            </a:r>
            <a:endParaRPr lang="en-US" sz="15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E9AAF"/>
                </a:solidFill>
                <a:latin typeface="IBM Plex Sans" pitchFamily="34" charset="0"/>
                <a:ea typeface="IBM Plex Sans" pitchFamily="34" charset="-122"/>
                <a:cs typeface="IBM Plex Sans" pitchFamily="34" charset="-120"/>
              </a:rPr>
              <a:t>Slurm + Ray for AI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A5568"/>
                </a:solidFill>
                <a:latin typeface="JetBrains Mono" pitchFamily="49" charset="0"/>
                <a:ea typeface="JetBrains Mono" pitchFamily="49" charset="-122"/>
                <a:cs typeface="JetBrains Mono" pitchFamily="49" charset="-120"/>
              </a:rPr>
              <a:t>04 · OUR DEMO</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11B2B"/>
                </a:solidFill>
                <a:latin typeface="IBM Plex Sans" pitchFamily="34" charset="0"/>
                <a:ea typeface="IBM Plex Sans" pitchFamily="34" charset="-122"/>
                <a:cs typeface="IBM Plex Sans" pitchFamily="34" charset="-120"/>
              </a:rPr>
              <a:t>A 3-node cluster on one laptop</a:t>
            </a:r>
            <a:endParaRPr lang="en-US" sz="3200" dirty="0"/>
          </a:p>
        </p:txBody>
      </p:sp>
      <p:sp>
        <p:nvSpPr>
          <p:cNvPr id="4" name="Shape 2"/>
          <p:cNvSpPr/>
          <p:nvPr/>
        </p:nvSpPr>
        <p:spPr>
          <a:xfrm>
            <a:off x="819150" y="1860451"/>
            <a:ext cx="10553700" cy="2702322"/>
          </a:xfrm>
          <a:prstGeom prst="roundRect">
            <a:avLst>
              <a:gd name="adj" fmla="val 4465"/>
            </a:avLst>
          </a:prstGeom>
          <a:noFill/>
          <a:ln w="12700">
            <a:solidFill>
              <a:srgbClr val="8E9AAF"/>
            </a:solidFill>
            <a:prstDash val="dash"/>
          </a:ln>
        </p:spPr>
      </p:sp>
      <p:sp>
        <p:nvSpPr>
          <p:cNvPr id="5" name="Text 3"/>
          <p:cNvSpPr/>
          <p:nvPr/>
        </p:nvSpPr>
        <p:spPr>
          <a:xfrm>
            <a:off x="1028700" y="2044601"/>
            <a:ext cx="1043863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JetBrains Mono" pitchFamily="49" charset="0"/>
                <a:ea typeface="JetBrains Mono" pitchFamily="49" charset="-122"/>
                <a:cs typeface="JetBrains Mono" pitchFamily="49" charset="-120"/>
              </a:rPr>
              <a:t>docker-compose.yml · network slurm-net</a:t>
            </a:r>
            <a:endParaRPr lang="en-US" sz="1200" dirty="0"/>
          </a:p>
        </p:txBody>
      </p:sp>
      <p:sp>
        <p:nvSpPr>
          <p:cNvPr id="6" name="Shape 4"/>
          <p:cNvSpPr/>
          <p:nvPr/>
        </p:nvSpPr>
        <p:spPr>
          <a:xfrm>
            <a:off x="1031875" y="2413496"/>
            <a:ext cx="3270250" cy="1342231"/>
          </a:xfrm>
          <a:prstGeom prst="roundRect">
            <a:avLst>
              <a:gd name="adj" fmla="val 7333"/>
            </a:avLst>
          </a:prstGeom>
          <a:solidFill>
            <a:srgbClr val="FCFBF7"/>
          </a:solidFill>
          <a:ln w="6350">
            <a:solidFill>
              <a:srgbClr val="DCD6CA"/>
            </a:solidFill>
            <a:prstDash val="solid"/>
          </a:ln>
        </p:spPr>
      </p:sp>
      <p:sp>
        <p:nvSpPr>
          <p:cNvPr id="7" name="Text 5"/>
          <p:cNvSpPr/>
          <p:nvPr/>
        </p:nvSpPr>
        <p:spPr>
          <a:xfrm>
            <a:off x="1212850" y="2569071"/>
            <a:ext cx="2995549"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11B2B"/>
                </a:solidFill>
                <a:latin typeface="IBM Plex Sans" pitchFamily="34" charset="0"/>
                <a:ea typeface="IBM Plex Sans" pitchFamily="34" charset="-122"/>
                <a:cs typeface="IBM Plex Sans" pitchFamily="34" charset="-120"/>
              </a:rPr>
              <a:t>controller</a:t>
            </a:r>
            <a:endParaRPr lang="en-US" sz="1600" dirty="0"/>
          </a:p>
        </p:txBody>
      </p:sp>
      <p:sp>
        <p:nvSpPr>
          <p:cNvPr id="8" name="Text 6"/>
          <p:cNvSpPr/>
          <p:nvPr/>
        </p:nvSpPr>
        <p:spPr>
          <a:xfrm>
            <a:off x="1212850" y="2896691"/>
            <a:ext cx="29955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munged + </a:t>
            </a:r>
            <a:r>
              <a:rPr lang="en-US" sz="1200" b="1" dirty="0">
                <a:solidFill>
                  <a:srgbClr val="1D5FA8"/>
                </a:solidFill>
                <a:latin typeface="IBM Plex Sans" pitchFamily="34" charset="0"/>
                <a:ea typeface="IBM Plex Sans" pitchFamily="34" charset="-122"/>
                <a:cs typeface="IBM Plex Sans" pitchFamily="34" charset="-120"/>
              </a:rPr>
              <a:t>slurmctld</a:t>
            </a:r>
            <a:endParaRPr lang="en-US" sz="1200" dirty="0"/>
          </a:p>
        </p:txBody>
      </p:sp>
      <p:sp>
        <p:nvSpPr>
          <p:cNvPr id="9" name="Text 7"/>
          <p:cNvSpPr/>
          <p:nvPr/>
        </p:nvSpPr>
        <p:spPr>
          <a:xfrm>
            <a:off x="1212850" y="3173512"/>
            <a:ext cx="299554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Creates the munge key; you run sbatch here</a:t>
            </a:r>
            <a:endParaRPr lang="en-US" sz="1200" dirty="0"/>
          </a:p>
        </p:txBody>
      </p:sp>
      <p:sp>
        <p:nvSpPr>
          <p:cNvPr id="10" name="Shape 8"/>
          <p:cNvSpPr/>
          <p:nvPr/>
        </p:nvSpPr>
        <p:spPr>
          <a:xfrm>
            <a:off x="4460875" y="2413496"/>
            <a:ext cx="3270250" cy="1342231"/>
          </a:xfrm>
          <a:prstGeom prst="roundRect">
            <a:avLst>
              <a:gd name="adj" fmla="val 7333"/>
            </a:avLst>
          </a:prstGeom>
          <a:solidFill>
            <a:srgbClr val="FCFBF7"/>
          </a:solidFill>
          <a:ln w="6350">
            <a:solidFill>
              <a:srgbClr val="DCD6CA"/>
            </a:solidFill>
            <a:prstDash val="solid"/>
          </a:ln>
        </p:spPr>
      </p:sp>
      <p:sp>
        <p:nvSpPr>
          <p:cNvPr id="11" name="Text 9"/>
          <p:cNvSpPr/>
          <p:nvPr/>
        </p:nvSpPr>
        <p:spPr>
          <a:xfrm>
            <a:off x="4641850" y="2569071"/>
            <a:ext cx="2995549"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11B2B"/>
                </a:solidFill>
                <a:latin typeface="IBM Plex Sans" pitchFamily="34" charset="0"/>
                <a:ea typeface="IBM Plex Sans" pitchFamily="34" charset="-122"/>
                <a:cs typeface="IBM Plex Sans" pitchFamily="34" charset="-120"/>
              </a:rPr>
              <a:t>worker1</a:t>
            </a:r>
            <a:endParaRPr lang="en-US" sz="1600" dirty="0"/>
          </a:p>
        </p:txBody>
      </p:sp>
      <p:sp>
        <p:nvSpPr>
          <p:cNvPr id="12" name="Text 10"/>
          <p:cNvSpPr/>
          <p:nvPr/>
        </p:nvSpPr>
        <p:spPr>
          <a:xfrm>
            <a:off x="4641850" y="2896691"/>
            <a:ext cx="29955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munged + </a:t>
            </a:r>
            <a:r>
              <a:rPr lang="en-US" sz="1200" b="1" dirty="0">
                <a:solidFill>
                  <a:srgbClr val="1D5FA8"/>
                </a:solidFill>
                <a:latin typeface="IBM Plex Sans" pitchFamily="34" charset="0"/>
                <a:ea typeface="IBM Plex Sans" pitchFamily="34" charset="-122"/>
                <a:cs typeface="IBM Plex Sans" pitchFamily="34" charset="-120"/>
              </a:rPr>
              <a:t>slurmd</a:t>
            </a:r>
            <a:r>
              <a:rPr lang="en-US" sz="1200" dirty="0">
                <a:solidFill>
                  <a:srgbClr val="4A5568"/>
                </a:solidFill>
                <a:latin typeface="IBM Plex Sans" pitchFamily="34" charset="0"/>
                <a:ea typeface="IBM Plex Sans" pitchFamily="34" charset="-122"/>
                <a:cs typeface="IBM Plex Sans" pitchFamily="34" charset="-120"/>
              </a:rPr>
              <a:t> · 2 CPUs</a:t>
            </a:r>
            <a:endParaRPr lang="en-US" sz="1200" dirty="0"/>
          </a:p>
        </p:txBody>
      </p:sp>
      <p:sp>
        <p:nvSpPr>
          <p:cNvPr id="13" name="Text 11"/>
          <p:cNvSpPr/>
          <p:nvPr/>
        </p:nvSpPr>
        <p:spPr>
          <a:xfrm>
            <a:off x="4641850" y="3173512"/>
            <a:ext cx="299554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5530E"/>
                </a:solidFill>
                <a:latin typeface="IBM Plex Sans" pitchFamily="34" charset="0"/>
                <a:ea typeface="IBM Plex Sans" pitchFamily="34" charset="-122"/>
                <a:cs typeface="IBM Plex Sans" pitchFamily="34" charset="-120"/>
              </a:rPr>
              <a:t>During the job: Ray head</a:t>
            </a:r>
            <a:endParaRPr lang="en-US" sz="1200" dirty="0"/>
          </a:p>
        </p:txBody>
      </p:sp>
      <p:sp>
        <p:nvSpPr>
          <p:cNvPr id="14" name="Shape 12"/>
          <p:cNvSpPr/>
          <p:nvPr/>
        </p:nvSpPr>
        <p:spPr>
          <a:xfrm>
            <a:off x="7889875" y="2413496"/>
            <a:ext cx="3270250" cy="1342231"/>
          </a:xfrm>
          <a:prstGeom prst="roundRect">
            <a:avLst>
              <a:gd name="adj" fmla="val 7333"/>
            </a:avLst>
          </a:prstGeom>
          <a:solidFill>
            <a:srgbClr val="FCFBF7"/>
          </a:solidFill>
          <a:ln w="6350">
            <a:solidFill>
              <a:srgbClr val="DCD6CA"/>
            </a:solidFill>
            <a:prstDash val="solid"/>
          </a:ln>
        </p:spPr>
      </p:sp>
      <p:sp>
        <p:nvSpPr>
          <p:cNvPr id="15" name="Text 13"/>
          <p:cNvSpPr/>
          <p:nvPr/>
        </p:nvSpPr>
        <p:spPr>
          <a:xfrm>
            <a:off x="8070850" y="2569071"/>
            <a:ext cx="2995549"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11B2B"/>
                </a:solidFill>
                <a:latin typeface="IBM Plex Sans" pitchFamily="34" charset="0"/>
                <a:ea typeface="IBM Plex Sans" pitchFamily="34" charset="-122"/>
                <a:cs typeface="IBM Plex Sans" pitchFamily="34" charset="-120"/>
              </a:rPr>
              <a:t>worker2</a:t>
            </a:r>
            <a:endParaRPr lang="en-US" sz="1600" dirty="0"/>
          </a:p>
        </p:txBody>
      </p:sp>
      <p:sp>
        <p:nvSpPr>
          <p:cNvPr id="16" name="Text 14"/>
          <p:cNvSpPr/>
          <p:nvPr/>
        </p:nvSpPr>
        <p:spPr>
          <a:xfrm>
            <a:off x="8070850" y="2896691"/>
            <a:ext cx="29955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munged + </a:t>
            </a:r>
            <a:r>
              <a:rPr lang="en-US" sz="1200" b="1" dirty="0">
                <a:solidFill>
                  <a:srgbClr val="1D5FA8"/>
                </a:solidFill>
                <a:latin typeface="IBM Plex Sans" pitchFamily="34" charset="0"/>
                <a:ea typeface="IBM Plex Sans" pitchFamily="34" charset="-122"/>
                <a:cs typeface="IBM Plex Sans" pitchFamily="34" charset="-120"/>
              </a:rPr>
              <a:t>slurmd</a:t>
            </a:r>
            <a:r>
              <a:rPr lang="en-US" sz="1200" dirty="0">
                <a:solidFill>
                  <a:srgbClr val="4A5568"/>
                </a:solidFill>
                <a:latin typeface="IBM Plex Sans" pitchFamily="34" charset="0"/>
                <a:ea typeface="IBM Plex Sans" pitchFamily="34" charset="-122"/>
                <a:cs typeface="IBM Plex Sans" pitchFamily="34" charset="-120"/>
              </a:rPr>
              <a:t> · 2 CPUs</a:t>
            </a:r>
            <a:endParaRPr lang="en-US" sz="1200" dirty="0"/>
          </a:p>
        </p:txBody>
      </p:sp>
      <p:sp>
        <p:nvSpPr>
          <p:cNvPr id="17" name="Text 15"/>
          <p:cNvSpPr/>
          <p:nvPr/>
        </p:nvSpPr>
        <p:spPr>
          <a:xfrm>
            <a:off x="8070850" y="3173512"/>
            <a:ext cx="299554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5530E"/>
                </a:solidFill>
                <a:latin typeface="IBM Plex Sans" pitchFamily="34" charset="0"/>
                <a:ea typeface="IBM Plex Sans" pitchFamily="34" charset="-122"/>
                <a:cs typeface="IBM Plex Sans" pitchFamily="34" charset="-120"/>
              </a:rPr>
              <a:t>During the job: Ray worker</a:t>
            </a:r>
            <a:endParaRPr lang="en-US" sz="1200" dirty="0"/>
          </a:p>
        </p:txBody>
      </p:sp>
      <p:sp>
        <p:nvSpPr>
          <p:cNvPr id="18" name="Shape 16"/>
          <p:cNvSpPr/>
          <p:nvPr/>
        </p:nvSpPr>
        <p:spPr>
          <a:xfrm>
            <a:off x="1028700" y="3911302"/>
            <a:ext cx="10134600" cy="467320"/>
          </a:xfrm>
          <a:prstGeom prst="roundRect">
            <a:avLst>
              <a:gd name="adj" fmla="val 16306"/>
            </a:avLst>
          </a:prstGeom>
          <a:solidFill>
            <a:srgbClr val="E9E6DE"/>
          </a:solidFill>
          <a:ln/>
        </p:spPr>
      </p:sp>
      <p:sp>
        <p:nvSpPr>
          <p:cNvPr id="19" name="Text 17"/>
          <p:cNvSpPr/>
          <p:nvPr/>
        </p:nvSpPr>
        <p:spPr>
          <a:xfrm>
            <a:off x="1206500" y="4038302"/>
            <a:ext cx="143262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11B2B"/>
                </a:solidFill>
                <a:latin typeface="JetBrains Mono" pitchFamily="49" charset="0"/>
                <a:ea typeface="JetBrains Mono" pitchFamily="49" charset="-122"/>
                <a:cs typeface="JetBrains Mono" pitchFamily="49" charset="-120"/>
              </a:rPr>
              <a:t>/shared volume</a:t>
            </a:r>
            <a:endParaRPr lang="en-US" sz="1200" dirty="0"/>
          </a:p>
        </p:txBody>
      </p:sp>
      <p:sp>
        <p:nvSpPr>
          <p:cNvPr id="20" name="Text 18"/>
          <p:cNvSpPr/>
          <p:nvPr/>
        </p:nvSpPr>
        <p:spPr>
          <a:xfrm>
            <a:off x="2639120" y="4038302"/>
            <a:ext cx="49847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munge.key · logs · MNIST data · ray_results, seen by all three</a:t>
            </a:r>
            <a:endParaRPr lang="en-US" sz="1200" dirty="0"/>
          </a:p>
        </p:txBody>
      </p:sp>
      <p:sp>
        <p:nvSpPr>
          <p:cNvPr id="21" name="Text 19"/>
          <p:cNvSpPr/>
          <p:nvPr/>
        </p:nvSpPr>
        <p:spPr>
          <a:xfrm>
            <a:off x="812800" y="4873923"/>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11B2B"/>
                </a:solidFill>
                <a:latin typeface="IBM Plex Sans" pitchFamily="34" charset="0"/>
                <a:ea typeface="IBM Plex Sans" pitchFamily="34" charset="-122"/>
                <a:cs typeface="IBM Plex Sans" pitchFamily="34" charset="-120"/>
              </a:rPr>
              <a:t>One image for every role:</a:t>
            </a:r>
            <a:r>
              <a:rPr lang="en-US" sz="1500" dirty="0">
                <a:solidFill>
                  <a:srgbClr val="4A5568"/>
                </a:solidFill>
                <a:latin typeface="IBM Plex Sans" pitchFamily="34" charset="0"/>
                <a:ea typeface="IBM Plex Sans" pitchFamily="34" charset="-122"/>
                <a:cs typeface="IBM Plex Sans" pitchFamily="34" charset="-120"/>
              </a:rPr>
              <a:t> Ubuntu 22.04 + Slurm + munge + PyTorch (CPU) + Ray Tune. Only the startup script differs.</a:t>
            </a:r>
            <a:endParaRPr lang="en-US" sz="1500" dirty="0"/>
          </a:p>
        </p:txBody>
      </p:sp>
      <p:sp>
        <p:nvSpPr>
          <p:cNvPr id="22" name="Text 2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Slurm + Ray for AI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A5568"/>
                </a:solidFill>
                <a:latin typeface="JetBrains Mono" pitchFamily="49" charset="0"/>
                <a:ea typeface="JetBrains Mono" pitchFamily="49" charset="-122"/>
                <a:cs typeface="JetBrains Mono" pitchFamily="49" charset="-120"/>
              </a:rPr>
              <a:t>04 · OUR DEMO</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11B2B"/>
                </a:solidFill>
                <a:latin typeface="IBM Plex Sans" pitchFamily="34" charset="0"/>
                <a:ea typeface="IBM Plex Sans" pitchFamily="34" charset="-122"/>
                <a:cs typeface="IBM Plex Sans" pitchFamily="34" charset="-120"/>
              </a:rPr>
              <a:t>Inside submit_ray_job.sh</a:t>
            </a:r>
            <a:endParaRPr lang="en-US" sz="3200" dirty="0"/>
          </a:p>
        </p:txBody>
      </p:sp>
      <p:sp>
        <p:nvSpPr>
          <p:cNvPr id="4" name="Shape 2"/>
          <p:cNvSpPr/>
          <p:nvPr/>
        </p:nvSpPr>
        <p:spPr>
          <a:xfrm>
            <a:off x="815975" y="1857276"/>
            <a:ext cx="5200650" cy="994370"/>
          </a:xfrm>
          <a:prstGeom prst="roundRect">
            <a:avLst>
              <a:gd name="adj" fmla="val 9898"/>
            </a:avLst>
          </a:prstGeom>
          <a:solidFill>
            <a:srgbClr val="FCFBF7"/>
          </a:solidFill>
          <a:ln w="6350">
            <a:solidFill>
              <a:srgbClr val="DCD6CA"/>
            </a:solidFill>
            <a:prstDash val="solid"/>
          </a:ln>
        </p:spPr>
      </p:sp>
      <p:sp>
        <p:nvSpPr>
          <p:cNvPr id="5" name="Text 3"/>
          <p:cNvSpPr/>
          <p:nvPr/>
        </p:nvSpPr>
        <p:spPr>
          <a:xfrm>
            <a:off x="996950" y="2012851"/>
            <a:ext cx="498386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D5FA8"/>
                </a:solidFill>
                <a:latin typeface="IBM Plex Sans" pitchFamily="34" charset="0"/>
                <a:ea typeface="IBM Plex Sans" pitchFamily="34" charset="-122"/>
                <a:cs typeface="IBM Plex Sans" pitchFamily="34" charset="-120"/>
              </a:rPr>
              <a:t>1</a:t>
            </a:r>
            <a:r>
              <a:rPr lang="en-US" sz="1500" b="1" dirty="0">
                <a:solidFill>
                  <a:srgbClr val="111B2B"/>
                </a:solidFill>
                <a:latin typeface="IBM Plex Sans" pitchFamily="34" charset="0"/>
                <a:ea typeface="IBM Plex Sans" pitchFamily="34" charset="-122"/>
                <a:cs typeface="IBM Plex Sans" pitchFamily="34" charset="-120"/>
              </a:rPr>
              <a:t> · Ask Slurm for two nodes</a:t>
            </a:r>
            <a:endParaRPr lang="en-US" sz="1500" dirty="0"/>
          </a:p>
        </p:txBody>
      </p:sp>
      <p:sp>
        <p:nvSpPr>
          <p:cNvPr id="6" name="Text 4"/>
          <p:cNvSpPr/>
          <p:nvPr/>
        </p:nvSpPr>
        <p:spPr>
          <a:xfrm>
            <a:off x="996950" y="2355751"/>
            <a:ext cx="4838700" cy="340320"/>
          </a:xfrm>
          <a:prstGeom prst="roundRect">
            <a:avLst>
              <a:gd name="adj" fmla="val 14927"/>
            </a:avLst>
          </a:prstGeom>
          <a:solidFill>
            <a:srgbClr val="111B2B"/>
          </a:solidFill>
          <a:ln/>
        </p:spPr>
        <p:txBody>
          <a:bodyPr wrap="square" lIns="86721" tIns="48621" rIns="0" bIns="23221" rtlCol="0" anchor="t">
            <a:normAutofit/>
          </a:bodyPr>
          <a:lstStyle/>
          <a:p>
            <a:pPr algn="l" indent="0" marL="0">
              <a:lnSpc>
                <a:spcPts val="1680"/>
              </a:lnSpc>
              <a:buNone/>
            </a:pPr>
            <a:r>
              <a:rPr lang="en-US" sz="1200" dirty="0">
                <a:solidFill>
                  <a:srgbClr val="E9E4D8"/>
                </a:solidFill>
                <a:latin typeface="JetBrains Mono" pitchFamily="49" charset="0"/>
                <a:ea typeface="JetBrains Mono" pitchFamily="49" charset="-122"/>
                <a:cs typeface="JetBrains Mono" pitchFamily="49" charset="-120"/>
              </a:rPr>
              <a:t>#SBATCH --nodes=2 --cpus-per-task=2</a:t>
            </a:r>
            <a:endParaRPr lang="en-US" sz="1200" dirty="0"/>
          </a:p>
        </p:txBody>
      </p:sp>
      <p:sp>
        <p:nvSpPr>
          <p:cNvPr id="7" name="Shape 5"/>
          <p:cNvSpPr/>
          <p:nvPr/>
        </p:nvSpPr>
        <p:spPr>
          <a:xfrm>
            <a:off x="6175375" y="1857276"/>
            <a:ext cx="5200650" cy="994370"/>
          </a:xfrm>
          <a:prstGeom prst="roundRect">
            <a:avLst>
              <a:gd name="adj" fmla="val 9898"/>
            </a:avLst>
          </a:prstGeom>
          <a:solidFill>
            <a:srgbClr val="FCFBF7"/>
          </a:solidFill>
          <a:ln w="6350">
            <a:solidFill>
              <a:srgbClr val="DCD6CA"/>
            </a:solidFill>
            <a:prstDash val="solid"/>
          </a:ln>
        </p:spPr>
      </p:sp>
      <p:sp>
        <p:nvSpPr>
          <p:cNvPr id="8" name="Text 6"/>
          <p:cNvSpPr/>
          <p:nvPr/>
        </p:nvSpPr>
        <p:spPr>
          <a:xfrm>
            <a:off x="6356350" y="2012851"/>
            <a:ext cx="498386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D5FA8"/>
                </a:solidFill>
                <a:latin typeface="IBM Plex Sans" pitchFamily="34" charset="0"/>
                <a:ea typeface="IBM Plex Sans" pitchFamily="34" charset="-122"/>
                <a:cs typeface="IBM Plex Sans" pitchFamily="34" charset="-120"/>
              </a:rPr>
              <a:t>2</a:t>
            </a:r>
            <a:r>
              <a:rPr lang="en-US" sz="1500" b="1" dirty="0">
                <a:solidFill>
                  <a:srgbClr val="111B2B"/>
                </a:solidFill>
                <a:latin typeface="IBM Plex Sans" pitchFamily="34" charset="0"/>
                <a:ea typeface="IBM Plex Sans" pitchFamily="34" charset="-122"/>
                <a:cs typeface="IBM Plex Sans" pitchFamily="34" charset="-120"/>
              </a:rPr>
              <a:t> · Find out which nodes we got</a:t>
            </a:r>
            <a:endParaRPr lang="en-US" sz="1500" dirty="0"/>
          </a:p>
        </p:txBody>
      </p:sp>
      <p:sp>
        <p:nvSpPr>
          <p:cNvPr id="9" name="Text 7"/>
          <p:cNvSpPr/>
          <p:nvPr/>
        </p:nvSpPr>
        <p:spPr>
          <a:xfrm>
            <a:off x="6356350" y="2355751"/>
            <a:ext cx="4838700" cy="340320"/>
          </a:xfrm>
          <a:prstGeom prst="roundRect">
            <a:avLst>
              <a:gd name="adj" fmla="val 14927"/>
            </a:avLst>
          </a:prstGeom>
          <a:solidFill>
            <a:srgbClr val="111B2B"/>
          </a:solidFill>
          <a:ln/>
        </p:spPr>
        <p:txBody>
          <a:bodyPr wrap="square" lIns="86721" tIns="48621" rIns="0" bIns="23221" rtlCol="0" anchor="t">
            <a:normAutofit/>
          </a:bodyPr>
          <a:lstStyle/>
          <a:p>
            <a:pPr algn="l" indent="0" marL="0">
              <a:lnSpc>
                <a:spcPts val="1680"/>
              </a:lnSpc>
              <a:buNone/>
            </a:pPr>
            <a:r>
              <a:rPr lang="en-US" sz="1200" dirty="0">
                <a:solidFill>
                  <a:srgbClr val="E9E4D8"/>
                </a:solidFill>
                <a:latin typeface="JetBrains Mono" pitchFamily="49" charset="0"/>
                <a:ea typeface="JetBrains Mono" pitchFamily="49" charset="-122"/>
                <a:cs typeface="JetBrains Mono" pitchFamily="49" charset="-120"/>
              </a:rPr>
              <a:t>scontrol show hostnames "$SLURM_JOB_NODELIST"</a:t>
            </a:r>
            <a:endParaRPr lang="en-US" sz="1200" dirty="0"/>
          </a:p>
        </p:txBody>
      </p:sp>
      <p:sp>
        <p:nvSpPr>
          <p:cNvPr id="10" name="Shape 8"/>
          <p:cNvSpPr/>
          <p:nvPr/>
        </p:nvSpPr>
        <p:spPr>
          <a:xfrm>
            <a:off x="815975" y="3010396"/>
            <a:ext cx="5200650" cy="994370"/>
          </a:xfrm>
          <a:prstGeom prst="roundRect">
            <a:avLst>
              <a:gd name="adj" fmla="val 9898"/>
            </a:avLst>
          </a:prstGeom>
          <a:solidFill>
            <a:srgbClr val="FCFBF7"/>
          </a:solidFill>
          <a:ln w="6350">
            <a:solidFill>
              <a:srgbClr val="DCD6CA"/>
            </a:solidFill>
            <a:prstDash val="solid"/>
          </a:ln>
        </p:spPr>
      </p:sp>
      <p:sp>
        <p:nvSpPr>
          <p:cNvPr id="11" name="Text 9"/>
          <p:cNvSpPr/>
          <p:nvPr/>
        </p:nvSpPr>
        <p:spPr>
          <a:xfrm>
            <a:off x="996950" y="3165971"/>
            <a:ext cx="498386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5530E"/>
                </a:solidFill>
                <a:latin typeface="IBM Plex Sans" pitchFamily="34" charset="0"/>
                <a:ea typeface="IBM Plex Sans" pitchFamily="34" charset="-122"/>
                <a:cs typeface="IBM Plex Sans" pitchFamily="34" charset="-120"/>
              </a:rPr>
              <a:t>3</a:t>
            </a:r>
            <a:r>
              <a:rPr lang="en-US" sz="1500" b="1" dirty="0">
                <a:solidFill>
                  <a:srgbClr val="111B2B"/>
                </a:solidFill>
                <a:latin typeface="IBM Plex Sans" pitchFamily="34" charset="0"/>
                <a:ea typeface="IBM Plex Sans" pitchFamily="34" charset="-122"/>
                <a:cs typeface="IBM Plex Sans" pitchFamily="34" charset="-120"/>
              </a:rPr>
              <a:t> · Start the Ray head on the first node</a:t>
            </a:r>
            <a:endParaRPr lang="en-US" sz="1500" dirty="0"/>
          </a:p>
        </p:txBody>
      </p:sp>
      <p:sp>
        <p:nvSpPr>
          <p:cNvPr id="12" name="Text 10"/>
          <p:cNvSpPr/>
          <p:nvPr/>
        </p:nvSpPr>
        <p:spPr>
          <a:xfrm>
            <a:off x="996950" y="3508871"/>
            <a:ext cx="4838700" cy="340320"/>
          </a:xfrm>
          <a:prstGeom prst="roundRect">
            <a:avLst>
              <a:gd name="adj" fmla="val 14927"/>
            </a:avLst>
          </a:prstGeom>
          <a:solidFill>
            <a:srgbClr val="111B2B"/>
          </a:solidFill>
          <a:ln/>
        </p:spPr>
        <p:txBody>
          <a:bodyPr wrap="square" lIns="86721" tIns="48621" rIns="0" bIns="23221" rtlCol="0" anchor="t">
            <a:normAutofit/>
          </a:bodyPr>
          <a:lstStyle/>
          <a:p>
            <a:pPr algn="l" indent="0" marL="0">
              <a:lnSpc>
                <a:spcPts val="1680"/>
              </a:lnSpc>
              <a:buNone/>
            </a:pPr>
            <a:r>
              <a:rPr lang="en-US" sz="1200" dirty="0">
                <a:solidFill>
                  <a:srgbClr val="E9E4D8"/>
                </a:solidFill>
                <a:latin typeface="JetBrains Mono" pitchFamily="49" charset="0"/>
                <a:ea typeface="JetBrains Mono" pitchFamily="49" charset="-122"/>
                <a:cs typeface="JetBrains Mono" pitchFamily="49" charset="-120"/>
              </a:rPr>
              <a:t>ray start --head --port=6379 --num-cpus=2</a:t>
            </a:r>
            <a:endParaRPr lang="en-US" sz="1200" dirty="0"/>
          </a:p>
        </p:txBody>
      </p:sp>
      <p:sp>
        <p:nvSpPr>
          <p:cNvPr id="13" name="Shape 11"/>
          <p:cNvSpPr/>
          <p:nvPr/>
        </p:nvSpPr>
        <p:spPr>
          <a:xfrm>
            <a:off x="6175375" y="3010396"/>
            <a:ext cx="5200650" cy="994370"/>
          </a:xfrm>
          <a:prstGeom prst="roundRect">
            <a:avLst>
              <a:gd name="adj" fmla="val 9898"/>
            </a:avLst>
          </a:prstGeom>
          <a:solidFill>
            <a:srgbClr val="FCFBF7"/>
          </a:solidFill>
          <a:ln w="6350">
            <a:solidFill>
              <a:srgbClr val="DCD6CA"/>
            </a:solidFill>
            <a:prstDash val="solid"/>
          </a:ln>
        </p:spPr>
      </p:sp>
      <p:sp>
        <p:nvSpPr>
          <p:cNvPr id="14" name="Text 12"/>
          <p:cNvSpPr/>
          <p:nvPr/>
        </p:nvSpPr>
        <p:spPr>
          <a:xfrm>
            <a:off x="6356350" y="3165971"/>
            <a:ext cx="498386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5530E"/>
                </a:solidFill>
                <a:latin typeface="IBM Plex Sans" pitchFamily="34" charset="0"/>
                <a:ea typeface="IBM Plex Sans" pitchFamily="34" charset="-122"/>
                <a:cs typeface="IBM Plex Sans" pitchFamily="34" charset="-120"/>
              </a:rPr>
              <a:t>4</a:t>
            </a:r>
            <a:r>
              <a:rPr lang="en-US" sz="1500" b="1" dirty="0">
                <a:solidFill>
                  <a:srgbClr val="111B2B"/>
                </a:solidFill>
                <a:latin typeface="IBM Plex Sans" pitchFamily="34" charset="0"/>
                <a:ea typeface="IBM Plex Sans" pitchFamily="34" charset="-122"/>
                <a:cs typeface="IBM Plex Sans" pitchFamily="34" charset="-120"/>
              </a:rPr>
              <a:t> · Use srun to join the other nodes</a:t>
            </a:r>
            <a:endParaRPr lang="en-US" sz="1500" dirty="0"/>
          </a:p>
        </p:txBody>
      </p:sp>
      <p:sp>
        <p:nvSpPr>
          <p:cNvPr id="15" name="Text 13"/>
          <p:cNvSpPr/>
          <p:nvPr/>
        </p:nvSpPr>
        <p:spPr>
          <a:xfrm>
            <a:off x="6356350" y="3508871"/>
            <a:ext cx="4838700" cy="340320"/>
          </a:xfrm>
          <a:prstGeom prst="roundRect">
            <a:avLst>
              <a:gd name="adj" fmla="val 14927"/>
            </a:avLst>
          </a:prstGeom>
          <a:solidFill>
            <a:srgbClr val="111B2B"/>
          </a:solidFill>
          <a:ln/>
        </p:spPr>
        <p:txBody>
          <a:bodyPr wrap="square" lIns="86721" tIns="48621" rIns="0" bIns="23221" rtlCol="0" anchor="t">
            <a:normAutofit/>
          </a:bodyPr>
          <a:lstStyle/>
          <a:p>
            <a:pPr algn="l" indent="0" marL="0">
              <a:lnSpc>
                <a:spcPts val="1680"/>
              </a:lnSpc>
              <a:buNone/>
            </a:pPr>
            <a:r>
              <a:rPr lang="en-US" sz="1200" dirty="0">
                <a:solidFill>
                  <a:srgbClr val="E9E4D8"/>
                </a:solidFill>
                <a:latin typeface="JetBrains Mono" pitchFamily="49" charset="0"/>
                <a:ea typeface="JetBrains Mono" pitchFamily="49" charset="-122"/>
                <a:cs typeface="JetBrains Mono" pitchFamily="49" charset="-120"/>
              </a:rPr>
              <a:t>srun -w worker2 ray start --address=$HEAD:6379</a:t>
            </a:r>
            <a:endParaRPr lang="en-US" sz="1200" dirty="0"/>
          </a:p>
        </p:txBody>
      </p:sp>
      <p:sp>
        <p:nvSpPr>
          <p:cNvPr id="16" name="Shape 14"/>
          <p:cNvSpPr/>
          <p:nvPr/>
        </p:nvSpPr>
        <p:spPr>
          <a:xfrm>
            <a:off x="815975" y="4163516"/>
            <a:ext cx="5200650" cy="994370"/>
          </a:xfrm>
          <a:prstGeom prst="roundRect">
            <a:avLst>
              <a:gd name="adj" fmla="val 9898"/>
            </a:avLst>
          </a:prstGeom>
          <a:solidFill>
            <a:srgbClr val="FCFBF7"/>
          </a:solidFill>
          <a:ln w="6350">
            <a:solidFill>
              <a:srgbClr val="DCD6CA"/>
            </a:solidFill>
            <a:prstDash val="solid"/>
          </a:ln>
        </p:spPr>
      </p:sp>
      <p:sp>
        <p:nvSpPr>
          <p:cNvPr id="17" name="Text 15"/>
          <p:cNvSpPr/>
          <p:nvPr/>
        </p:nvSpPr>
        <p:spPr>
          <a:xfrm>
            <a:off x="996950" y="4319091"/>
            <a:ext cx="498386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5530E"/>
                </a:solidFill>
                <a:latin typeface="IBM Plex Sans" pitchFamily="34" charset="0"/>
                <a:ea typeface="IBM Plex Sans" pitchFamily="34" charset="-122"/>
                <a:cs typeface="IBM Plex Sans" pitchFamily="34" charset="-120"/>
              </a:rPr>
              <a:t>5</a:t>
            </a:r>
            <a:r>
              <a:rPr lang="en-US" sz="1500" b="1" dirty="0">
                <a:solidFill>
                  <a:srgbClr val="111B2B"/>
                </a:solidFill>
                <a:latin typeface="IBM Plex Sans" pitchFamily="34" charset="0"/>
                <a:ea typeface="IBM Plex Sans" pitchFamily="34" charset="-122"/>
                <a:cs typeface="IBM Plex Sans" pitchFamily="34" charset="-120"/>
              </a:rPr>
              <a:t> · Check the cluster, then tune</a:t>
            </a:r>
            <a:endParaRPr lang="en-US" sz="1500" dirty="0"/>
          </a:p>
        </p:txBody>
      </p:sp>
      <p:sp>
        <p:nvSpPr>
          <p:cNvPr id="18" name="Text 16"/>
          <p:cNvSpPr/>
          <p:nvPr/>
        </p:nvSpPr>
        <p:spPr>
          <a:xfrm>
            <a:off x="996950" y="4661991"/>
            <a:ext cx="4838700" cy="340320"/>
          </a:xfrm>
          <a:prstGeom prst="roundRect">
            <a:avLst>
              <a:gd name="adj" fmla="val 14927"/>
            </a:avLst>
          </a:prstGeom>
          <a:solidFill>
            <a:srgbClr val="111B2B"/>
          </a:solidFill>
          <a:ln/>
        </p:spPr>
        <p:txBody>
          <a:bodyPr wrap="square" lIns="86721" tIns="48621" rIns="0" bIns="23221" rtlCol="0" anchor="t">
            <a:normAutofit/>
          </a:bodyPr>
          <a:lstStyle/>
          <a:p>
            <a:pPr algn="l" indent="0" marL="0">
              <a:lnSpc>
                <a:spcPts val="1680"/>
              </a:lnSpc>
              <a:buNone/>
            </a:pPr>
            <a:r>
              <a:rPr lang="en-US" sz="1200" dirty="0">
                <a:solidFill>
                  <a:srgbClr val="E9E4D8"/>
                </a:solidFill>
                <a:latin typeface="JetBrains Mono" pitchFamily="49" charset="0"/>
                <a:ea typeface="JetBrains Mono" pitchFamily="49" charset="-122"/>
                <a:cs typeface="JetBrains Mono" pitchFamily="49" charset="-120"/>
              </a:rPr>
              <a:t>ray status; python3 /app/src/tune_mnist.py</a:t>
            </a:r>
            <a:endParaRPr lang="en-US" sz="1200" dirty="0"/>
          </a:p>
        </p:txBody>
      </p:sp>
      <p:sp>
        <p:nvSpPr>
          <p:cNvPr id="19" name="Shape 17"/>
          <p:cNvSpPr/>
          <p:nvPr/>
        </p:nvSpPr>
        <p:spPr>
          <a:xfrm>
            <a:off x="6175375" y="4163516"/>
            <a:ext cx="5200650" cy="994370"/>
          </a:xfrm>
          <a:prstGeom prst="roundRect">
            <a:avLst>
              <a:gd name="adj" fmla="val 9898"/>
            </a:avLst>
          </a:prstGeom>
          <a:solidFill>
            <a:srgbClr val="FCFBF7"/>
          </a:solidFill>
          <a:ln w="6350">
            <a:solidFill>
              <a:srgbClr val="DCD6CA"/>
            </a:solidFill>
            <a:prstDash val="solid"/>
          </a:ln>
        </p:spPr>
      </p:sp>
      <p:sp>
        <p:nvSpPr>
          <p:cNvPr id="20" name="Text 18"/>
          <p:cNvSpPr/>
          <p:nvPr/>
        </p:nvSpPr>
        <p:spPr>
          <a:xfrm>
            <a:off x="6356350" y="4319091"/>
            <a:ext cx="498386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D5FA8"/>
                </a:solidFill>
                <a:latin typeface="IBM Plex Sans" pitchFamily="34" charset="0"/>
                <a:ea typeface="IBM Plex Sans" pitchFamily="34" charset="-122"/>
                <a:cs typeface="IBM Plex Sans" pitchFamily="34" charset="-120"/>
              </a:rPr>
              <a:t>6</a:t>
            </a:r>
            <a:r>
              <a:rPr lang="en-US" sz="1500" b="1" dirty="0">
                <a:solidFill>
                  <a:srgbClr val="111B2B"/>
                </a:solidFill>
                <a:latin typeface="IBM Plex Sans" pitchFamily="34" charset="0"/>
                <a:ea typeface="IBM Plex Sans" pitchFamily="34" charset="-122"/>
                <a:cs typeface="IBM Plex Sans" pitchFamily="34" charset="-120"/>
              </a:rPr>
              <a:t> · Clean up and hand back</a:t>
            </a:r>
            <a:endParaRPr lang="en-US" sz="1500" dirty="0"/>
          </a:p>
        </p:txBody>
      </p:sp>
      <p:sp>
        <p:nvSpPr>
          <p:cNvPr id="21" name="Text 19"/>
          <p:cNvSpPr/>
          <p:nvPr/>
        </p:nvSpPr>
        <p:spPr>
          <a:xfrm>
            <a:off x="6356350" y="4661991"/>
            <a:ext cx="4838700" cy="340320"/>
          </a:xfrm>
          <a:prstGeom prst="roundRect">
            <a:avLst>
              <a:gd name="adj" fmla="val 14927"/>
            </a:avLst>
          </a:prstGeom>
          <a:solidFill>
            <a:srgbClr val="111B2B"/>
          </a:solidFill>
          <a:ln/>
        </p:spPr>
        <p:txBody>
          <a:bodyPr wrap="square" lIns="86721" tIns="48621" rIns="0" bIns="23221" rtlCol="0" anchor="t">
            <a:normAutofit/>
          </a:bodyPr>
          <a:lstStyle/>
          <a:p>
            <a:pPr algn="l" indent="0" marL="0">
              <a:lnSpc>
                <a:spcPts val="1680"/>
              </a:lnSpc>
              <a:buNone/>
            </a:pPr>
            <a:r>
              <a:rPr lang="en-US" sz="1200" dirty="0">
                <a:solidFill>
                  <a:srgbClr val="E9E4D8"/>
                </a:solidFill>
                <a:latin typeface="JetBrains Mono" pitchFamily="49" charset="0"/>
                <a:ea typeface="JetBrains Mono" pitchFamily="49" charset="-122"/>
                <a:cs typeface="JetBrains Mono" pitchFamily="49" charset="-120"/>
              </a:rPr>
              <a:t>ray stop </a:t>
            </a:r>
            <a:r>
              <a:rPr lang="en-US" sz="1200" dirty="0">
                <a:solidFill>
                  <a:srgbClr val="8E9AAF"/>
                </a:solidFill>
                <a:latin typeface="JetBrains Mono" pitchFamily="49" charset="0"/>
                <a:ea typeface="JetBrains Mono" pitchFamily="49" charset="-122"/>
                <a:cs typeface="JetBrains Mono" pitchFamily="49" charset="-120"/>
              </a:rPr>
              <a:t># job ends, Slurm frees nodes</a:t>
            </a:r>
            <a:endParaRPr lang="en-US" sz="1200" dirty="0"/>
          </a:p>
        </p:txBody>
      </p:sp>
      <p:sp>
        <p:nvSpPr>
          <p:cNvPr id="22" name="Text 2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Slurm + Ray for AI · 14 · </a:t>
            </a:r>
            <a:r>
              <a:rPr lang="en-US" sz="1200" dirty="0">
                <a:solidFill>
                  <a:srgbClr val="1D5FA8"/>
                </a:solidFill>
                <a:latin typeface="IBM Plex Sans" pitchFamily="34" charset="0"/>
                <a:ea typeface="IBM Plex Sans" pitchFamily="34" charset="-122"/>
                <a:cs typeface="IBM Plex Sans" pitchFamily="34" charset="-120"/>
              </a:rPr>
              <a:t>blue = Slurm</a:t>
            </a:r>
            <a:r>
              <a:rPr lang="en-US" sz="1200" dirty="0">
                <a:solidFill>
                  <a:srgbClr val="5F6B7A"/>
                </a:solidFill>
                <a:latin typeface="IBM Plex Sans" pitchFamily="34" charset="0"/>
                <a:ea typeface="IBM Plex Sans" pitchFamily="34" charset="-122"/>
                <a:cs typeface="IBM Plex Sans" pitchFamily="34" charset="-120"/>
              </a:rPr>
              <a:t> · </a:t>
            </a:r>
            <a:r>
              <a:rPr lang="en-US" sz="1200" dirty="0">
                <a:solidFill>
                  <a:srgbClr val="B5530E"/>
                </a:solidFill>
                <a:latin typeface="IBM Plex Sans" pitchFamily="34" charset="0"/>
                <a:ea typeface="IBM Plex Sans" pitchFamily="34" charset="-122"/>
                <a:cs typeface="IBM Plex Sans" pitchFamily="34" charset="-120"/>
              </a:rPr>
              <a:t>orange = Ray</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A5568"/>
                </a:solidFill>
                <a:latin typeface="JetBrains Mono" pitchFamily="49" charset="0"/>
                <a:ea typeface="JetBrains Mono" pitchFamily="49" charset="-122"/>
                <a:cs typeface="JetBrains Mono" pitchFamily="49" charset="-120"/>
              </a:rPr>
              <a:t>04 · OUR DEMO</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11B2B"/>
                </a:solidFill>
                <a:latin typeface="IBM Plex Sans" pitchFamily="34" charset="0"/>
                <a:ea typeface="IBM Plex Sans" pitchFamily="34" charset="-122"/>
                <a:cs typeface="IBM Plex Sans" pitchFamily="34" charset="-120"/>
              </a:rPr>
              <a:t>tune_mnist.py: search wide, stop early</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66801"/>
          <a:ext cx="5194300" cy="1796355"/>
        </p:xfrm>
        <a:graphic>
          <a:graphicData uri="http://schemas.openxmlformats.org/drawingml/2006/table">
            <a:tbl>
              <a:tblPr/>
              <a:tblGrid>
                <a:gridCol w="2181606"/>
                <a:gridCol w="3012694"/>
              </a:tblGrid>
              <a:tr h="359271">
                <a:tc>
                  <a:txBody>
                    <a:bodyPr/>
                    <a:lstStyle/>
                    <a:p>
                      <a:pPr indent="0" marL="0">
                        <a:lnSpc>
                          <a:spcPts val="1820"/>
                        </a:lnSpc>
                        <a:buNone/>
                      </a:pPr>
                      <a:r>
                        <a:rPr lang="en-US" sz="1300" b="1" dirty="0">
                          <a:solidFill>
                            <a:srgbClr val="111B2B"/>
                          </a:solidFill>
                          <a:latin typeface="IBM Plex Sans" pitchFamily="34" charset="0"/>
                          <a:ea typeface="IBM Plex Sans" pitchFamily="34" charset="-122"/>
                          <a:cs typeface="IBM Plex Sans" pitchFamily="34" charset="-120"/>
                        </a:rPr>
                        <a:t>Hyperparameter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B8AD"/>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B8AD"/>
                      </a:solidFill>
                      <a:prstDash val="solid"/>
                      <a:round/>
                      <a:headEnd type="none" w="med" len="med"/>
                      <a:tailEnd type="none" w="med" len="med"/>
                    </a:lnB>
                    <a:solidFill>
                      <a:srgbClr val="F6E6D9"/>
                    </a:solidFill>
                  </a:tcPr>
                </a:tc>
                <a:tc>
                  <a:txBody>
                    <a:bodyPr/>
                    <a:lstStyle/>
                    <a:p>
                      <a:pPr indent="0" marL="0">
                        <a:lnSpc>
                          <a:spcPts val="1820"/>
                        </a:lnSpc>
                        <a:buNone/>
                      </a:pPr>
                      <a:r>
                        <a:rPr lang="en-US" sz="1300" b="1" dirty="0">
                          <a:solidFill>
                            <a:srgbClr val="111B2B"/>
                          </a:solidFill>
                          <a:latin typeface="IBM Plex Sans" pitchFamily="34" charset="0"/>
                          <a:ea typeface="IBM Plex Sans" pitchFamily="34" charset="-122"/>
                          <a:cs typeface="IBM Plex Sans" pitchFamily="34" charset="-120"/>
                        </a:rPr>
                        <a:t>Search space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B8AD"/>
                      </a:solidFill>
                      <a:prstDash val="solid"/>
                      <a:round/>
                      <a:headEnd type="none" w="med" len="med"/>
                      <a:tailEnd type="none" w="med" len="med"/>
                    </a:lnL>
                    <a:lnR w="12700" cap="flat" cmpd="sng" algn="ctr">
                      <a:solidFill>
                        <a:srgbClr val="C4B8AD"/>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B8AD"/>
                      </a:solidFill>
                      <a:prstDash val="solid"/>
                      <a:round/>
                      <a:headEnd type="none" w="med" len="med"/>
                      <a:tailEnd type="none" w="med" len="med"/>
                    </a:lnB>
                    <a:solidFill>
                      <a:srgbClr val="F6E6D9"/>
                    </a:solidFill>
                  </a:tcPr>
                </a:tc>
              </a:tr>
              <a:tr h="359271">
                <a:tc>
                  <a:txBody>
                    <a:bodyPr/>
                    <a:lstStyle/>
                    <a:p>
                      <a:pPr indent="0" marL="0">
                        <a:lnSpc>
                          <a:spcPts val="1820"/>
                        </a:lnSpc>
                        <a:buNone/>
                      </a:pPr>
                      <a:r>
                        <a:rPr lang="en-US" sz="1300" dirty="0">
                          <a:solidFill>
                            <a:srgbClr val="111B2B"/>
                          </a:solidFill>
                          <a:latin typeface="IBM Plex Sans" pitchFamily="34" charset="0"/>
                          <a:ea typeface="IBM Plex Sans" pitchFamily="34" charset="-122"/>
                          <a:cs typeface="IBM Plex Sans" pitchFamily="34" charset="-120"/>
                        </a:rPr>
                        <a:t>Learning rate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B8AD"/>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11B2B"/>
                          </a:solidFill>
                          <a:latin typeface="IBM Plex Sans" pitchFamily="34" charset="0"/>
                          <a:ea typeface="IBM Plex Sans" pitchFamily="34" charset="-122"/>
                          <a:cs typeface="IBM Plex Sans" pitchFamily="34" charset="-120"/>
                        </a:rPr>
                        <a:t>1e-4 to 1e-1, log-uniform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B8AD"/>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9271">
                <a:tc>
                  <a:txBody>
                    <a:bodyPr/>
                    <a:lstStyle/>
                    <a:p>
                      <a:pPr indent="0" marL="0">
                        <a:lnSpc>
                          <a:spcPts val="1820"/>
                        </a:lnSpc>
                        <a:buNone/>
                      </a:pPr>
                      <a:r>
                        <a:rPr lang="en-US" sz="1300" dirty="0">
                          <a:solidFill>
                            <a:srgbClr val="111B2B"/>
                          </a:solidFill>
                          <a:latin typeface="IBM Plex Sans" pitchFamily="34" charset="0"/>
                          <a:ea typeface="IBM Plex Sans" pitchFamily="34" charset="-122"/>
                          <a:cs typeface="IBM Plex Sans" pitchFamily="34" charset="-120"/>
                        </a:rPr>
                        <a:t>Momentum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820"/>
                        </a:lnSpc>
                        <a:buNone/>
                      </a:pPr>
                      <a:r>
                        <a:rPr lang="en-US" sz="1300" dirty="0">
                          <a:solidFill>
                            <a:srgbClr val="111B2B"/>
                          </a:solidFill>
                          <a:latin typeface="IBM Plex Sans" pitchFamily="34" charset="0"/>
                          <a:ea typeface="IBM Plex Sans" pitchFamily="34" charset="-122"/>
                          <a:cs typeface="IBM Plex Sans" pitchFamily="34" charset="-120"/>
                        </a:rPr>
                        <a:t>0.1 to 0.9, uniform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59271">
                <a:tc>
                  <a:txBody>
                    <a:bodyPr/>
                    <a:lstStyle/>
                    <a:p>
                      <a:pPr indent="0" marL="0">
                        <a:lnSpc>
                          <a:spcPts val="1820"/>
                        </a:lnSpc>
                        <a:buNone/>
                      </a:pPr>
                      <a:r>
                        <a:rPr lang="en-US" sz="1300" dirty="0">
                          <a:solidFill>
                            <a:srgbClr val="111B2B"/>
                          </a:solidFill>
                          <a:latin typeface="IBM Plex Sans" pitchFamily="34" charset="0"/>
                          <a:ea typeface="IBM Plex Sans" pitchFamily="34" charset="-122"/>
                          <a:cs typeface="IBM Plex Sans" pitchFamily="34" charset="-120"/>
                        </a:rPr>
                        <a:t>Batch size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11B2B"/>
                          </a:solidFill>
                          <a:latin typeface="IBM Plex Sans" pitchFamily="34" charset="0"/>
                          <a:ea typeface="IBM Plex Sans" pitchFamily="34" charset="-122"/>
                          <a:cs typeface="IBM Plex Sans" pitchFamily="34" charset="-120"/>
                        </a:rPr>
                        <a:t>32, 64, 128, 256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59271">
                <a:tc>
                  <a:txBody>
                    <a:bodyPr/>
                    <a:lstStyle/>
                    <a:p>
                      <a:pPr indent="0" marL="0">
                        <a:lnSpc>
                          <a:spcPts val="1820"/>
                        </a:lnSpc>
                        <a:buNone/>
                      </a:pPr>
                      <a:r>
                        <a:rPr lang="en-US" sz="1300" dirty="0">
                          <a:solidFill>
                            <a:srgbClr val="111B2B"/>
                          </a:solidFill>
                          <a:latin typeface="IBM Plex Sans" pitchFamily="34" charset="0"/>
                          <a:ea typeface="IBM Plex Sans" pitchFamily="34" charset="-122"/>
                          <a:cs typeface="IBM Plex Sans" pitchFamily="34" charset="-120"/>
                        </a:rPr>
                        <a:t>Hidden size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820"/>
                        </a:lnSpc>
                        <a:buNone/>
                      </a:pPr>
                      <a:r>
                        <a:rPr lang="en-US" sz="1300" dirty="0">
                          <a:solidFill>
                            <a:srgbClr val="111B2B"/>
                          </a:solidFill>
                          <a:latin typeface="IBM Plex Sans" pitchFamily="34" charset="0"/>
                          <a:ea typeface="IBM Plex Sans" pitchFamily="34" charset="-122"/>
                          <a:cs typeface="IBM Plex Sans" pitchFamily="34" charset="-120"/>
                        </a:rPr>
                        <a:t>64, 128, 256, 512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bl>
          </a:graphicData>
        </a:graphic>
      </p:graphicFrame>
      <p:sp>
        <p:nvSpPr>
          <p:cNvPr id="5" name="Text 2"/>
          <p:cNvSpPr/>
          <p:nvPr/>
        </p:nvSpPr>
        <p:spPr>
          <a:xfrm>
            <a:off x="812800" y="3815556"/>
            <a:ext cx="817463" cy="314920"/>
          </a:xfrm>
          <a:prstGeom prst="roundRect">
            <a:avLst>
              <a:gd name="adj" fmla="val 50000"/>
            </a:avLst>
          </a:prstGeom>
          <a:solidFill>
            <a:srgbClr val="E9E6DE"/>
          </a:solidFill>
          <a:ln/>
        </p:spPr>
        <p:txBody>
          <a:bodyPr wrap="none" lIns="0" tIns="0" rIns="0" bIns="0" rtlCol="0" anchor="ctr">
            <a:normAutofit/>
          </a:bodyPr>
          <a:lstStyle/>
          <a:p>
            <a:pPr algn="ctr" indent="0" marL="0">
              <a:lnSpc>
                <a:spcPts val="1680"/>
              </a:lnSpc>
              <a:buNone/>
            </a:pPr>
            <a:r>
              <a:rPr lang="en-US" sz="1200" dirty="0">
                <a:solidFill>
                  <a:srgbClr val="111B2B"/>
                </a:solidFill>
                <a:latin typeface="IBM Plex Sans" pitchFamily="34" charset="0"/>
                <a:ea typeface="IBM Plex Sans" pitchFamily="34" charset="-122"/>
                <a:cs typeface="IBM Plex Sans" pitchFamily="34" charset="-120"/>
              </a:rPr>
              <a:t>12 trials</a:t>
            </a:r>
            <a:endParaRPr lang="en-US" sz="1200" dirty="0"/>
          </a:p>
        </p:txBody>
      </p:sp>
      <p:sp>
        <p:nvSpPr>
          <p:cNvPr id="6" name="Text 3"/>
          <p:cNvSpPr/>
          <p:nvPr/>
        </p:nvSpPr>
        <p:spPr>
          <a:xfrm>
            <a:off x="1706463" y="3815556"/>
            <a:ext cx="1742976" cy="314920"/>
          </a:xfrm>
          <a:prstGeom prst="roundRect">
            <a:avLst>
              <a:gd name="adj" fmla="val 50000"/>
            </a:avLst>
          </a:prstGeom>
          <a:solidFill>
            <a:srgbClr val="E9E6DE"/>
          </a:solidFill>
          <a:ln/>
        </p:spPr>
        <p:txBody>
          <a:bodyPr wrap="none" lIns="0" tIns="0" rIns="0" bIns="0" rtlCol="0" anchor="ctr">
            <a:normAutofit/>
          </a:bodyPr>
          <a:lstStyle/>
          <a:p>
            <a:pPr algn="ctr" indent="0" marL="0">
              <a:lnSpc>
                <a:spcPts val="1680"/>
              </a:lnSpc>
              <a:buNone/>
            </a:pPr>
            <a:r>
              <a:rPr lang="en-US" sz="1200" dirty="0">
                <a:solidFill>
                  <a:srgbClr val="111B2B"/>
                </a:solidFill>
                <a:latin typeface="IBM Plex Sans" pitchFamily="34" charset="0"/>
                <a:ea typeface="IBM Plex Sans" pitchFamily="34" charset="-122"/>
                <a:cs typeface="IBM Plex Sans" pitchFamily="34" charset="-120"/>
              </a:rPr>
              <a:t>1 CPU each, 4 at once</a:t>
            </a:r>
            <a:endParaRPr lang="en-US" sz="1200" dirty="0"/>
          </a:p>
        </p:txBody>
      </p:sp>
      <p:sp>
        <p:nvSpPr>
          <p:cNvPr id="7" name="Text 4"/>
          <p:cNvSpPr/>
          <p:nvPr/>
        </p:nvSpPr>
        <p:spPr>
          <a:xfrm>
            <a:off x="3525639" y="3815556"/>
            <a:ext cx="1295400" cy="314920"/>
          </a:xfrm>
          <a:prstGeom prst="roundRect">
            <a:avLst>
              <a:gd name="adj" fmla="val 50000"/>
            </a:avLst>
          </a:prstGeom>
          <a:solidFill>
            <a:srgbClr val="E9E6DE"/>
          </a:solidFill>
          <a:ln/>
        </p:spPr>
        <p:txBody>
          <a:bodyPr wrap="none" lIns="0" tIns="0" rIns="0" bIns="0" rtlCol="0" anchor="ctr">
            <a:normAutofit/>
          </a:bodyPr>
          <a:lstStyle/>
          <a:p>
            <a:pPr algn="ctr" indent="0" marL="0">
              <a:lnSpc>
                <a:spcPts val="1680"/>
              </a:lnSpc>
              <a:buNone/>
            </a:pPr>
            <a:r>
              <a:rPr lang="en-US" sz="1200" dirty="0">
                <a:solidFill>
                  <a:srgbClr val="111B2B"/>
                </a:solidFill>
                <a:latin typeface="IBM Plex Sans" pitchFamily="34" charset="0"/>
                <a:ea typeface="IBM Plex Sans" pitchFamily="34" charset="-122"/>
                <a:cs typeface="IBM Plex Sans" pitchFamily="34" charset="-120"/>
              </a:rPr>
              <a:t>10 epochs max</a:t>
            </a:r>
            <a:endParaRPr lang="en-US" sz="1200" dirty="0"/>
          </a:p>
        </p:txBody>
      </p:sp>
      <p:sp>
        <p:nvSpPr>
          <p:cNvPr id="8" name="Shape 5"/>
          <p:cNvSpPr/>
          <p:nvPr/>
        </p:nvSpPr>
        <p:spPr>
          <a:xfrm>
            <a:off x="812800" y="4282877"/>
            <a:ext cx="5207000" cy="1041301"/>
          </a:xfrm>
          <a:prstGeom prst="roundRect">
            <a:avLst>
              <a:gd name="adj" fmla="val 9757"/>
            </a:avLst>
          </a:prstGeom>
          <a:solidFill>
            <a:srgbClr val="111B2B"/>
          </a:solidFill>
          <a:ln/>
        </p:spPr>
      </p:sp>
      <p:sp>
        <p:nvSpPr>
          <p:cNvPr id="9" name="Text 6"/>
          <p:cNvSpPr/>
          <p:nvPr/>
        </p:nvSpPr>
        <p:spPr>
          <a:xfrm>
            <a:off x="1016000" y="4460677"/>
            <a:ext cx="4944618"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F2A25C"/>
                </a:solidFill>
                <a:latin typeface="IBM Plex Sans" pitchFamily="34" charset="0"/>
                <a:ea typeface="IBM Plex Sans" pitchFamily="34" charset="-122"/>
                <a:cs typeface="IBM Plex Sans" pitchFamily="34" charset="-120"/>
              </a:rPr>
              <a:t>≈98% </a:t>
            </a:r>
            <a:r>
              <a:rPr lang="en-US" sz="3200" b="1" dirty="0">
                <a:solidFill>
                  <a:srgbClr val="F5F3EE"/>
                </a:solidFill>
                <a:latin typeface="IBM Plex Sans" pitchFamily="34" charset="0"/>
                <a:ea typeface="IBM Plex Sans" pitchFamily="34" charset="-122"/>
                <a:cs typeface="IBM Plex Sans" pitchFamily="34" charset="-120"/>
              </a:rPr>
              <a:t>in ≈4 min</a:t>
            </a:r>
            <a:endParaRPr lang="en-US" sz="3200" dirty="0"/>
          </a:p>
        </p:txBody>
      </p:sp>
      <p:sp>
        <p:nvSpPr>
          <p:cNvPr id="10" name="Text 7"/>
          <p:cNvSpPr/>
          <p:nvPr/>
        </p:nvSpPr>
        <p:spPr>
          <a:xfrm>
            <a:off x="1016000" y="4933057"/>
            <a:ext cx="49446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4D6"/>
                </a:solidFill>
                <a:latin typeface="IBM Plex Sans" pitchFamily="34" charset="0"/>
                <a:ea typeface="IBM Plex Sans" pitchFamily="34" charset="-122"/>
                <a:cs typeface="IBM Plex Sans" pitchFamily="34" charset="-120"/>
              </a:rPr>
              <a:t>Best MNIST accuracy, per the repo’s expected output</a:t>
            </a:r>
            <a:endParaRPr lang="en-US" sz="1200" dirty="0"/>
          </a:p>
        </p:txBody>
      </p:sp>
      <p:sp>
        <p:nvSpPr>
          <p:cNvPr id="11" name="Shape 8"/>
          <p:cNvSpPr/>
          <p:nvPr/>
        </p:nvSpPr>
        <p:spPr>
          <a:xfrm>
            <a:off x="6378575" y="1857276"/>
            <a:ext cx="4997450" cy="3463727"/>
          </a:xfrm>
          <a:prstGeom prst="roundRect">
            <a:avLst>
              <a:gd name="adj" fmla="val 2842"/>
            </a:avLst>
          </a:prstGeom>
          <a:solidFill>
            <a:srgbClr val="FCFBF7"/>
          </a:solidFill>
          <a:ln w="6350">
            <a:solidFill>
              <a:srgbClr val="DCD6CA"/>
            </a:solidFill>
            <a:prstDash val="solid"/>
          </a:ln>
        </p:spPr>
      </p:sp>
      <p:sp>
        <p:nvSpPr>
          <p:cNvPr id="12" name="Text 9"/>
          <p:cNvSpPr/>
          <p:nvPr/>
        </p:nvSpPr>
        <p:spPr>
          <a:xfrm>
            <a:off x="6584950" y="2063651"/>
            <a:ext cx="4722241"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11B2B"/>
                </a:solidFill>
                <a:latin typeface="IBM Plex Sans" pitchFamily="34" charset="0"/>
                <a:ea typeface="IBM Plex Sans" pitchFamily="34" charset="-122"/>
                <a:cs typeface="IBM Plex Sans" pitchFamily="34" charset="-120"/>
              </a:rPr>
              <a:t>ASHA scheduler</a:t>
            </a:r>
            <a:endParaRPr lang="en-US" sz="1600" dirty="0"/>
          </a:p>
        </p:txBody>
      </p:sp>
      <p:sp>
        <p:nvSpPr>
          <p:cNvPr id="13" name="Text 10"/>
          <p:cNvSpPr/>
          <p:nvPr/>
        </p:nvSpPr>
        <p:spPr>
          <a:xfrm>
            <a:off x="6584950" y="2454771"/>
            <a:ext cx="472224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grace_period=2, reduction_factor=2: at epochs 2, 4 and 8, only the better half keeps going.</a:t>
            </a:r>
            <a:endParaRPr lang="en-US" sz="1200" dirty="0"/>
          </a:p>
        </p:txBody>
      </p:sp>
      <p:sp>
        <p:nvSpPr>
          <p:cNvPr id="14" name="Text 11"/>
          <p:cNvSpPr/>
          <p:nvPr/>
        </p:nvSpPr>
        <p:spPr>
          <a:xfrm>
            <a:off x="6584950" y="3008412"/>
            <a:ext cx="1003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JetBrains Mono" pitchFamily="49" charset="0"/>
                <a:ea typeface="JetBrains Mono" pitchFamily="49" charset="-122"/>
                <a:cs typeface="JetBrains Mono" pitchFamily="49" charset="-120"/>
              </a:rPr>
              <a:t>start</a:t>
            </a:r>
            <a:endParaRPr lang="en-US" sz="1200" dirty="0"/>
          </a:p>
        </p:txBody>
      </p:sp>
      <p:sp>
        <p:nvSpPr>
          <p:cNvPr id="15" name="Shape 12"/>
          <p:cNvSpPr/>
          <p:nvPr/>
        </p:nvSpPr>
        <p:spPr>
          <a:xfrm>
            <a:off x="7639050" y="3019822"/>
            <a:ext cx="190500" cy="190500"/>
          </a:xfrm>
          <a:prstGeom prst="roundRect">
            <a:avLst>
              <a:gd name="adj" fmla="val 20000"/>
            </a:avLst>
          </a:prstGeom>
          <a:solidFill>
            <a:srgbClr val="B5530E"/>
          </a:solidFill>
          <a:ln/>
        </p:spPr>
      </p:sp>
      <p:sp>
        <p:nvSpPr>
          <p:cNvPr id="16" name="Shape 13"/>
          <p:cNvSpPr/>
          <p:nvPr/>
        </p:nvSpPr>
        <p:spPr>
          <a:xfrm>
            <a:off x="7880350" y="3019822"/>
            <a:ext cx="190500" cy="190500"/>
          </a:xfrm>
          <a:prstGeom prst="roundRect">
            <a:avLst>
              <a:gd name="adj" fmla="val 20000"/>
            </a:avLst>
          </a:prstGeom>
          <a:solidFill>
            <a:srgbClr val="B5530E"/>
          </a:solidFill>
          <a:ln/>
        </p:spPr>
      </p:sp>
      <p:sp>
        <p:nvSpPr>
          <p:cNvPr id="17" name="Shape 14"/>
          <p:cNvSpPr/>
          <p:nvPr/>
        </p:nvSpPr>
        <p:spPr>
          <a:xfrm>
            <a:off x="8121650" y="3019822"/>
            <a:ext cx="190500" cy="190500"/>
          </a:xfrm>
          <a:prstGeom prst="roundRect">
            <a:avLst>
              <a:gd name="adj" fmla="val 20000"/>
            </a:avLst>
          </a:prstGeom>
          <a:solidFill>
            <a:srgbClr val="B5530E"/>
          </a:solidFill>
          <a:ln/>
        </p:spPr>
      </p:sp>
      <p:sp>
        <p:nvSpPr>
          <p:cNvPr id="18" name="Shape 15"/>
          <p:cNvSpPr/>
          <p:nvPr/>
        </p:nvSpPr>
        <p:spPr>
          <a:xfrm>
            <a:off x="8362950" y="3019822"/>
            <a:ext cx="190500" cy="190500"/>
          </a:xfrm>
          <a:prstGeom prst="roundRect">
            <a:avLst>
              <a:gd name="adj" fmla="val 20000"/>
            </a:avLst>
          </a:prstGeom>
          <a:solidFill>
            <a:srgbClr val="B5530E"/>
          </a:solidFill>
          <a:ln/>
        </p:spPr>
      </p:sp>
      <p:sp>
        <p:nvSpPr>
          <p:cNvPr id="19" name="Shape 16"/>
          <p:cNvSpPr/>
          <p:nvPr/>
        </p:nvSpPr>
        <p:spPr>
          <a:xfrm>
            <a:off x="8604250" y="3019822"/>
            <a:ext cx="190500" cy="190500"/>
          </a:xfrm>
          <a:prstGeom prst="roundRect">
            <a:avLst>
              <a:gd name="adj" fmla="val 20000"/>
            </a:avLst>
          </a:prstGeom>
          <a:solidFill>
            <a:srgbClr val="B5530E"/>
          </a:solidFill>
          <a:ln/>
        </p:spPr>
      </p:sp>
      <p:sp>
        <p:nvSpPr>
          <p:cNvPr id="20" name="Shape 17"/>
          <p:cNvSpPr/>
          <p:nvPr/>
        </p:nvSpPr>
        <p:spPr>
          <a:xfrm>
            <a:off x="8845550" y="3019822"/>
            <a:ext cx="190500" cy="190500"/>
          </a:xfrm>
          <a:prstGeom prst="roundRect">
            <a:avLst>
              <a:gd name="adj" fmla="val 20000"/>
            </a:avLst>
          </a:prstGeom>
          <a:solidFill>
            <a:srgbClr val="B5530E"/>
          </a:solidFill>
          <a:ln/>
        </p:spPr>
      </p:sp>
      <p:sp>
        <p:nvSpPr>
          <p:cNvPr id="21" name="Shape 18"/>
          <p:cNvSpPr/>
          <p:nvPr/>
        </p:nvSpPr>
        <p:spPr>
          <a:xfrm>
            <a:off x="9086850" y="3019822"/>
            <a:ext cx="190500" cy="190500"/>
          </a:xfrm>
          <a:prstGeom prst="roundRect">
            <a:avLst>
              <a:gd name="adj" fmla="val 20000"/>
            </a:avLst>
          </a:prstGeom>
          <a:solidFill>
            <a:srgbClr val="B5530E"/>
          </a:solidFill>
          <a:ln/>
        </p:spPr>
      </p:sp>
      <p:sp>
        <p:nvSpPr>
          <p:cNvPr id="22" name="Shape 19"/>
          <p:cNvSpPr/>
          <p:nvPr/>
        </p:nvSpPr>
        <p:spPr>
          <a:xfrm>
            <a:off x="9328150" y="3019822"/>
            <a:ext cx="190500" cy="190500"/>
          </a:xfrm>
          <a:prstGeom prst="roundRect">
            <a:avLst>
              <a:gd name="adj" fmla="val 20000"/>
            </a:avLst>
          </a:prstGeom>
          <a:solidFill>
            <a:srgbClr val="B5530E"/>
          </a:solidFill>
          <a:ln/>
        </p:spPr>
      </p:sp>
      <p:sp>
        <p:nvSpPr>
          <p:cNvPr id="23" name="Shape 20"/>
          <p:cNvSpPr/>
          <p:nvPr/>
        </p:nvSpPr>
        <p:spPr>
          <a:xfrm>
            <a:off x="9569450" y="3019822"/>
            <a:ext cx="190500" cy="190500"/>
          </a:xfrm>
          <a:prstGeom prst="roundRect">
            <a:avLst>
              <a:gd name="adj" fmla="val 20000"/>
            </a:avLst>
          </a:prstGeom>
          <a:solidFill>
            <a:srgbClr val="B5530E"/>
          </a:solidFill>
          <a:ln/>
        </p:spPr>
      </p:sp>
      <p:sp>
        <p:nvSpPr>
          <p:cNvPr id="24" name="Shape 21"/>
          <p:cNvSpPr/>
          <p:nvPr/>
        </p:nvSpPr>
        <p:spPr>
          <a:xfrm>
            <a:off x="9810750" y="3019822"/>
            <a:ext cx="190500" cy="190500"/>
          </a:xfrm>
          <a:prstGeom prst="roundRect">
            <a:avLst>
              <a:gd name="adj" fmla="val 20000"/>
            </a:avLst>
          </a:prstGeom>
          <a:solidFill>
            <a:srgbClr val="B5530E"/>
          </a:solidFill>
          <a:ln/>
        </p:spPr>
      </p:sp>
      <p:sp>
        <p:nvSpPr>
          <p:cNvPr id="25" name="Shape 22"/>
          <p:cNvSpPr/>
          <p:nvPr/>
        </p:nvSpPr>
        <p:spPr>
          <a:xfrm>
            <a:off x="10052050" y="3019822"/>
            <a:ext cx="190500" cy="190500"/>
          </a:xfrm>
          <a:prstGeom prst="roundRect">
            <a:avLst>
              <a:gd name="adj" fmla="val 20000"/>
            </a:avLst>
          </a:prstGeom>
          <a:solidFill>
            <a:srgbClr val="B5530E"/>
          </a:solidFill>
          <a:ln/>
        </p:spPr>
      </p:sp>
      <p:sp>
        <p:nvSpPr>
          <p:cNvPr id="26" name="Shape 23"/>
          <p:cNvSpPr/>
          <p:nvPr/>
        </p:nvSpPr>
        <p:spPr>
          <a:xfrm>
            <a:off x="10293350" y="3019822"/>
            <a:ext cx="190500" cy="190500"/>
          </a:xfrm>
          <a:prstGeom prst="roundRect">
            <a:avLst>
              <a:gd name="adj" fmla="val 20000"/>
            </a:avLst>
          </a:prstGeom>
          <a:solidFill>
            <a:srgbClr val="B5530E"/>
          </a:solidFill>
          <a:ln/>
        </p:spPr>
      </p:sp>
      <p:sp>
        <p:nvSpPr>
          <p:cNvPr id="27" name="Text 24"/>
          <p:cNvSpPr/>
          <p:nvPr/>
        </p:nvSpPr>
        <p:spPr>
          <a:xfrm>
            <a:off x="6584950" y="3348732"/>
            <a:ext cx="1003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JetBrains Mono" pitchFamily="49" charset="0"/>
                <a:ea typeface="JetBrains Mono" pitchFamily="49" charset="-122"/>
                <a:cs typeface="JetBrains Mono" pitchFamily="49" charset="-120"/>
              </a:rPr>
              <a:t>epoch 2</a:t>
            </a:r>
            <a:endParaRPr lang="en-US" sz="1200" dirty="0"/>
          </a:p>
        </p:txBody>
      </p:sp>
      <p:sp>
        <p:nvSpPr>
          <p:cNvPr id="28" name="Shape 25"/>
          <p:cNvSpPr/>
          <p:nvPr/>
        </p:nvSpPr>
        <p:spPr>
          <a:xfrm>
            <a:off x="7639050" y="3360142"/>
            <a:ext cx="190500" cy="190500"/>
          </a:xfrm>
          <a:prstGeom prst="roundRect">
            <a:avLst>
              <a:gd name="adj" fmla="val 20000"/>
            </a:avLst>
          </a:prstGeom>
          <a:solidFill>
            <a:srgbClr val="B5530E"/>
          </a:solidFill>
          <a:ln/>
        </p:spPr>
      </p:sp>
      <p:sp>
        <p:nvSpPr>
          <p:cNvPr id="29" name="Shape 26"/>
          <p:cNvSpPr/>
          <p:nvPr/>
        </p:nvSpPr>
        <p:spPr>
          <a:xfrm>
            <a:off x="7880350" y="3360142"/>
            <a:ext cx="190500" cy="190500"/>
          </a:xfrm>
          <a:prstGeom prst="roundRect">
            <a:avLst>
              <a:gd name="adj" fmla="val 20000"/>
            </a:avLst>
          </a:prstGeom>
          <a:solidFill>
            <a:srgbClr val="B5530E"/>
          </a:solidFill>
          <a:ln/>
        </p:spPr>
      </p:sp>
      <p:sp>
        <p:nvSpPr>
          <p:cNvPr id="30" name="Shape 27"/>
          <p:cNvSpPr/>
          <p:nvPr/>
        </p:nvSpPr>
        <p:spPr>
          <a:xfrm>
            <a:off x="8121650" y="3360142"/>
            <a:ext cx="190500" cy="190500"/>
          </a:xfrm>
          <a:prstGeom prst="roundRect">
            <a:avLst>
              <a:gd name="adj" fmla="val 20000"/>
            </a:avLst>
          </a:prstGeom>
          <a:solidFill>
            <a:srgbClr val="B5530E"/>
          </a:solidFill>
          <a:ln/>
        </p:spPr>
      </p:sp>
      <p:sp>
        <p:nvSpPr>
          <p:cNvPr id="31" name="Shape 28"/>
          <p:cNvSpPr/>
          <p:nvPr/>
        </p:nvSpPr>
        <p:spPr>
          <a:xfrm>
            <a:off x="8362950" y="3360142"/>
            <a:ext cx="190500" cy="190500"/>
          </a:xfrm>
          <a:prstGeom prst="roundRect">
            <a:avLst>
              <a:gd name="adj" fmla="val 20000"/>
            </a:avLst>
          </a:prstGeom>
          <a:solidFill>
            <a:srgbClr val="B5530E"/>
          </a:solidFill>
          <a:ln/>
        </p:spPr>
      </p:sp>
      <p:sp>
        <p:nvSpPr>
          <p:cNvPr id="32" name="Shape 29"/>
          <p:cNvSpPr/>
          <p:nvPr/>
        </p:nvSpPr>
        <p:spPr>
          <a:xfrm>
            <a:off x="8604250" y="3360142"/>
            <a:ext cx="190500" cy="190500"/>
          </a:xfrm>
          <a:prstGeom prst="roundRect">
            <a:avLst>
              <a:gd name="adj" fmla="val 20000"/>
            </a:avLst>
          </a:prstGeom>
          <a:solidFill>
            <a:srgbClr val="B5530E"/>
          </a:solidFill>
          <a:ln/>
        </p:spPr>
      </p:sp>
      <p:sp>
        <p:nvSpPr>
          <p:cNvPr id="33" name="Shape 30"/>
          <p:cNvSpPr/>
          <p:nvPr/>
        </p:nvSpPr>
        <p:spPr>
          <a:xfrm>
            <a:off x="8845550" y="3360142"/>
            <a:ext cx="190500" cy="190500"/>
          </a:xfrm>
          <a:prstGeom prst="roundRect">
            <a:avLst>
              <a:gd name="adj" fmla="val 20000"/>
            </a:avLst>
          </a:prstGeom>
          <a:solidFill>
            <a:srgbClr val="B5530E"/>
          </a:solidFill>
          <a:ln/>
        </p:spPr>
      </p:sp>
      <p:sp>
        <p:nvSpPr>
          <p:cNvPr id="34" name="Text 31"/>
          <p:cNvSpPr/>
          <p:nvPr/>
        </p:nvSpPr>
        <p:spPr>
          <a:xfrm>
            <a:off x="9137650" y="3348732"/>
            <a:ext cx="5268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≈6 left</a:t>
            </a:r>
            <a:endParaRPr lang="en-US" sz="1200" dirty="0"/>
          </a:p>
        </p:txBody>
      </p:sp>
      <p:sp>
        <p:nvSpPr>
          <p:cNvPr id="35" name="Text 32"/>
          <p:cNvSpPr/>
          <p:nvPr/>
        </p:nvSpPr>
        <p:spPr>
          <a:xfrm>
            <a:off x="6584950" y="3689052"/>
            <a:ext cx="1003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JetBrains Mono" pitchFamily="49" charset="0"/>
                <a:ea typeface="JetBrains Mono" pitchFamily="49" charset="-122"/>
                <a:cs typeface="JetBrains Mono" pitchFamily="49" charset="-120"/>
              </a:rPr>
              <a:t>epoch 4</a:t>
            </a:r>
            <a:endParaRPr lang="en-US" sz="1200" dirty="0"/>
          </a:p>
        </p:txBody>
      </p:sp>
      <p:sp>
        <p:nvSpPr>
          <p:cNvPr id="36" name="Shape 33"/>
          <p:cNvSpPr/>
          <p:nvPr/>
        </p:nvSpPr>
        <p:spPr>
          <a:xfrm>
            <a:off x="7639050" y="3700463"/>
            <a:ext cx="190500" cy="190500"/>
          </a:xfrm>
          <a:prstGeom prst="roundRect">
            <a:avLst>
              <a:gd name="adj" fmla="val 20000"/>
            </a:avLst>
          </a:prstGeom>
          <a:solidFill>
            <a:srgbClr val="B5530E"/>
          </a:solidFill>
          <a:ln/>
        </p:spPr>
      </p:sp>
      <p:sp>
        <p:nvSpPr>
          <p:cNvPr id="37" name="Shape 34"/>
          <p:cNvSpPr/>
          <p:nvPr/>
        </p:nvSpPr>
        <p:spPr>
          <a:xfrm>
            <a:off x="7880350" y="3700463"/>
            <a:ext cx="190500" cy="190500"/>
          </a:xfrm>
          <a:prstGeom prst="roundRect">
            <a:avLst>
              <a:gd name="adj" fmla="val 20000"/>
            </a:avLst>
          </a:prstGeom>
          <a:solidFill>
            <a:srgbClr val="B5530E"/>
          </a:solidFill>
          <a:ln/>
        </p:spPr>
      </p:sp>
      <p:sp>
        <p:nvSpPr>
          <p:cNvPr id="38" name="Shape 35"/>
          <p:cNvSpPr/>
          <p:nvPr/>
        </p:nvSpPr>
        <p:spPr>
          <a:xfrm>
            <a:off x="8121650" y="3700463"/>
            <a:ext cx="190500" cy="190500"/>
          </a:xfrm>
          <a:prstGeom prst="roundRect">
            <a:avLst>
              <a:gd name="adj" fmla="val 20000"/>
            </a:avLst>
          </a:prstGeom>
          <a:solidFill>
            <a:srgbClr val="B5530E"/>
          </a:solidFill>
          <a:ln/>
        </p:spPr>
      </p:sp>
      <p:sp>
        <p:nvSpPr>
          <p:cNvPr id="39" name="Text 36"/>
          <p:cNvSpPr/>
          <p:nvPr/>
        </p:nvSpPr>
        <p:spPr>
          <a:xfrm>
            <a:off x="8413750" y="3689052"/>
            <a:ext cx="5268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≈3 left</a:t>
            </a:r>
            <a:endParaRPr lang="en-US" sz="1200" dirty="0"/>
          </a:p>
        </p:txBody>
      </p:sp>
      <p:sp>
        <p:nvSpPr>
          <p:cNvPr id="40" name="Text 37"/>
          <p:cNvSpPr/>
          <p:nvPr/>
        </p:nvSpPr>
        <p:spPr>
          <a:xfrm>
            <a:off x="6584950" y="4029373"/>
            <a:ext cx="1003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JetBrains Mono" pitchFamily="49" charset="0"/>
                <a:ea typeface="JetBrains Mono" pitchFamily="49" charset="-122"/>
                <a:cs typeface="JetBrains Mono" pitchFamily="49" charset="-120"/>
              </a:rPr>
              <a:t>epoch 8</a:t>
            </a:r>
            <a:endParaRPr lang="en-US" sz="1200" dirty="0"/>
          </a:p>
        </p:txBody>
      </p:sp>
      <p:sp>
        <p:nvSpPr>
          <p:cNvPr id="41" name="Shape 38"/>
          <p:cNvSpPr/>
          <p:nvPr/>
        </p:nvSpPr>
        <p:spPr>
          <a:xfrm>
            <a:off x="7639050" y="4040783"/>
            <a:ext cx="190500" cy="190500"/>
          </a:xfrm>
          <a:prstGeom prst="roundRect">
            <a:avLst>
              <a:gd name="adj" fmla="val 20000"/>
            </a:avLst>
          </a:prstGeom>
          <a:solidFill>
            <a:srgbClr val="B5530E"/>
          </a:solidFill>
          <a:ln/>
        </p:spPr>
      </p:sp>
      <p:sp>
        <p:nvSpPr>
          <p:cNvPr id="42" name="Shape 39"/>
          <p:cNvSpPr/>
          <p:nvPr/>
        </p:nvSpPr>
        <p:spPr>
          <a:xfrm>
            <a:off x="7880350" y="4040783"/>
            <a:ext cx="190500" cy="190500"/>
          </a:xfrm>
          <a:prstGeom prst="roundRect">
            <a:avLst>
              <a:gd name="adj" fmla="val 20000"/>
            </a:avLst>
          </a:prstGeom>
          <a:solidFill>
            <a:srgbClr val="B5530E"/>
          </a:solidFill>
          <a:ln/>
        </p:spPr>
      </p:sp>
      <p:sp>
        <p:nvSpPr>
          <p:cNvPr id="43" name="Text 40"/>
          <p:cNvSpPr/>
          <p:nvPr/>
        </p:nvSpPr>
        <p:spPr>
          <a:xfrm>
            <a:off x="8172450" y="4029373"/>
            <a:ext cx="11481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best run to 10</a:t>
            </a:r>
            <a:endParaRPr lang="en-US" sz="1200" dirty="0"/>
          </a:p>
        </p:txBody>
      </p:sp>
      <p:sp>
        <p:nvSpPr>
          <p:cNvPr id="44" name="Text 41"/>
          <p:cNvSpPr/>
          <p:nvPr/>
        </p:nvSpPr>
        <p:spPr>
          <a:xfrm>
            <a:off x="6584950" y="4369693"/>
            <a:ext cx="472224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Counts are approximate: ASHA is asynchronous, so trials are judged as they arrive.</a:t>
            </a:r>
            <a:endParaRPr lang="en-US" sz="1200" dirty="0"/>
          </a:p>
        </p:txBody>
      </p:sp>
      <p:sp>
        <p:nvSpPr>
          <p:cNvPr id="45" name="Text 4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Slurm + Ray for AI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A5568"/>
                </a:solidFill>
                <a:latin typeface="JetBrains Mono" pitchFamily="49" charset="0"/>
                <a:ea typeface="JetBrains Mono" pitchFamily="49" charset="-122"/>
                <a:cs typeface="JetBrains Mono" pitchFamily="49" charset="-120"/>
              </a:rPr>
              <a:t>04 · OUR DEMO</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11B2B"/>
                </a:solidFill>
                <a:latin typeface="IBM Plex Sans" pitchFamily="34" charset="0"/>
                <a:ea typeface="IBM Plex Sans" pitchFamily="34" charset="-122"/>
                <a:cs typeface="IBM Plex Sans" pitchFamily="34" charset="-120"/>
              </a:rPr>
              <a:t>Run it yourself</a:t>
            </a:r>
            <a:endParaRPr lang="en-US" sz="3200" dirty="0"/>
          </a:p>
        </p:txBody>
      </p:sp>
      <p:sp>
        <p:nvSpPr>
          <p:cNvPr id="4" name="Shape 2"/>
          <p:cNvSpPr/>
          <p:nvPr/>
        </p:nvSpPr>
        <p:spPr>
          <a:xfrm>
            <a:off x="812800" y="1854101"/>
            <a:ext cx="10566400" cy="2623542"/>
          </a:xfrm>
          <a:prstGeom prst="roundRect">
            <a:avLst>
              <a:gd name="adj" fmla="val 3873"/>
            </a:avLst>
          </a:prstGeom>
          <a:solidFill>
            <a:srgbClr val="111B2B"/>
          </a:solidFill>
          <a:ln/>
        </p:spPr>
      </p:sp>
      <p:sp>
        <p:nvSpPr>
          <p:cNvPr id="5" name="Text 3"/>
          <p:cNvSpPr/>
          <p:nvPr/>
        </p:nvSpPr>
        <p:spPr>
          <a:xfrm>
            <a:off x="1041400" y="2019201"/>
            <a:ext cx="627888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9E4D8"/>
                </a:solidFill>
                <a:latin typeface="JetBrains Mono" pitchFamily="49" charset="0"/>
                <a:ea typeface="JetBrains Mono" pitchFamily="49" charset="-122"/>
                <a:cs typeface="JetBrains Mono" pitchFamily="49" charset="-120"/>
              </a:rPr>
              <a:t>docker compose build</a:t>
            </a:r>
            <a:endParaRPr lang="en-US" sz="1200" dirty="0"/>
          </a:p>
        </p:txBody>
      </p:sp>
      <p:sp>
        <p:nvSpPr>
          <p:cNvPr id="6" name="Text 4"/>
          <p:cNvSpPr/>
          <p:nvPr/>
        </p:nvSpPr>
        <p:spPr>
          <a:xfrm>
            <a:off x="7340600" y="2019201"/>
            <a:ext cx="3924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4D6"/>
                </a:solidFill>
                <a:latin typeface="IBM Plex Sans" pitchFamily="34" charset="0"/>
                <a:ea typeface="IBM Plex Sans" pitchFamily="34" charset="-122"/>
                <a:cs typeface="IBM Plex Sans" pitchFamily="34" charset="-120"/>
              </a:rPr>
              <a:t>One image for all three nodes</a:t>
            </a:r>
            <a:endParaRPr lang="en-US" sz="1200" dirty="0"/>
          </a:p>
        </p:txBody>
      </p:sp>
      <p:sp>
        <p:nvSpPr>
          <p:cNvPr id="7" name="Shape 5"/>
          <p:cNvSpPr/>
          <p:nvPr/>
        </p:nvSpPr>
        <p:spPr>
          <a:xfrm>
            <a:off x="1041400" y="2299196"/>
            <a:ext cx="10109200" cy="0"/>
          </a:xfrm>
          <a:prstGeom prst="line">
            <a:avLst/>
          </a:prstGeom>
          <a:noFill/>
          <a:ln w="6350">
            <a:solidFill>
              <a:srgbClr val="2A3A52"/>
            </a:solidFill>
            <a:prstDash val="solid"/>
          </a:ln>
        </p:spPr>
      </p:sp>
      <p:sp>
        <p:nvSpPr>
          <p:cNvPr id="8" name="Text 6"/>
          <p:cNvSpPr/>
          <p:nvPr/>
        </p:nvSpPr>
        <p:spPr>
          <a:xfrm>
            <a:off x="1041400" y="2365871"/>
            <a:ext cx="627888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9E4D8"/>
                </a:solidFill>
                <a:latin typeface="JetBrains Mono" pitchFamily="49" charset="0"/>
                <a:ea typeface="JetBrains Mono" pitchFamily="49" charset="-122"/>
                <a:cs typeface="JetBrains Mono" pitchFamily="49" charset="-120"/>
              </a:rPr>
              <a:t>docker compose up -d</a:t>
            </a:r>
            <a:endParaRPr lang="en-US" sz="1200" dirty="0"/>
          </a:p>
        </p:txBody>
      </p:sp>
      <p:sp>
        <p:nvSpPr>
          <p:cNvPr id="9" name="Text 7"/>
          <p:cNvSpPr/>
          <p:nvPr/>
        </p:nvSpPr>
        <p:spPr>
          <a:xfrm>
            <a:off x="7340600" y="2365871"/>
            <a:ext cx="3924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4D6"/>
                </a:solidFill>
                <a:latin typeface="IBM Plex Sans" pitchFamily="34" charset="0"/>
                <a:ea typeface="IBM Plex Sans" pitchFamily="34" charset="-122"/>
                <a:cs typeface="IBM Plex Sans" pitchFamily="34" charset="-120"/>
              </a:rPr>
              <a:t>controller, worker1, worker2 start</a:t>
            </a:r>
            <a:endParaRPr lang="en-US" sz="1200" dirty="0"/>
          </a:p>
        </p:txBody>
      </p:sp>
      <p:sp>
        <p:nvSpPr>
          <p:cNvPr id="10" name="Shape 8"/>
          <p:cNvSpPr/>
          <p:nvPr/>
        </p:nvSpPr>
        <p:spPr>
          <a:xfrm>
            <a:off x="1041400" y="2645866"/>
            <a:ext cx="10109200" cy="0"/>
          </a:xfrm>
          <a:prstGeom prst="line">
            <a:avLst/>
          </a:prstGeom>
          <a:noFill/>
          <a:ln w="6350">
            <a:solidFill>
              <a:srgbClr val="2A3A52"/>
            </a:solidFill>
            <a:prstDash val="solid"/>
          </a:ln>
        </p:spPr>
      </p:sp>
      <p:sp>
        <p:nvSpPr>
          <p:cNvPr id="11" name="Text 9"/>
          <p:cNvSpPr/>
          <p:nvPr/>
        </p:nvSpPr>
        <p:spPr>
          <a:xfrm>
            <a:off x="1041400" y="2712541"/>
            <a:ext cx="627888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9E4D8"/>
                </a:solidFill>
                <a:latin typeface="JetBrains Mono" pitchFamily="49" charset="0"/>
                <a:ea typeface="JetBrains Mono" pitchFamily="49" charset="-122"/>
                <a:cs typeface="JetBrains Mono" pitchFamily="49" charset="-120"/>
              </a:rPr>
              <a:t>docker exec controller </a:t>
            </a:r>
            <a:r>
              <a:rPr lang="en-US" sz="1200" dirty="0">
                <a:solidFill>
                  <a:srgbClr val="8AB8EC"/>
                </a:solidFill>
                <a:latin typeface="JetBrains Mono" pitchFamily="49" charset="0"/>
                <a:ea typeface="JetBrains Mono" pitchFamily="49" charset="-122"/>
                <a:cs typeface="JetBrains Mono" pitchFamily="49" charset="-120"/>
              </a:rPr>
              <a:t>sinfo</a:t>
            </a:r>
            <a:endParaRPr lang="en-US" sz="1200" dirty="0"/>
          </a:p>
        </p:txBody>
      </p:sp>
      <p:sp>
        <p:nvSpPr>
          <p:cNvPr id="12" name="Text 10"/>
          <p:cNvSpPr/>
          <p:nvPr/>
        </p:nvSpPr>
        <p:spPr>
          <a:xfrm>
            <a:off x="7340600" y="2712541"/>
            <a:ext cx="3924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4D6"/>
                </a:solidFill>
                <a:latin typeface="IBM Plex Sans" pitchFamily="34" charset="0"/>
                <a:ea typeface="IBM Plex Sans" pitchFamily="34" charset="-122"/>
                <a:cs typeface="IBM Plex Sans" pitchFamily="34" charset="-120"/>
              </a:rPr>
              <a:t>compute: 2 nodes idle</a:t>
            </a:r>
            <a:endParaRPr lang="en-US" sz="1200" dirty="0"/>
          </a:p>
        </p:txBody>
      </p:sp>
      <p:sp>
        <p:nvSpPr>
          <p:cNvPr id="13" name="Shape 11"/>
          <p:cNvSpPr/>
          <p:nvPr/>
        </p:nvSpPr>
        <p:spPr>
          <a:xfrm>
            <a:off x="1041400" y="2992537"/>
            <a:ext cx="10109200" cy="0"/>
          </a:xfrm>
          <a:prstGeom prst="line">
            <a:avLst/>
          </a:prstGeom>
          <a:noFill/>
          <a:ln w="6350">
            <a:solidFill>
              <a:srgbClr val="2A3A52"/>
            </a:solidFill>
            <a:prstDash val="solid"/>
          </a:ln>
        </p:spPr>
      </p:sp>
      <p:sp>
        <p:nvSpPr>
          <p:cNvPr id="14" name="Text 12"/>
          <p:cNvSpPr/>
          <p:nvPr/>
        </p:nvSpPr>
        <p:spPr>
          <a:xfrm>
            <a:off x="1041400" y="3059212"/>
            <a:ext cx="627888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9E4D8"/>
                </a:solidFill>
                <a:latin typeface="JetBrains Mono" pitchFamily="49" charset="0"/>
                <a:ea typeface="JetBrains Mono" pitchFamily="49" charset="-122"/>
                <a:cs typeface="JetBrains Mono" pitchFamily="49" charset="-120"/>
              </a:rPr>
              <a:t>docker exec controller </a:t>
            </a:r>
            <a:r>
              <a:rPr lang="en-US" sz="1200" dirty="0">
                <a:solidFill>
                  <a:srgbClr val="8AB8EC"/>
                </a:solidFill>
                <a:latin typeface="JetBrains Mono" pitchFamily="49" charset="0"/>
                <a:ea typeface="JetBrains Mono" pitchFamily="49" charset="-122"/>
                <a:cs typeface="JetBrains Mono" pitchFamily="49" charset="-120"/>
              </a:rPr>
              <a:t>sbatch</a:t>
            </a:r>
            <a:r>
              <a:rPr lang="en-US" sz="1200" dirty="0">
                <a:solidFill>
                  <a:srgbClr val="E9E4D8"/>
                </a:solidFill>
                <a:latin typeface="JetBrains Mono" pitchFamily="49" charset="0"/>
                <a:ea typeface="JetBrains Mono" pitchFamily="49" charset="-122"/>
                <a:cs typeface="JetBrains Mono" pitchFamily="49" charset="-120"/>
              </a:rPr>
              <a:t> /app/scripts/submit_ray_job.sh</a:t>
            </a:r>
            <a:endParaRPr lang="en-US" sz="1200" dirty="0"/>
          </a:p>
        </p:txBody>
      </p:sp>
      <p:sp>
        <p:nvSpPr>
          <p:cNvPr id="15" name="Text 13"/>
          <p:cNvSpPr/>
          <p:nvPr/>
        </p:nvSpPr>
        <p:spPr>
          <a:xfrm>
            <a:off x="7340600" y="3059212"/>
            <a:ext cx="3924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4D6"/>
                </a:solidFill>
                <a:latin typeface="IBM Plex Sans" pitchFamily="34" charset="0"/>
                <a:ea typeface="IBM Plex Sans" pitchFamily="34" charset="-122"/>
                <a:cs typeface="IBM Plex Sans" pitchFamily="34" charset="-120"/>
              </a:rPr>
              <a:t>“Submitted batch job 1”</a:t>
            </a:r>
            <a:endParaRPr lang="en-US" sz="1200" dirty="0"/>
          </a:p>
        </p:txBody>
      </p:sp>
      <p:sp>
        <p:nvSpPr>
          <p:cNvPr id="16" name="Shape 14"/>
          <p:cNvSpPr/>
          <p:nvPr/>
        </p:nvSpPr>
        <p:spPr>
          <a:xfrm>
            <a:off x="1041400" y="3339207"/>
            <a:ext cx="10109200" cy="0"/>
          </a:xfrm>
          <a:prstGeom prst="line">
            <a:avLst/>
          </a:prstGeom>
          <a:noFill/>
          <a:ln w="6350">
            <a:solidFill>
              <a:srgbClr val="2A3A52"/>
            </a:solidFill>
            <a:prstDash val="solid"/>
          </a:ln>
        </p:spPr>
      </p:sp>
      <p:sp>
        <p:nvSpPr>
          <p:cNvPr id="17" name="Text 15"/>
          <p:cNvSpPr/>
          <p:nvPr/>
        </p:nvSpPr>
        <p:spPr>
          <a:xfrm>
            <a:off x="1041400" y="3405882"/>
            <a:ext cx="627888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9E4D8"/>
                </a:solidFill>
                <a:latin typeface="JetBrains Mono" pitchFamily="49" charset="0"/>
                <a:ea typeface="JetBrains Mono" pitchFamily="49" charset="-122"/>
                <a:cs typeface="JetBrains Mono" pitchFamily="49" charset="-120"/>
              </a:rPr>
              <a:t>docker exec controller </a:t>
            </a:r>
            <a:r>
              <a:rPr lang="en-US" sz="1200" dirty="0">
                <a:solidFill>
                  <a:srgbClr val="8AB8EC"/>
                </a:solidFill>
                <a:latin typeface="JetBrains Mono" pitchFamily="49" charset="0"/>
                <a:ea typeface="JetBrains Mono" pitchFamily="49" charset="-122"/>
                <a:cs typeface="JetBrains Mono" pitchFamily="49" charset="-120"/>
              </a:rPr>
              <a:t>squeue</a:t>
            </a:r>
            <a:endParaRPr lang="en-US" sz="1200" dirty="0"/>
          </a:p>
        </p:txBody>
      </p:sp>
      <p:sp>
        <p:nvSpPr>
          <p:cNvPr id="18" name="Text 16"/>
          <p:cNvSpPr/>
          <p:nvPr/>
        </p:nvSpPr>
        <p:spPr>
          <a:xfrm>
            <a:off x="7340600" y="3405882"/>
            <a:ext cx="3924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4D6"/>
                </a:solidFill>
                <a:latin typeface="IBM Plex Sans" pitchFamily="34" charset="0"/>
                <a:ea typeface="IBM Plex Sans" pitchFamily="34" charset="-122"/>
                <a:cs typeface="IBM Plex Sans" pitchFamily="34" charset="-120"/>
              </a:rPr>
              <a:t>ray-tune-demo in state R</a:t>
            </a:r>
            <a:endParaRPr lang="en-US" sz="1200" dirty="0"/>
          </a:p>
        </p:txBody>
      </p:sp>
      <p:sp>
        <p:nvSpPr>
          <p:cNvPr id="19" name="Shape 17"/>
          <p:cNvSpPr/>
          <p:nvPr/>
        </p:nvSpPr>
        <p:spPr>
          <a:xfrm>
            <a:off x="1041400" y="3685877"/>
            <a:ext cx="10109200" cy="0"/>
          </a:xfrm>
          <a:prstGeom prst="line">
            <a:avLst/>
          </a:prstGeom>
          <a:noFill/>
          <a:ln w="6350">
            <a:solidFill>
              <a:srgbClr val="2A3A52"/>
            </a:solidFill>
            <a:prstDash val="solid"/>
          </a:ln>
        </p:spPr>
      </p:sp>
      <p:sp>
        <p:nvSpPr>
          <p:cNvPr id="20" name="Text 18"/>
          <p:cNvSpPr/>
          <p:nvPr/>
        </p:nvSpPr>
        <p:spPr>
          <a:xfrm>
            <a:off x="1041400" y="3752552"/>
            <a:ext cx="627888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9E4D8"/>
                </a:solidFill>
                <a:latin typeface="JetBrains Mono" pitchFamily="49" charset="0"/>
                <a:ea typeface="JetBrains Mono" pitchFamily="49" charset="-122"/>
                <a:cs typeface="JetBrains Mono" pitchFamily="49" charset="-120"/>
              </a:rPr>
              <a:t>docker exec controller tail -f /shared/logs/ray-tune-1.out</a:t>
            </a:r>
            <a:endParaRPr lang="en-US" sz="1200" dirty="0"/>
          </a:p>
        </p:txBody>
      </p:sp>
      <p:sp>
        <p:nvSpPr>
          <p:cNvPr id="21" name="Text 19"/>
          <p:cNvSpPr/>
          <p:nvPr/>
        </p:nvSpPr>
        <p:spPr>
          <a:xfrm>
            <a:off x="7340600" y="3752552"/>
            <a:ext cx="3924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4D6"/>
                </a:solidFill>
                <a:latin typeface="IBM Plex Sans" pitchFamily="34" charset="0"/>
                <a:ea typeface="IBM Plex Sans" pitchFamily="34" charset="-122"/>
                <a:cs typeface="IBM Plex Sans" pitchFamily="34" charset="-120"/>
              </a:rPr>
              <a:t>Trial table, then best config</a:t>
            </a:r>
            <a:endParaRPr lang="en-US" sz="1200" dirty="0"/>
          </a:p>
        </p:txBody>
      </p:sp>
      <p:sp>
        <p:nvSpPr>
          <p:cNvPr id="22" name="Shape 20"/>
          <p:cNvSpPr/>
          <p:nvPr/>
        </p:nvSpPr>
        <p:spPr>
          <a:xfrm>
            <a:off x="1041400" y="4032548"/>
            <a:ext cx="10109200" cy="0"/>
          </a:xfrm>
          <a:prstGeom prst="line">
            <a:avLst/>
          </a:prstGeom>
          <a:noFill/>
          <a:ln w="6350">
            <a:solidFill>
              <a:srgbClr val="2A3A52"/>
            </a:solidFill>
            <a:prstDash val="solid"/>
          </a:ln>
        </p:spPr>
      </p:sp>
      <p:sp>
        <p:nvSpPr>
          <p:cNvPr id="23" name="Text 21"/>
          <p:cNvSpPr/>
          <p:nvPr/>
        </p:nvSpPr>
        <p:spPr>
          <a:xfrm>
            <a:off x="1041400" y="4099223"/>
            <a:ext cx="627888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9E4D8"/>
                </a:solidFill>
                <a:latin typeface="JetBrains Mono" pitchFamily="49" charset="0"/>
                <a:ea typeface="JetBrains Mono" pitchFamily="49" charset="-122"/>
                <a:cs typeface="JetBrains Mono" pitchFamily="49" charset="-120"/>
              </a:rPr>
              <a:t>docker compose down -v</a:t>
            </a:r>
            <a:endParaRPr lang="en-US" sz="1200" dirty="0"/>
          </a:p>
        </p:txBody>
      </p:sp>
      <p:sp>
        <p:nvSpPr>
          <p:cNvPr id="24" name="Text 22"/>
          <p:cNvSpPr/>
          <p:nvPr/>
        </p:nvSpPr>
        <p:spPr>
          <a:xfrm>
            <a:off x="7340600" y="4099223"/>
            <a:ext cx="3924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4D6"/>
                </a:solidFill>
                <a:latin typeface="IBM Plex Sans" pitchFamily="34" charset="0"/>
                <a:ea typeface="IBM Plex Sans" pitchFamily="34" charset="-122"/>
                <a:cs typeface="IBM Plex Sans" pitchFamily="34" charset="-120"/>
              </a:rPr>
              <a:t>Removes containers and /shared</a:t>
            </a:r>
            <a:endParaRPr lang="en-US" sz="1200" dirty="0"/>
          </a:p>
        </p:txBody>
      </p:sp>
      <p:sp>
        <p:nvSpPr>
          <p:cNvPr id="25" name="Text 23"/>
          <p:cNvSpPr/>
          <p:nvPr/>
        </p:nvSpPr>
        <p:spPr>
          <a:xfrm>
            <a:off x="812800" y="4782443"/>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Needs only Docker and Docker Compose. Every Slurm command runs inside the </a:t>
            </a:r>
            <a:r>
              <a:rPr lang="en-US" sz="1500" b="1" dirty="0">
                <a:solidFill>
                  <a:srgbClr val="111B2B"/>
                </a:solidFill>
                <a:latin typeface="IBM Plex Sans" pitchFamily="34" charset="0"/>
                <a:ea typeface="IBM Plex Sans" pitchFamily="34" charset="-122"/>
                <a:cs typeface="IBM Plex Sans" pitchFamily="34" charset="-120"/>
              </a:rPr>
              <a:t>controller</a:t>
            </a:r>
            <a:r>
              <a:rPr lang="en-US" sz="1500" dirty="0">
                <a:solidFill>
                  <a:srgbClr val="4A5568"/>
                </a:solidFill>
                <a:latin typeface="IBM Plex Sans" pitchFamily="34" charset="0"/>
                <a:ea typeface="IBM Plex Sans" pitchFamily="34" charset="-122"/>
                <a:cs typeface="IBM Plex Sans" pitchFamily="34" charset="-120"/>
              </a:rPr>
              <a:t> container.</a:t>
            </a:r>
            <a:endParaRPr lang="en-US" sz="1500" dirty="0"/>
          </a:p>
        </p:txBody>
      </p:sp>
      <p:sp>
        <p:nvSpPr>
          <p:cNvPr id="26" name="Text 2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Slurm + Ray for AI · 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A5568"/>
                </a:solidFill>
                <a:latin typeface="JetBrains Mono" pitchFamily="49" charset="0"/>
                <a:ea typeface="JetBrains Mono" pitchFamily="49" charset="-122"/>
                <a:cs typeface="JetBrains Mono" pitchFamily="49" charset="-120"/>
              </a:rPr>
              <a:t>04 · OUR DEMO · LLM-LORA BRANCH</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11B2B"/>
                </a:solidFill>
                <a:latin typeface="IBM Plex Sans" pitchFamily="34" charset="0"/>
                <a:ea typeface="IBM Plex Sans" pitchFamily="34" charset="-122"/>
                <a:cs typeface="IBM Plex Sans" pitchFamily="34" charset="-120"/>
              </a:rPr>
              <a:t>Already done: LLM fine-tuning on CPU</a:t>
            </a:r>
            <a:endParaRPr lang="en-US" sz="3200" dirty="0"/>
          </a:p>
        </p:txBody>
      </p:sp>
      <p:sp>
        <p:nvSpPr>
          <p:cNvPr id="4" name="Shape 2"/>
          <p:cNvSpPr/>
          <p:nvPr/>
        </p:nvSpPr>
        <p:spPr>
          <a:xfrm>
            <a:off x="815975" y="1857276"/>
            <a:ext cx="2520950" cy="996851"/>
          </a:xfrm>
          <a:prstGeom prst="roundRect">
            <a:avLst>
              <a:gd name="adj" fmla="val 9874"/>
            </a:avLst>
          </a:prstGeom>
          <a:solidFill>
            <a:srgbClr val="FCFBF7"/>
          </a:solidFill>
          <a:ln w="6350">
            <a:solidFill>
              <a:srgbClr val="DCD6CA"/>
            </a:solidFill>
            <a:prstDash val="solid"/>
          </a:ln>
        </p:spPr>
      </p:sp>
      <p:sp>
        <p:nvSpPr>
          <p:cNvPr id="5" name="Text 3"/>
          <p:cNvSpPr/>
          <p:nvPr/>
        </p:nvSpPr>
        <p:spPr>
          <a:xfrm>
            <a:off x="996950" y="2012851"/>
            <a:ext cx="2223770"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B5530E"/>
                </a:solidFill>
                <a:latin typeface="IBM Plex Sans" pitchFamily="34" charset="0"/>
                <a:ea typeface="IBM Plex Sans" pitchFamily="34" charset="-122"/>
                <a:cs typeface="IBM Plex Sans" pitchFamily="34" charset="-120"/>
              </a:rPr>
              <a:t>82M</a:t>
            </a:r>
            <a:endParaRPr lang="en-US" sz="3200" dirty="0"/>
          </a:p>
        </p:txBody>
      </p:sp>
      <p:sp>
        <p:nvSpPr>
          <p:cNvPr id="6" name="Text 4"/>
          <p:cNvSpPr/>
          <p:nvPr/>
        </p:nvSpPr>
        <p:spPr>
          <a:xfrm>
            <a:off x="996950" y="2485231"/>
            <a:ext cx="22237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distilgpt2 parameters</a:t>
            </a:r>
            <a:endParaRPr lang="en-US" sz="1200" dirty="0"/>
          </a:p>
        </p:txBody>
      </p:sp>
      <p:sp>
        <p:nvSpPr>
          <p:cNvPr id="7" name="Shape 5"/>
          <p:cNvSpPr/>
          <p:nvPr/>
        </p:nvSpPr>
        <p:spPr>
          <a:xfrm>
            <a:off x="3495675" y="1857276"/>
            <a:ext cx="2520950" cy="996851"/>
          </a:xfrm>
          <a:prstGeom prst="roundRect">
            <a:avLst>
              <a:gd name="adj" fmla="val 9874"/>
            </a:avLst>
          </a:prstGeom>
          <a:solidFill>
            <a:srgbClr val="FCFBF7"/>
          </a:solidFill>
          <a:ln w="6350">
            <a:solidFill>
              <a:srgbClr val="DCD6CA"/>
            </a:solidFill>
            <a:prstDash val="solid"/>
          </a:ln>
        </p:spPr>
      </p:sp>
      <p:sp>
        <p:nvSpPr>
          <p:cNvPr id="8" name="Text 6"/>
          <p:cNvSpPr/>
          <p:nvPr/>
        </p:nvSpPr>
        <p:spPr>
          <a:xfrm>
            <a:off x="3676650" y="2012851"/>
            <a:ext cx="2223770"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B5530E"/>
                </a:solidFill>
                <a:latin typeface="IBM Plex Sans" pitchFamily="34" charset="0"/>
                <a:ea typeface="IBM Plex Sans" pitchFamily="34" charset="-122"/>
                <a:cs typeface="IBM Plex Sans" pitchFamily="34" charset="-120"/>
              </a:rPr>
              <a:t>0.49%</a:t>
            </a:r>
            <a:endParaRPr lang="en-US" sz="3200" dirty="0"/>
          </a:p>
        </p:txBody>
      </p:sp>
      <p:sp>
        <p:nvSpPr>
          <p:cNvPr id="9" name="Text 7"/>
          <p:cNvSpPr/>
          <p:nvPr/>
        </p:nvSpPr>
        <p:spPr>
          <a:xfrm>
            <a:off x="3676650" y="2485231"/>
            <a:ext cx="22237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of them trained, via LoRA</a:t>
            </a:r>
            <a:endParaRPr lang="en-US" sz="1200" dirty="0"/>
          </a:p>
        </p:txBody>
      </p:sp>
      <p:sp>
        <p:nvSpPr>
          <p:cNvPr id="10" name="Shape 8"/>
          <p:cNvSpPr/>
          <p:nvPr/>
        </p:nvSpPr>
        <p:spPr>
          <a:xfrm>
            <a:off x="6175375" y="1857276"/>
            <a:ext cx="2520950" cy="996851"/>
          </a:xfrm>
          <a:prstGeom prst="roundRect">
            <a:avLst>
              <a:gd name="adj" fmla="val 9874"/>
            </a:avLst>
          </a:prstGeom>
          <a:solidFill>
            <a:srgbClr val="FCFBF7"/>
          </a:solidFill>
          <a:ln w="6350">
            <a:solidFill>
              <a:srgbClr val="DCD6CA"/>
            </a:solidFill>
            <a:prstDash val="solid"/>
          </a:ln>
        </p:spPr>
      </p:sp>
      <p:sp>
        <p:nvSpPr>
          <p:cNvPr id="11" name="Text 9"/>
          <p:cNvSpPr/>
          <p:nvPr/>
        </p:nvSpPr>
        <p:spPr>
          <a:xfrm>
            <a:off x="6356350" y="2012851"/>
            <a:ext cx="2223770"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B5530E"/>
                </a:solidFill>
                <a:latin typeface="IBM Plex Sans" pitchFamily="34" charset="0"/>
                <a:ea typeface="IBM Plex Sans" pitchFamily="34" charset="-122"/>
                <a:cs typeface="IBM Plex Sans" pitchFamily="34" charset="-120"/>
              </a:rPr>
              <a:t>8</a:t>
            </a:r>
            <a:endParaRPr lang="en-US" sz="3200" dirty="0"/>
          </a:p>
        </p:txBody>
      </p:sp>
      <p:sp>
        <p:nvSpPr>
          <p:cNvPr id="12" name="Text 10"/>
          <p:cNvSpPr/>
          <p:nvPr/>
        </p:nvSpPr>
        <p:spPr>
          <a:xfrm>
            <a:off x="6356350" y="2485231"/>
            <a:ext cx="22237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trials, 2 CPUs each</a:t>
            </a:r>
            <a:endParaRPr lang="en-US" sz="1200" dirty="0"/>
          </a:p>
        </p:txBody>
      </p:sp>
      <p:sp>
        <p:nvSpPr>
          <p:cNvPr id="13" name="Shape 11"/>
          <p:cNvSpPr/>
          <p:nvPr/>
        </p:nvSpPr>
        <p:spPr>
          <a:xfrm>
            <a:off x="8855075" y="1857276"/>
            <a:ext cx="2520950" cy="996851"/>
          </a:xfrm>
          <a:prstGeom prst="roundRect">
            <a:avLst>
              <a:gd name="adj" fmla="val 9874"/>
            </a:avLst>
          </a:prstGeom>
          <a:solidFill>
            <a:srgbClr val="FCFBF7"/>
          </a:solidFill>
          <a:ln w="6350">
            <a:solidFill>
              <a:srgbClr val="DCD6CA"/>
            </a:solidFill>
            <a:prstDash val="solid"/>
          </a:ln>
        </p:spPr>
      </p:sp>
      <p:sp>
        <p:nvSpPr>
          <p:cNvPr id="14" name="Text 12"/>
          <p:cNvSpPr/>
          <p:nvPr/>
        </p:nvSpPr>
        <p:spPr>
          <a:xfrm>
            <a:off x="9036050" y="2012851"/>
            <a:ext cx="2223770"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B5530E"/>
                </a:solidFill>
                <a:latin typeface="IBM Plex Sans" pitchFamily="34" charset="0"/>
                <a:ea typeface="IBM Plex Sans" pitchFamily="34" charset="-122"/>
                <a:cs typeface="IBM Plex Sans" pitchFamily="34" charset="-120"/>
              </a:rPr>
              <a:t>≈20</a:t>
            </a:r>
            <a:endParaRPr lang="en-US" sz="3200" dirty="0"/>
          </a:p>
        </p:txBody>
      </p:sp>
      <p:sp>
        <p:nvSpPr>
          <p:cNvPr id="15" name="Text 13"/>
          <p:cNvSpPr/>
          <p:nvPr/>
        </p:nvSpPr>
        <p:spPr>
          <a:xfrm>
            <a:off x="9036050" y="2485231"/>
            <a:ext cx="22237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best perplexity, ≈25 min</a:t>
            </a:r>
            <a:endParaRPr lang="en-US" sz="1200" dirty="0"/>
          </a:p>
        </p:txBody>
      </p:sp>
      <p:sp>
        <p:nvSpPr>
          <p:cNvPr id="16" name="Text 14"/>
          <p:cNvSpPr/>
          <p:nvPr/>
        </p:nvSpPr>
        <p:spPr>
          <a:xfrm>
            <a:off x="812800" y="3162102"/>
            <a:ext cx="5278184"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11B2B"/>
                </a:solidFill>
                <a:latin typeface="IBM Plex Sans" pitchFamily="34" charset="0"/>
                <a:ea typeface="IBM Plex Sans" pitchFamily="34" charset="-122"/>
                <a:cs typeface="IBM Plex Sans" pitchFamily="34" charset="-120"/>
              </a:rPr>
              <a:t>What LoRA does</a:t>
            </a:r>
            <a:endParaRPr lang="en-US" sz="1600" dirty="0"/>
          </a:p>
        </p:txBody>
      </p:sp>
      <p:sp>
        <p:nvSpPr>
          <p:cNvPr id="17" name="Text 15"/>
          <p:cNvSpPr/>
          <p:nvPr/>
        </p:nvSpPr>
        <p:spPr>
          <a:xfrm>
            <a:off x="812800" y="3527822"/>
            <a:ext cx="527818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Freeze the model. Add small low-rank “adapter” matrices to the attention layers (c_attn, c_proj) and train only those.</a:t>
            </a:r>
            <a:endParaRPr lang="en-US" sz="1500" dirty="0"/>
          </a:p>
        </p:txBody>
      </p:sp>
      <p:sp>
        <p:nvSpPr>
          <p:cNvPr id="18" name="Text 16"/>
          <p:cNvSpPr/>
          <p:nvPr/>
        </p:nvSpPr>
        <p:spPr>
          <a:xfrm>
            <a:off x="812800" y="4162822"/>
            <a:ext cx="527818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Data: wikitext-2. ASHA judges after every epoch (3 max).</a:t>
            </a:r>
            <a:endParaRPr lang="en-US" sz="1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254750" y="3174802"/>
          <a:ext cx="5124450" cy="1995487"/>
        </p:xfrm>
        <a:graphic>
          <a:graphicData uri="http://schemas.openxmlformats.org/drawingml/2006/table">
            <a:tbl>
              <a:tblPr/>
              <a:tblGrid>
                <a:gridCol w="2306003"/>
                <a:gridCol w="2818448"/>
              </a:tblGrid>
              <a:tr h="332581">
                <a:tc>
                  <a:txBody>
                    <a:bodyPr/>
                    <a:lstStyle/>
                    <a:p>
                      <a:pPr indent="0" marL="0">
                        <a:lnSpc>
                          <a:spcPts val="1680"/>
                        </a:lnSpc>
                        <a:buNone/>
                      </a:pPr>
                      <a:r>
                        <a:rPr lang="en-US" sz="1200" b="1" dirty="0">
                          <a:solidFill>
                            <a:srgbClr val="111B2B"/>
                          </a:solidFill>
                          <a:latin typeface="IBM Plex Sans" pitchFamily="34" charset="0"/>
                          <a:ea typeface="IBM Plex Sans" pitchFamily="34" charset="-122"/>
                          <a:cs typeface="IBM Plex Sans" pitchFamily="34" charset="-120"/>
                        </a:rPr>
                        <a:t>Searched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B8AD"/>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B8AD"/>
                      </a:solidFill>
                      <a:prstDash val="solid"/>
                      <a:round/>
                      <a:headEnd type="none" w="med" len="med"/>
                      <a:tailEnd type="none" w="med" len="med"/>
                    </a:lnB>
                    <a:solidFill>
                      <a:srgbClr val="F6E6D9"/>
                    </a:solidFill>
                  </a:tcPr>
                </a:tc>
                <a:tc>
                  <a:txBody>
                    <a:bodyPr/>
                    <a:lstStyle/>
                    <a:p>
                      <a:pPr indent="0" marL="0">
                        <a:lnSpc>
                          <a:spcPts val="1680"/>
                        </a:lnSpc>
                        <a:buNone/>
                      </a:pPr>
                      <a:r>
                        <a:rPr lang="en-US" sz="1200" b="1" dirty="0">
                          <a:solidFill>
                            <a:srgbClr val="111B2B"/>
                          </a:solidFill>
                          <a:latin typeface="IBM Plex Sans" pitchFamily="34" charset="0"/>
                          <a:ea typeface="IBM Plex Sans" pitchFamily="34" charset="-122"/>
                          <a:cs typeface="IBM Plex Sans" pitchFamily="34" charset="-120"/>
                        </a:rPr>
                        <a:t>Values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B8AD"/>
                      </a:solidFill>
                      <a:prstDash val="solid"/>
                      <a:round/>
                      <a:headEnd type="none" w="med" len="med"/>
                      <a:tailEnd type="none" w="med" len="med"/>
                    </a:lnL>
                    <a:lnR w="12700" cap="flat" cmpd="sng" algn="ctr">
                      <a:solidFill>
                        <a:srgbClr val="C4B8AD"/>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B8AD"/>
                      </a:solidFill>
                      <a:prstDash val="solid"/>
                      <a:round/>
                      <a:headEnd type="none" w="med" len="med"/>
                      <a:tailEnd type="none" w="med" len="med"/>
                    </a:lnB>
                    <a:solidFill>
                      <a:srgbClr val="F6E6D9"/>
                    </a:solidFill>
                  </a:tcPr>
                </a:tc>
              </a:tr>
              <a:tr h="332581">
                <a:tc>
                  <a:txBody>
                    <a:bodyPr/>
                    <a:lstStyle/>
                    <a:p>
                      <a:pPr indent="0" marL="0">
                        <a:lnSpc>
                          <a:spcPts val="1680"/>
                        </a:lnSpc>
                        <a:buNone/>
                      </a:pPr>
                      <a:r>
                        <a:rPr lang="en-US" sz="1200" dirty="0">
                          <a:solidFill>
                            <a:srgbClr val="111B2B"/>
                          </a:solidFill>
                          <a:latin typeface="IBM Plex Sans" pitchFamily="34" charset="0"/>
                          <a:ea typeface="IBM Plex Sans" pitchFamily="34" charset="-122"/>
                          <a:cs typeface="IBM Plex Sans" pitchFamily="34" charset="-120"/>
                        </a:rPr>
                        <a:t>LoRA rank 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B8AD"/>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11B2B"/>
                          </a:solidFill>
                          <a:latin typeface="IBM Plex Sans" pitchFamily="34" charset="0"/>
                          <a:ea typeface="IBM Plex Sans" pitchFamily="34" charset="-122"/>
                          <a:cs typeface="IBM Plex Sans" pitchFamily="34" charset="-120"/>
                        </a:rPr>
                        <a:t>4, 8, 16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B8AD"/>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32581">
                <a:tc>
                  <a:txBody>
                    <a:bodyPr/>
                    <a:lstStyle/>
                    <a:p>
                      <a:pPr indent="0" marL="0">
                        <a:lnSpc>
                          <a:spcPts val="1680"/>
                        </a:lnSpc>
                        <a:buNone/>
                      </a:pPr>
                      <a:r>
                        <a:rPr lang="en-US" sz="1200" dirty="0">
                          <a:solidFill>
                            <a:srgbClr val="111B2B"/>
                          </a:solidFill>
                          <a:latin typeface="IBM Plex Sans" pitchFamily="34" charset="0"/>
                          <a:ea typeface="IBM Plex Sans" pitchFamily="34" charset="-122"/>
                          <a:cs typeface="IBM Plex Sans" pitchFamily="34" charset="-120"/>
                        </a:rPr>
                        <a:t>LoRA alpha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11B2B"/>
                          </a:solidFill>
                          <a:latin typeface="IBM Plex Sans" pitchFamily="34" charset="0"/>
                          <a:ea typeface="IBM Plex Sans" pitchFamily="34" charset="-122"/>
                          <a:cs typeface="IBM Plex Sans" pitchFamily="34" charset="-120"/>
                        </a:rPr>
                        <a:t>8, 16, 32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2581">
                <a:tc>
                  <a:txBody>
                    <a:bodyPr/>
                    <a:lstStyle/>
                    <a:p>
                      <a:pPr indent="0" marL="0">
                        <a:lnSpc>
                          <a:spcPts val="1680"/>
                        </a:lnSpc>
                        <a:buNone/>
                      </a:pPr>
                      <a:r>
                        <a:rPr lang="en-US" sz="1200" dirty="0">
                          <a:solidFill>
                            <a:srgbClr val="111B2B"/>
                          </a:solidFill>
                          <a:latin typeface="IBM Plex Sans" pitchFamily="34" charset="0"/>
                          <a:ea typeface="IBM Plex Sans" pitchFamily="34" charset="-122"/>
                          <a:cs typeface="IBM Plex Sans" pitchFamily="34" charset="-120"/>
                        </a:rPr>
                        <a:t>Learning rate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11B2B"/>
                          </a:solidFill>
                          <a:latin typeface="IBM Plex Sans" pitchFamily="34" charset="0"/>
                          <a:ea typeface="IBM Plex Sans" pitchFamily="34" charset="-122"/>
                          <a:cs typeface="IBM Plex Sans" pitchFamily="34" charset="-120"/>
                        </a:rPr>
                        <a:t>1e-5 to 1e-3, log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32581">
                <a:tc>
                  <a:txBody>
                    <a:bodyPr/>
                    <a:lstStyle/>
                    <a:p>
                      <a:pPr indent="0" marL="0">
                        <a:lnSpc>
                          <a:spcPts val="1680"/>
                        </a:lnSpc>
                        <a:buNone/>
                      </a:pPr>
                      <a:r>
                        <a:rPr lang="en-US" sz="1200" dirty="0">
                          <a:solidFill>
                            <a:srgbClr val="111B2B"/>
                          </a:solidFill>
                          <a:latin typeface="IBM Plex Sans" pitchFamily="34" charset="0"/>
                          <a:ea typeface="IBM Plex Sans" pitchFamily="34" charset="-122"/>
                          <a:cs typeface="IBM Plex Sans" pitchFamily="34" charset="-120"/>
                        </a:rPr>
                        <a:t>Dropout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11B2B"/>
                          </a:solidFill>
                          <a:latin typeface="IBM Plex Sans" pitchFamily="34" charset="0"/>
                          <a:ea typeface="IBM Plex Sans" pitchFamily="34" charset="-122"/>
                          <a:cs typeface="IBM Plex Sans" pitchFamily="34" charset="-120"/>
                        </a:rPr>
                        <a:t>0.0, 0.05, 0.1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2581">
                <a:tc>
                  <a:txBody>
                    <a:bodyPr/>
                    <a:lstStyle/>
                    <a:p>
                      <a:pPr indent="0" marL="0">
                        <a:lnSpc>
                          <a:spcPts val="1680"/>
                        </a:lnSpc>
                        <a:buNone/>
                      </a:pPr>
                      <a:r>
                        <a:rPr lang="en-US" sz="1200" dirty="0">
                          <a:solidFill>
                            <a:srgbClr val="111B2B"/>
                          </a:solidFill>
                          <a:latin typeface="IBM Plex Sans" pitchFamily="34" charset="0"/>
                          <a:ea typeface="IBM Plex Sans" pitchFamily="34" charset="-122"/>
                          <a:cs typeface="IBM Plex Sans" pitchFamily="34" charset="-120"/>
                        </a:rPr>
                        <a:t>Batch size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11B2B"/>
                          </a:solidFill>
                          <a:latin typeface="IBM Plex Sans" pitchFamily="34" charset="0"/>
                          <a:ea typeface="IBM Plex Sans" pitchFamily="34" charset="-122"/>
                          <a:cs typeface="IBM Plex Sans" pitchFamily="34" charset="-120"/>
                        </a:rPr>
                        <a:t>4, 8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bl>
          </a:graphicData>
        </a:graphic>
      </p:graphicFrame>
      <p:sp>
        <p:nvSpPr>
          <p:cNvPr id="20" name="Text 1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Slurm + Ray for AI · 17 · Same cluster and job pattern; only the Python file and job script changed</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A5568"/>
                </a:solidFill>
                <a:latin typeface="JetBrains Mono" pitchFamily="49" charset="0"/>
                <a:ea typeface="JetBrains Mono" pitchFamily="49" charset="-122"/>
                <a:cs typeface="JetBrains Mono" pitchFamily="49" charset="-120"/>
              </a:rPr>
              <a:t>05 · AI</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11B2B"/>
                </a:solidFill>
                <a:latin typeface="IBM Plex Sans" pitchFamily="34" charset="0"/>
                <a:ea typeface="IBM Plex Sans" pitchFamily="34" charset="-122"/>
                <a:cs typeface="IBM Plex Sans" pitchFamily="34" charset="-120"/>
              </a:rPr>
              <a:t>How the pair is used in AI work</a:t>
            </a:r>
            <a:endParaRPr lang="en-US" sz="3200" dirty="0"/>
          </a:p>
        </p:txBody>
      </p:sp>
      <p:sp>
        <p:nvSpPr>
          <p:cNvPr id="4" name="Shape 2"/>
          <p:cNvSpPr/>
          <p:nvPr/>
        </p:nvSpPr>
        <p:spPr>
          <a:xfrm>
            <a:off x="815975" y="1857276"/>
            <a:ext cx="3414117" cy="1647031"/>
          </a:xfrm>
          <a:prstGeom prst="roundRect">
            <a:avLst>
              <a:gd name="adj" fmla="val 5976"/>
            </a:avLst>
          </a:prstGeom>
          <a:solidFill>
            <a:srgbClr val="FCFBF7"/>
          </a:solidFill>
          <a:ln w="6350">
            <a:solidFill>
              <a:srgbClr val="DCD6CA"/>
            </a:solidFill>
            <a:prstDash val="solid"/>
          </a:ln>
        </p:spPr>
      </p:sp>
      <p:pic>
        <p:nvPicPr>
          <p:cNvPr id="5" name="Image 0" descr="Settings">    </p:cNvPr>
          <p:cNvPicPr>
            <a:picLocks noChangeAspect="1"/>
          </p:cNvPicPr>
          <p:nvPr/>
        </p:nvPicPr>
        <p:blipFill>
          <a:blip r:embed="rId1"/>
          <a:srcRect l="0" r="0" t="0" b="0"/>
          <a:stretch/>
        </p:blipFill>
        <p:spPr>
          <a:xfrm>
            <a:off x="1022350" y="2038251"/>
            <a:ext cx="254000" cy="254000"/>
          </a:xfrm>
          <a:prstGeom prst="rect">
            <a:avLst/>
          </a:prstGeom>
        </p:spPr>
      </p:pic>
      <p:sp>
        <p:nvSpPr>
          <p:cNvPr id="6" name="Text 3"/>
          <p:cNvSpPr/>
          <p:nvPr/>
        </p:nvSpPr>
        <p:spPr>
          <a:xfrm>
            <a:off x="1022350" y="2355751"/>
            <a:ext cx="3091408"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11B2B"/>
                </a:solidFill>
                <a:latin typeface="IBM Plex Sans" pitchFamily="34" charset="0"/>
                <a:ea typeface="IBM Plex Sans" pitchFamily="34" charset="-122"/>
                <a:cs typeface="IBM Plex Sans" pitchFamily="34" charset="-120"/>
              </a:rPr>
              <a:t>Hyperparameter tuning</a:t>
            </a:r>
            <a:endParaRPr lang="en-US" sz="1600" dirty="0"/>
          </a:p>
        </p:txBody>
      </p:sp>
      <p:sp>
        <p:nvSpPr>
          <p:cNvPr id="7" name="Text 4"/>
          <p:cNvSpPr/>
          <p:nvPr/>
        </p:nvSpPr>
        <p:spPr>
          <a:xfrm>
            <a:off x="1022350" y="2683371"/>
            <a:ext cx="309140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Ray Tune runs many trials in parallel and stops bad ones. Our MNIST demo.</a:t>
            </a:r>
            <a:endParaRPr lang="en-US" sz="1200" dirty="0"/>
          </a:p>
        </p:txBody>
      </p:sp>
      <p:sp>
        <p:nvSpPr>
          <p:cNvPr id="8" name="Shape 5"/>
          <p:cNvSpPr/>
          <p:nvPr/>
        </p:nvSpPr>
        <p:spPr>
          <a:xfrm>
            <a:off x="4388842" y="1857276"/>
            <a:ext cx="3414216" cy="1647031"/>
          </a:xfrm>
          <a:prstGeom prst="roundRect">
            <a:avLst>
              <a:gd name="adj" fmla="val 5976"/>
            </a:avLst>
          </a:prstGeom>
          <a:solidFill>
            <a:srgbClr val="FCFBF7"/>
          </a:solidFill>
          <a:ln w="6350">
            <a:solidFill>
              <a:srgbClr val="DCD6CA"/>
            </a:solidFill>
            <a:prstDash val="solid"/>
          </a:ln>
        </p:spPr>
      </p:sp>
      <p:pic>
        <p:nvPicPr>
          <p:cNvPr id="9" name="Image 1" descr="Lightning">    </p:cNvPr>
          <p:cNvPicPr>
            <a:picLocks noChangeAspect="1"/>
          </p:cNvPicPr>
          <p:nvPr/>
        </p:nvPicPr>
        <p:blipFill>
          <a:blip r:embed="rId2"/>
          <a:srcRect l="0" r="0" t="0" b="0"/>
          <a:stretch/>
        </p:blipFill>
        <p:spPr>
          <a:xfrm>
            <a:off x="4595217" y="2038251"/>
            <a:ext cx="254000" cy="254000"/>
          </a:xfrm>
          <a:prstGeom prst="rect">
            <a:avLst/>
          </a:prstGeom>
        </p:spPr>
      </p:pic>
      <p:sp>
        <p:nvSpPr>
          <p:cNvPr id="10" name="Text 6"/>
          <p:cNvSpPr/>
          <p:nvPr/>
        </p:nvSpPr>
        <p:spPr>
          <a:xfrm>
            <a:off x="4595217" y="2355751"/>
            <a:ext cx="3091510"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11B2B"/>
                </a:solidFill>
                <a:latin typeface="IBM Plex Sans" pitchFamily="34" charset="0"/>
                <a:ea typeface="IBM Plex Sans" pitchFamily="34" charset="-122"/>
                <a:cs typeface="IBM Plex Sans" pitchFamily="34" charset="-120"/>
              </a:rPr>
              <a:t>Distributed training</a:t>
            </a:r>
            <a:endParaRPr lang="en-US" sz="1600" dirty="0"/>
          </a:p>
        </p:txBody>
      </p:sp>
      <p:sp>
        <p:nvSpPr>
          <p:cNvPr id="11" name="Text 7"/>
          <p:cNvSpPr/>
          <p:nvPr/>
        </p:nvSpPr>
        <p:spPr>
          <a:xfrm>
            <a:off x="4595217" y="2683371"/>
            <a:ext cx="309151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Ray Train wraps PyTorch DDP, FSDP or DeepSpeed to train one model on many GPUs.</a:t>
            </a:r>
            <a:endParaRPr lang="en-US" sz="1200" dirty="0"/>
          </a:p>
        </p:txBody>
      </p:sp>
      <p:sp>
        <p:nvSpPr>
          <p:cNvPr id="12" name="Shape 8"/>
          <p:cNvSpPr/>
          <p:nvPr/>
        </p:nvSpPr>
        <p:spPr>
          <a:xfrm>
            <a:off x="7961809" y="1857276"/>
            <a:ext cx="3414216" cy="1647031"/>
          </a:xfrm>
          <a:prstGeom prst="roundRect">
            <a:avLst>
              <a:gd name="adj" fmla="val 5976"/>
            </a:avLst>
          </a:prstGeom>
          <a:solidFill>
            <a:srgbClr val="FCFBF7"/>
          </a:solidFill>
          <a:ln w="6350">
            <a:solidFill>
              <a:srgbClr val="DCD6CA"/>
            </a:solidFill>
            <a:prstDash val="solid"/>
          </a:ln>
        </p:spPr>
      </p:sp>
      <p:pic>
        <p:nvPicPr>
          <p:cNvPr id="13" name="Image 2" descr="Chat">    </p:cNvPr>
          <p:cNvPicPr>
            <a:picLocks noChangeAspect="1"/>
          </p:cNvPicPr>
          <p:nvPr/>
        </p:nvPicPr>
        <p:blipFill>
          <a:blip r:embed="rId3"/>
          <a:srcRect l="0" r="0" t="0" b="0"/>
          <a:stretch/>
        </p:blipFill>
        <p:spPr>
          <a:xfrm>
            <a:off x="8168184" y="2038251"/>
            <a:ext cx="254000" cy="254000"/>
          </a:xfrm>
          <a:prstGeom prst="rect">
            <a:avLst/>
          </a:prstGeom>
        </p:spPr>
      </p:pic>
      <p:sp>
        <p:nvSpPr>
          <p:cNvPr id="14" name="Text 9"/>
          <p:cNvSpPr/>
          <p:nvPr/>
        </p:nvSpPr>
        <p:spPr>
          <a:xfrm>
            <a:off x="8168184" y="2355751"/>
            <a:ext cx="3091510"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11B2B"/>
                </a:solidFill>
                <a:latin typeface="IBM Plex Sans" pitchFamily="34" charset="0"/>
                <a:ea typeface="IBM Plex Sans" pitchFamily="34" charset="-122"/>
                <a:cs typeface="IBM Plex Sans" pitchFamily="34" charset="-120"/>
              </a:rPr>
              <a:t>LLM fine-tuning</a:t>
            </a:r>
            <a:endParaRPr lang="en-US" sz="1600" dirty="0"/>
          </a:p>
        </p:txBody>
      </p:sp>
      <p:sp>
        <p:nvSpPr>
          <p:cNvPr id="15" name="Text 10"/>
          <p:cNvSpPr/>
          <p:nvPr/>
        </p:nvSpPr>
        <p:spPr>
          <a:xfrm>
            <a:off x="8168184" y="2683371"/>
            <a:ext cx="30915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LoRA and QLoRA sweeps over adapter settings. Our llm-lora branch.</a:t>
            </a:r>
            <a:endParaRPr lang="en-US" sz="1200" dirty="0"/>
          </a:p>
        </p:txBody>
      </p:sp>
      <p:sp>
        <p:nvSpPr>
          <p:cNvPr id="16" name="Shape 11"/>
          <p:cNvSpPr/>
          <p:nvPr/>
        </p:nvSpPr>
        <p:spPr>
          <a:xfrm>
            <a:off x="815975" y="3663057"/>
            <a:ext cx="3414117" cy="1433711"/>
          </a:xfrm>
          <a:prstGeom prst="roundRect">
            <a:avLst>
              <a:gd name="adj" fmla="val 6865"/>
            </a:avLst>
          </a:prstGeom>
          <a:solidFill>
            <a:srgbClr val="FCFBF7"/>
          </a:solidFill>
          <a:ln w="6350">
            <a:solidFill>
              <a:srgbClr val="DCD6CA"/>
            </a:solidFill>
            <a:prstDash val="solid"/>
          </a:ln>
        </p:spPr>
      </p:sp>
      <p:pic>
        <p:nvPicPr>
          <p:cNvPr id="17" name="Image 3" descr="Database">    </p:cNvPr>
          <p:cNvPicPr>
            <a:picLocks noChangeAspect="1"/>
          </p:cNvPicPr>
          <p:nvPr/>
        </p:nvPicPr>
        <p:blipFill>
          <a:blip r:embed="rId4"/>
          <a:srcRect l="0" r="0" t="0" b="0"/>
          <a:stretch/>
        </p:blipFill>
        <p:spPr>
          <a:xfrm>
            <a:off x="1022350" y="3844032"/>
            <a:ext cx="254000" cy="254000"/>
          </a:xfrm>
          <a:prstGeom prst="rect">
            <a:avLst/>
          </a:prstGeom>
        </p:spPr>
      </p:pic>
      <p:sp>
        <p:nvSpPr>
          <p:cNvPr id="18" name="Text 12"/>
          <p:cNvSpPr/>
          <p:nvPr/>
        </p:nvSpPr>
        <p:spPr>
          <a:xfrm>
            <a:off x="1022350" y="4161532"/>
            <a:ext cx="3091408"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11B2B"/>
                </a:solidFill>
                <a:latin typeface="IBM Plex Sans" pitchFamily="34" charset="0"/>
                <a:ea typeface="IBM Plex Sans" pitchFamily="34" charset="-122"/>
                <a:cs typeface="IBM Plex Sans" pitchFamily="34" charset="-120"/>
              </a:rPr>
              <a:t>Data &amp; batch inference</a:t>
            </a:r>
            <a:endParaRPr lang="en-US" sz="1600" dirty="0"/>
          </a:p>
        </p:txBody>
      </p:sp>
      <p:sp>
        <p:nvSpPr>
          <p:cNvPr id="19" name="Text 13"/>
          <p:cNvSpPr/>
          <p:nvPr/>
        </p:nvSpPr>
        <p:spPr>
          <a:xfrm>
            <a:off x="1022350" y="4489152"/>
            <a:ext cx="309140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Ray Data streams huge datasets through CPU and GPU stages in parallel.</a:t>
            </a:r>
            <a:endParaRPr lang="en-US" sz="1200" dirty="0"/>
          </a:p>
        </p:txBody>
      </p:sp>
      <p:sp>
        <p:nvSpPr>
          <p:cNvPr id="20" name="Shape 14"/>
          <p:cNvSpPr/>
          <p:nvPr/>
        </p:nvSpPr>
        <p:spPr>
          <a:xfrm>
            <a:off x="4388842" y="3663057"/>
            <a:ext cx="3414216" cy="1433711"/>
          </a:xfrm>
          <a:prstGeom prst="roundRect">
            <a:avLst>
              <a:gd name="adj" fmla="val 6865"/>
            </a:avLst>
          </a:prstGeom>
          <a:solidFill>
            <a:srgbClr val="FCFBF7"/>
          </a:solidFill>
          <a:ln w="6350">
            <a:solidFill>
              <a:srgbClr val="DCD6CA"/>
            </a:solidFill>
            <a:prstDash val="solid"/>
          </a:ln>
        </p:spPr>
      </p:sp>
      <p:pic>
        <p:nvPicPr>
          <p:cNvPr id="21" name="Image 4" descr="Activity">    </p:cNvPr>
          <p:cNvPicPr>
            <a:picLocks noChangeAspect="1"/>
          </p:cNvPicPr>
          <p:nvPr/>
        </p:nvPicPr>
        <p:blipFill>
          <a:blip r:embed="rId5"/>
          <a:srcRect l="0" r="0" t="0" b="0"/>
          <a:stretch/>
        </p:blipFill>
        <p:spPr>
          <a:xfrm>
            <a:off x="4595217" y="3844032"/>
            <a:ext cx="254000" cy="254000"/>
          </a:xfrm>
          <a:prstGeom prst="rect">
            <a:avLst/>
          </a:prstGeom>
        </p:spPr>
      </p:pic>
      <p:sp>
        <p:nvSpPr>
          <p:cNvPr id="22" name="Text 15"/>
          <p:cNvSpPr/>
          <p:nvPr/>
        </p:nvSpPr>
        <p:spPr>
          <a:xfrm>
            <a:off x="4595217" y="4161532"/>
            <a:ext cx="3091510"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11B2B"/>
                </a:solidFill>
                <a:latin typeface="IBM Plex Sans" pitchFamily="34" charset="0"/>
                <a:ea typeface="IBM Plex Sans" pitchFamily="34" charset="-122"/>
                <a:cs typeface="IBM Plex Sans" pitchFamily="34" charset="-120"/>
              </a:rPr>
              <a:t>Reinforcement learning</a:t>
            </a:r>
            <a:endParaRPr lang="en-US" sz="1600" dirty="0"/>
          </a:p>
        </p:txBody>
      </p:sp>
      <p:sp>
        <p:nvSpPr>
          <p:cNvPr id="23" name="Text 16"/>
          <p:cNvSpPr/>
          <p:nvPr/>
        </p:nvSpPr>
        <p:spPr>
          <a:xfrm>
            <a:off x="4595217" y="4489152"/>
            <a:ext cx="30915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RLlib runs hundreds of simulators at once to gather experience.</a:t>
            </a:r>
            <a:endParaRPr lang="en-US" sz="1200" dirty="0"/>
          </a:p>
        </p:txBody>
      </p:sp>
      <p:sp>
        <p:nvSpPr>
          <p:cNvPr id="24" name="Shape 17"/>
          <p:cNvSpPr/>
          <p:nvPr/>
        </p:nvSpPr>
        <p:spPr>
          <a:xfrm>
            <a:off x="7961809" y="3663057"/>
            <a:ext cx="3414216" cy="1433711"/>
          </a:xfrm>
          <a:prstGeom prst="roundRect">
            <a:avLst>
              <a:gd name="adj" fmla="val 6865"/>
            </a:avLst>
          </a:prstGeom>
          <a:solidFill>
            <a:srgbClr val="FCFBF7"/>
          </a:solidFill>
          <a:ln w="6350">
            <a:solidFill>
              <a:srgbClr val="DCD6CA"/>
            </a:solidFill>
            <a:prstDash val="solid"/>
          </a:ln>
        </p:spPr>
      </p:sp>
      <p:pic>
        <p:nvPicPr>
          <p:cNvPr id="25" name="Image 5" descr="CheckCircle">    </p:cNvPr>
          <p:cNvPicPr>
            <a:picLocks noChangeAspect="1"/>
          </p:cNvPicPr>
          <p:nvPr/>
        </p:nvPicPr>
        <p:blipFill>
          <a:blip r:embed="rId6"/>
          <a:srcRect l="0" r="0" t="0" b="0"/>
          <a:stretch/>
        </p:blipFill>
        <p:spPr>
          <a:xfrm>
            <a:off x="8168184" y="3844032"/>
            <a:ext cx="254000" cy="254000"/>
          </a:xfrm>
          <a:prstGeom prst="rect">
            <a:avLst/>
          </a:prstGeom>
        </p:spPr>
      </p:pic>
      <p:sp>
        <p:nvSpPr>
          <p:cNvPr id="26" name="Text 18"/>
          <p:cNvSpPr/>
          <p:nvPr/>
        </p:nvSpPr>
        <p:spPr>
          <a:xfrm>
            <a:off x="8168184" y="4161532"/>
            <a:ext cx="3091510"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11B2B"/>
                </a:solidFill>
                <a:latin typeface="IBM Plex Sans" pitchFamily="34" charset="0"/>
                <a:ea typeface="IBM Plex Sans" pitchFamily="34" charset="-122"/>
                <a:cs typeface="IBM Plex Sans" pitchFamily="34" charset="-120"/>
              </a:rPr>
              <a:t>Evaluation sweeps</a:t>
            </a:r>
            <a:endParaRPr lang="en-US" sz="1600" dirty="0"/>
          </a:p>
        </p:txBody>
      </p:sp>
      <p:sp>
        <p:nvSpPr>
          <p:cNvPr id="27" name="Text 19"/>
          <p:cNvSpPr/>
          <p:nvPr/>
        </p:nvSpPr>
        <p:spPr>
          <a:xfrm>
            <a:off x="8168184" y="4489152"/>
            <a:ext cx="30915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Score many checkpoints on many benchmarks at the same time.</a:t>
            </a:r>
            <a:endParaRPr lang="en-US" sz="1200" dirty="0"/>
          </a:p>
        </p:txBody>
      </p:sp>
      <p:sp>
        <p:nvSpPr>
          <p:cNvPr id="28" name="Text 2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Slurm + Ray for AI · 18 · In every case: Slurm grants the nodes, Ray fills them</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A5568"/>
                </a:solidFill>
                <a:latin typeface="JetBrains Mono" pitchFamily="49" charset="0"/>
                <a:ea typeface="JetBrains Mono" pitchFamily="49" charset="-122"/>
                <a:cs typeface="JetBrains Mono" pitchFamily="49" charset="-120"/>
              </a:rPr>
              <a:t>05 · AI</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11B2B"/>
                </a:solidFill>
                <a:latin typeface="IBM Plex Sans" pitchFamily="34" charset="0"/>
                <a:ea typeface="IBM Plex Sans" pitchFamily="34" charset="-122"/>
                <a:cs typeface="IBM Plex Sans" pitchFamily="34" charset="-120"/>
              </a:rPr>
              <a:t>What the combination unlocks</a:t>
            </a:r>
            <a:endParaRPr lang="en-US" sz="3200" dirty="0"/>
          </a:p>
        </p:txBody>
      </p:sp>
      <p:sp>
        <p:nvSpPr>
          <p:cNvPr id="4" name="Shape 2"/>
          <p:cNvSpPr/>
          <p:nvPr/>
        </p:nvSpPr>
        <p:spPr>
          <a:xfrm>
            <a:off x="812800" y="1860451"/>
            <a:ext cx="10566400" cy="0"/>
          </a:xfrm>
          <a:prstGeom prst="line">
            <a:avLst/>
          </a:prstGeom>
          <a:noFill/>
          <a:ln w="12700">
            <a:solidFill>
              <a:srgbClr val="111B2B"/>
            </a:solidFill>
            <a:prstDash val="solid"/>
          </a:ln>
        </p:spPr>
      </p:sp>
      <p:sp>
        <p:nvSpPr>
          <p:cNvPr id="5" name="Text 3"/>
          <p:cNvSpPr/>
          <p:nvPr/>
        </p:nvSpPr>
        <p:spPr>
          <a:xfrm>
            <a:off x="812800" y="2006501"/>
            <a:ext cx="457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D5FA8"/>
                </a:solidFill>
                <a:latin typeface="JetBrains Mono" pitchFamily="49" charset="0"/>
                <a:ea typeface="JetBrains Mono" pitchFamily="49" charset="-122"/>
                <a:cs typeface="JetBrains Mono" pitchFamily="49" charset="-120"/>
              </a:rPr>
              <a:t>01</a:t>
            </a:r>
            <a:endParaRPr lang="en-US" sz="1500" dirty="0"/>
          </a:p>
        </p:txBody>
      </p:sp>
      <p:sp>
        <p:nvSpPr>
          <p:cNvPr id="6" name="Text 4"/>
          <p:cNvSpPr/>
          <p:nvPr/>
        </p:nvSpPr>
        <p:spPr>
          <a:xfrm>
            <a:off x="1422400" y="2006501"/>
            <a:ext cx="405511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11B2B"/>
                </a:solidFill>
                <a:latin typeface="IBM Plex Sans" pitchFamily="34" charset="0"/>
                <a:ea typeface="IBM Plex Sans" pitchFamily="34" charset="-122"/>
                <a:cs typeface="IBM Plex Sans" pitchFamily="34" charset="-120"/>
              </a:rPr>
              <a:t>Shared GPUs without chaos</a:t>
            </a:r>
            <a:endParaRPr lang="en-US" sz="1500" dirty="0"/>
          </a:p>
        </p:txBody>
      </p:sp>
      <p:sp>
        <p:nvSpPr>
          <p:cNvPr id="7" name="Text 5"/>
          <p:cNvSpPr/>
          <p:nvPr/>
        </p:nvSpPr>
        <p:spPr>
          <a:xfrm>
            <a:off x="5562600" y="2050951"/>
            <a:ext cx="59910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Slurm queues and fairly splits costly hardware between people and teams.</a:t>
            </a:r>
            <a:endParaRPr lang="en-US" sz="1200" dirty="0"/>
          </a:p>
        </p:txBody>
      </p:sp>
      <p:sp>
        <p:nvSpPr>
          <p:cNvPr id="8" name="Shape 6"/>
          <p:cNvSpPr/>
          <p:nvPr/>
        </p:nvSpPr>
        <p:spPr>
          <a:xfrm>
            <a:off x="812800" y="2416076"/>
            <a:ext cx="10566400" cy="0"/>
          </a:xfrm>
          <a:prstGeom prst="line">
            <a:avLst/>
          </a:prstGeom>
          <a:noFill/>
          <a:ln w="6350">
            <a:solidFill>
              <a:srgbClr val="DCD6CA"/>
            </a:solidFill>
            <a:prstDash val="solid"/>
          </a:ln>
        </p:spPr>
      </p:sp>
      <p:sp>
        <p:nvSpPr>
          <p:cNvPr id="9" name="Text 7"/>
          <p:cNvSpPr/>
          <p:nvPr/>
        </p:nvSpPr>
        <p:spPr>
          <a:xfrm>
            <a:off x="812800" y="2558951"/>
            <a:ext cx="457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5530E"/>
                </a:solidFill>
                <a:latin typeface="JetBrains Mono" pitchFamily="49" charset="0"/>
                <a:ea typeface="JetBrains Mono" pitchFamily="49" charset="-122"/>
                <a:cs typeface="JetBrains Mono" pitchFamily="49" charset="-120"/>
              </a:rPr>
              <a:t>02</a:t>
            </a:r>
            <a:endParaRPr lang="en-US" sz="1500" dirty="0"/>
          </a:p>
        </p:txBody>
      </p:sp>
      <p:sp>
        <p:nvSpPr>
          <p:cNvPr id="10" name="Text 8"/>
          <p:cNvSpPr/>
          <p:nvPr/>
        </p:nvSpPr>
        <p:spPr>
          <a:xfrm>
            <a:off x="1422400" y="2558951"/>
            <a:ext cx="405511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11B2B"/>
                </a:solidFill>
                <a:latin typeface="IBM Plex Sans" pitchFamily="34" charset="0"/>
                <a:ea typeface="IBM Plex Sans" pitchFamily="34" charset="-122"/>
                <a:cs typeface="IBM Plex Sans" pitchFamily="34" charset="-120"/>
              </a:rPr>
              <a:t>Scale-out in plain Python</a:t>
            </a:r>
            <a:endParaRPr lang="en-US" sz="1500" dirty="0"/>
          </a:p>
        </p:txBody>
      </p:sp>
      <p:sp>
        <p:nvSpPr>
          <p:cNvPr id="11" name="Text 9"/>
          <p:cNvSpPr/>
          <p:nvPr/>
        </p:nvSpPr>
        <p:spPr>
          <a:xfrm>
            <a:off x="5562600" y="2603401"/>
            <a:ext cx="59910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Researchers write Python; Ray spreads it. No MPI or hand-built networking.</a:t>
            </a:r>
            <a:endParaRPr lang="en-US" sz="1200" dirty="0"/>
          </a:p>
        </p:txBody>
      </p:sp>
      <p:sp>
        <p:nvSpPr>
          <p:cNvPr id="12" name="Shape 10"/>
          <p:cNvSpPr/>
          <p:nvPr/>
        </p:nvSpPr>
        <p:spPr>
          <a:xfrm>
            <a:off x="812800" y="2968526"/>
            <a:ext cx="10566400" cy="0"/>
          </a:xfrm>
          <a:prstGeom prst="line">
            <a:avLst/>
          </a:prstGeom>
          <a:noFill/>
          <a:ln w="6350">
            <a:solidFill>
              <a:srgbClr val="DCD6CA"/>
            </a:solidFill>
            <a:prstDash val="solid"/>
          </a:ln>
        </p:spPr>
      </p:sp>
      <p:sp>
        <p:nvSpPr>
          <p:cNvPr id="13" name="Text 11"/>
          <p:cNvSpPr/>
          <p:nvPr/>
        </p:nvSpPr>
        <p:spPr>
          <a:xfrm>
            <a:off x="812800" y="3111401"/>
            <a:ext cx="457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5530E"/>
                </a:solidFill>
                <a:latin typeface="JetBrains Mono" pitchFamily="49" charset="0"/>
                <a:ea typeface="JetBrains Mono" pitchFamily="49" charset="-122"/>
                <a:cs typeface="JetBrains Mono" pitchFamily="49" charset="-120"/>
              </a:rPr>
              <a:t>03</a:t>
            </a:r>
            <a:endParaRPr lang="en-US" sz="1500" dirty="0"/>
          </a:p>
        </p:txBody>
      </p:sp>
      <p:sp>
        <p:nvSpPr>
          <p:cNvPr id="14" name="Text 12"/>
          <p:cNvSpPr/>
          <p:nvPr/>
        </p:nvSpPr>
        <p:spPr>
          <a:xfrm>
            <a:off x="1422400" y="3111401"/>
            <a:ext cx="405511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11B2B"/>
                </a:solidFill>
                <a:latin typeface="IBM Plex Sans" pitchFamily="34" charset="0"/>
                <a:ea typeface="IBM Plex Sans" pitchFamily="34" charset="-122"/>
                <a:cs typeface="IBM Plex Sans" pitchFamily="34" charset="-120"/>
              </a:rPr>
              <a:t>Same code, laptop to cluster</a:t>
            </a:r>
            <a:endParaRPr lang="en-US" sz="1500" dirty="0"/>
          </a:p>
        </p:txBody>
      </p:sp>
      <p:sp>
        <p:nvSpPr>
          <p:cNvPr id="15" name="Text 13"/>
          <p:cNvSpPr/>
          <p:nvPr/>
        </p:nvSpPr>
        <p:spPr>
          <a:xfrm>
            <a:off x="5562600" y="3155851"/>
            <a:ext cx="59910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ray.init() runs locally; ray.init(address="auto") runs on the cluster.</a:t>
            </a:r>
            <a:endParaRPr lang="en-US" sz="1200" dirty="0"/>
          </a:p>
        </p:txBody>
      </p:sp>
      <p:sp>
        <p:nvSpPr>
          <p:cNvPr id="16" name="Shape 14"/>
          <p:cNvSpPr/>
          <p:nvPr/>
        </p:nvSpPr>
        <p:spPr>
          <a:xfrm>
            <a:off x="812800" y="3520976"/>
            <a:ext cx="10566400" cy="0"/>
          </a:xfrm>
          <a:prstGeom prst="line">
            <a:avLst/>
          </a:prstGeom>
          <a:noFill/>
          <a:ln w="6350">
            <a:solidFill>
              <a:srgbClr val="DCD6CA"/>
            </a:solidFill>
            <a:prstDash val="solid"/>
          </a:ln>
        </p:spPr>
      </p:sp>
      <p:sp>
        <p:nvSpPr>
          <p:cNvPr id="17" name="Text 15"/>
          <p:cNvSpPr/>
          <p:nvPr/>
        </p:nvSpPr>
        <p:spPr>
          <a:xfrm>
            <a:off x="812800" y="3663851"/>
            <a:ext cx="457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5530E"/>
                </a:solidFill>
                <a:latin typeface="JetBrains Mono" pitchFamily="49" charset="0"/>
                <a:ea typeface="JetBrains Mono" pitchFamily="49" charset="-122"/>
                <a:cs typeface="JetBrains Mono" pitchFamily="49" charset="-120"/>
              </a:rPr>
              <a:t>04</a:t>
            </a:r>
            <a:endParaRPr lang="en-US" sz="1500" dirty="0"/>
          </a:p>
        </p:txBody>
      </p:sp>
      <p:sp>
        <p:nvSpPr>
          <p:cNvPr id="18" name="Text 16"/>
          <p:cNvSpPr/>
          <p:nvPr/>
        </p:nvSpPr>
        <p:spPr>
          <a:xfrm>
            <a:off x="1422400" y="3663851"/>
            <a:ext cx="405511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11B2B"/>
                </a:solidFill>
                <a:latin typeface="IBM Plex Sans" pitchFamily="34" charset="0"/>
                <a:ea typeface="IBM Plex Sans" pitchFamily="34" charset="-122"/>
                <a:cs typeface="IBM Plex Sans" pitchFamily="34" charset="-120"/>
              </a:rPr>
              <a:t>Search instead of guess</a:t>
            </a:r>
            <a:endParaRPr lang="en-US" sz="1500" dirty="0"/>
          </a:p>
        </p:txBody>
      </p:sp>
      <p:sp>
        <p:nvSpPr>
          <p:cNvPr id="19" name="Text 17"/>
          <p:cNvSpPr/>
          <p:nvPr/>
        </p:nvSpPr>
        <p:spPr>
          <a:xfrm>
            <a:off x="5562600" y="3708301"/>
            <a:ext cx="59910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Dozens to hundreds of trials at once, with early stopping to save compute.</a:t>
            </a:r>
            <a:endParaRPr lang="en-US" sz="1200" dirty="0"/>
          </a:p>
        </p:txBody>
      </p:sp>
      <p:sp>
        <p:nvSpPr>
          <p:cNvPr id="20" name="Shape 18"/>
          <p:cNvSpPr/>
          <p:nvPr/>
        </p:nvSpPr>
        <p:spPr>
          <a:xfrm>
            <a:off x="812800" y="4073426"/>
            <a:ext cx="10566400" cy="0"/>
          </a:xfrm>
          <a:prstGeom prst="line">
            <a:avLst/>
          </a:prstGeom>
          <a:noFill/>
          <a:ln w="6350">
            <a:solidFill>
              <a:srgbClr val="DCD6CA"/>
            </a:solidFill>
            <a:prstDash val="solid"/>
          </a:ln>
        </p:spPr>
      </p:sp>
      <p:sp>
        <p:nvSpPr>
          <p:cNvPr id="21" name="Text 19"/>
          <p:cNvSpPr/>
          <p:nvPr/>
        </p:nvSpPr>
        <p:spPr>
          <a:xfrm>
            <a:off x="812800" y="4216301"/>
            <a:ext cx="457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D5FA8"/>
                </a:solidFill>
                <a:latin typeface="JetBrains Mono" pitchFamily="49" charset="0"/>
                <a:ea typeface="JetBrains Mono" pitchFamily="49" charset="-122"/>
                <a:cs typeface="JetBrains Mono" pitchFamily="49" charset="-120"/>
              </a:rPr>
              <a:t>05</a:t>
            </a:r>
            <a:endParaRPr lang="en-US" sz="1500" dirty="0"/>
          </a:p>
        </p:txBody>
      </p:sp>
      <p:sp>
        <p:nvSpPr>
          <p:cNvPr id="22" name="Text 20"/>
          <p:cNvSpPr/>
          <p:nvPr/>
        </p:nvSpPr>
        <p:spPr>
          <a:xfrm>
            <a:off x="1422400" y="4216301"/>
            <a:ext cx="405511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11B2B"/>
                </a:solidFill>
                <a:latin typeface="IBM Plex Sans" pitchFamily="34" charset="0"/>
                <a:ea typeface="IBM Plex Sans" pitchFamily="34" charset="-122"/>
                <a:cs typeface="IBM Plex Sans" pitchFamily="34" charset="-120"/>
              </a:rPr>
              <a:t>Multi-node LLMs on our own GPUs</a:t>
            </a:r>
            <a:endParaRPr lang="en-US" sz="1500" dirty="0"/>
          </a:p>
        </p:txBody>
      </p:sp>
      <p:sp>
        <p:nvSpPr>
          <p:cNvPr id="23" name="Text 21"/>
          <p:cNvSpPr/>
          <p:nvPr/>
        </p:nvSpPr>
        <p:spPr>
          <a:xfrm>
            <a:off x="5562600" y="4260751"/>
            <a:ext cx="59910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Fine-tune and evaluate models across GPU nodes, with data kept in-house.</a:t>
            </a:r>
            <a:endParaRPr lang="en-US" sz="1200" dirty="0"/>
          </a:p>
        </p:txBody>
      </p:sp>
      <p:sp>
        <p:nvSpPr>
          <p:cNvPr id="24" name="Shape 22"/>
          <p:cNvSpPr/>
          <p:nvPr/>
        </p:nvSpPr>
        <p:spPr>
          <a:xfrm>
            <a:off x="812800" y="4625876"/>
            <a:ext cx="10566400" cy="0"/>
          </a:xfrm>
          <a:prstGeom prst="line">
            <a:avLst/>
          </a:prstGeom>
          <a:noFill/>
          <a:ln w="6350">
            <a:solidFill>
              <a:srgbClr val="DCD6CA"/>
            </a:solidFill>
            <a:prstDash val="solid"/>
          </a:ln>
        </p:spPr>
      </p:sp>
      <p:sp>
        <p:nvSpPr>
          <p:cNvPr id="25" name="Shape 23"/>
          <p:cNvSpPr/>
          <p:nvPr/>
        </p:nvSpPr>
        <p:spPr>
          <a:xfrm>
            <a:off x="812800" y="5178326"/>
            <a:ext cx="10566400" cy="0"/>
          </a:xfrm>
          <a:prstGeom prst="line">
            <a:avLst/>
          </a:prstGeom>
          <a:noFill/>
          <a:ln w="6350">
            <a:solidFill>
              <a:srgbClr val="DCD6CA"/>
            </a:solidFill>
            <a:prstDash val="solid"/>
          </a:ln>
        </p:spPr>
      </p:sp>
      <p:sp>
        <p:nvSpPr>
          <p:cNvPr id="26" name="Text 24"/>
          <p:cNvSpPr/>
          <p:nvPr/>
        </p:nvSpPr>
        <p:spPr>
          <a:xfrm>
            <a:off x="812800" y="4768751"/>
            <a:ext cx="457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5530E"/>
                </a:solidFill>
                <a:latin typeface="JetBrains Mono" pitchFamily="49" charset="0"/>
                <a:ea typeface="JetBrains Mono" pitchFamily="49" charset="-122"/>
                <a:cs typeface="JetBrains Mono" pitchFamily="49" charset="-120"/>
              </a:rPr>
              <a:t>06</a:t>
            </a:r>
            <a:endParaRPr lang="en-US" sz="1500" dirty="0"/>
          </a:p>
        </p:txBody>
      </p:sp>
      <p:sp>
        <p:nvSpPr>
          <p:cNvPr id="27" name="Text 25"/>
          <p:cNvSpPr/>
          <p:nvPr/>
        </p:nvSpPr>
        <p:spPr>
          <a:xfrm>
            <a:off x="1422400" y="4768751"/>
            <a:ext cx="405511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11B2B"/>
                </a:solidFill>
                <a:latin typeface="IBM Plex Sans" pitchFamily="34" charset="0"/>
                <a:ea typeface="IBM Plex Sans" pitchFamily="34" charset="-122"/>
                <a:cs typeface="IBM Plex Sans" pitchFamily="34" charset="-120"/>
              </a:rPr>
              <a:t>Mixed CPU + GPU pipelines</a:t>
            </a:r>
            <a:endParaRPr lang="en-US" sz="1500" dirty="0"/>
          </a:p>
        </p:txBody>
      </p:sp>
      <p:sp>
        <p:nvSpPr>
          <p:cNvPr id="28" name="Text 26"/>
          <p:cNvSpPr/>
          <p:nvPr/>
        </p:nvSpPr>
        <p:spPr>
          <a:xfrm>
            <a:off x="5562600" y="4813201"/>
            <a:ext cx="59910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Data prep on CPUs and training on GPUs, inside one allocation.</a:t>
            </a:r>
            <a:endParaRPr lang="en-US" sz="1200" dirty="0"/>
          </a:p>
        </p:txBody>
      </p:sp>
      <p:sp>
        <p:nvSpPr>
          <p:cNvPr id="29" name="Text 2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Slurm + Ray for AI · 19 · </a:t>
            </a:r>
            <a:r>
              <a:rPr lang="en-US" sz="1200" dirty="0">
                <a:solidFill>
                  <a:srgbClr val="1D5FA8"/>
                </a:solidFill>
                <a:latin typeface="IBM Plex Sans" pitchFamily="34" charset="0"/>
                <a:ea typeface="IBM Plex Sans" pitchFamily="34" charset="-122"/>
                <a:cs typeface="IBM Plex Sans" pitchFamily="34" charset="-120"/>
              </a:rPr>
              <a:t>blue = mainly Slurm</a:t>
            </a:r>
            <a:r>
              <a:rPr lang="en-US" sz="1200" dirty="0">
                <a:solidFill>
                  <a:srgbClr val="5F6B7A"/>
                </a:solidFill>
                <a:latin typeface="IBM Plex Sans" pitchFamily="34" charset="0"/>
                <a:ea typeface="IBM Plex Sans" pitchFamily="34" charset="-122"/>
                <a:cs typeface="IBM Plex Sans" pitchFamily="34" charset="-120"/>
              </a:rPr>
              <a:t> · </a:t>
            </a:r>
            <a:r>
              <a:rPr lang="en-US" sz="1200" dirty="0">
                <a:solidFill>
                  <a:srgbClr val="B5530E"/>
                </a:solidFill>
                <a:latin typeface="IBM Plex Sans" pitchFamily="34" charset="0"/>
                <a:ea typeface="IBM Plex Sans" pitchFamily="34" charset="-122"/>
                <a:cs typeface="IBM Plex Sans" pitchFamily="34" charset="-120"/>
              </a:rPr>
              <a:t>orange = mainly Ray</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11B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C4D6"/>
                </a:solidFill>
                <a:latin typeface="JetBrains Mono" pitchFamily="49" charset="0"/>
                <a:ea typeface="JetBrains Mono" pitchFamily="49" charset="-122"/>
                <a:cs typeface="JetBrains Mono" pitchFamily="49" charset="-120"/>
              </a:rPr>
              <a:t>06 · THE PLAN AHEAD</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5F3EE"/>
                </a:solidFill>
                <a:latin typeface="IBM Plex Sans" pitchFamily="34" charset="0"/>
                <a:ea typeface="IBM Plex Sans" pitchFamily="34" charset="-122"/>
                <a:cs typeface="IBM Plex Sans" pitchFamily="34" charset="-120"/>
              </a:rPr>
              <a:t>From a laptop demo to real GPUs</a:t>
            </a:r>
            <a:endParaRPr lang="en-US" sz="3200" dirty="0"/>
          </a:p>
        </p:txBody>
      </p:sp>
      <p:sp>
        <p:nvSpPr>
          <p:cNvPr id="4" name="Shape 2"/>
          <p:cNvSpPr/>
          <p:nvPr/>
        </p:nvSpPr>
        <p:spPr>
          <a:xfrm>
            <a:off x="812800" y="2127151"/>
            <a:ext cx="3090267" cy="1605161"/>
          </a:xfrm>
          <a:prstGeom prst="roundRect">
            <a:avLst>
              <a:gd name="adj" fmla="val 7912"/>
            </a:avLst>
          </a:prstGeom>
          <a:solidFill>
            <a:srgbClr val="1E2C42"/>
          </a:solidFill>
          <a:ln/>
        </p:spPr>
      </p:sp>
      <p:sp>
        <p:nvSpPr>
          <p:cNvPr id="5" name="Text 3"/>
          <p:cNvSpPr/>
          <p:nvPr/>
        </p:nvSpPr>
        <p:spPr>
          <a:xfrm>
            <a:off x="1041400" y="2355751"/>
            <a:ext cx="271205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C4D6"/>
                </a:solidFill>
                <a:latin typeface="JetBrains Mono" pitchFamily="49" charset="0"/>
                <a:ea typeface="JetBrains Mono" pitchFamily="49" charset="-122"/>
                <a:cs typeface="JetBrains Mono" pitchFamily="49" charset="-120"/>
              </a:rPr>
              <a:t>TODAY · DONE</a:t>
            </a:r>
            <a:endParaRPr lang="en-US" sz="1200" dirty="0"/>
          </a:p>
        </p:txBody>
      </p:sp>
      <p:sp>
        <p:nvSpPr>
          <p:cNvPr id="6" name="Text 4"/>
          <p:cNvSpPr/>
          <p:nvPr/>
        </p:nvSpPr>
        <p:spPr>
          <a:xfrm>
            <a:off x="1041400" y="2670671"/>
            <a:ext cx="271205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5F3EE"/>
                </a:solidFill>
                <a:latin typeface="IBM Plex Sans" pitchFamily="34" charset="0"/>
                <a:ea typeface="IBM Plex Sans" pitchFamily="34" charset="-122"/>
                <a:cs typeface="IBM Plex Sans" pitchFamily="34" charset="-120"/>
              </a:rPr>
              <a:t>Docker demo</a:t>
            </a:r>
            <a:endParaRPr lang="en-US" sz="2000" dirty="0"/>
          </a:p>
        </p:txBody>
      </p:sp>
      <p:sp>
        <p:nvSpPr>
          <p:cNvPr id="7" name="Text 5"/>
          <p:cNvSpPr/>
          <p:nvPr/>
        </p:nvSpPr>
        <p:spPr>
          <a:xfrm>
            <a:off x="1041400" y="3077071"/>
            <a:ext cx="271205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4D6"/>
                </a:solidFill>
                <a:latin typeface="IBM Plex Sans" pitchFamily="34" charset="0"/>
                <a:ea typeface="IBM Plex Sans" pitchFamily="34" charset="-122"/>
                <a:cs typeface="IBM Plex Sans" pitchFamily="34" charset="-120"/>
              </a:rPr>
              <a:t>3 containers, CPU only. MNIST tuning and distilgpt2 LoRA.</a:t>
            </a:r>
            <a:endParaRPr lang="en-US" sz="1200" dirty="0"/>
          </a:p>
        </p:txBody>
      </p:sp>
      <p:pic>
        <p:nvPicPr>
          <p:cNvPr id="8" name="Image 0" descr="arrow-right">    </p:cNvPr>
          <p:cNvPicPr>
            <a:picLocks noChangeAspect="1"/>
          </p:cNvPicPr>
          <p:nvPr/>
        </p:nvPicPr>
        <p:blipFill>
          <a:blip r:embed="rId1"/>
          <a:srcRect l="0" r="0" t="0" b="0"/>
          <a:stretch/>
        </p:blipFill>
        <p:spPr>
          <a:xfrm>
            <a:off x="4030067" y="2828131"/>
            <a:ext cx="355600" cy="203200"/>
          </a:xfrm>
          <a:prstGeom prst="rect">
            <a:avLst/>
          </a:prstGeom>
        </p:spPr>
      </p:pic>
      <p:sp>
        <p:nvSpPr>
          <p:cNvPr id="9" name="Shape 6"/>
          <p:cNvSpPr/>
          <p:nvPr/>
        </p:nvSpPr>
        <p:spPr>
          <a:xfrm>
            <a:off x="4522192" y="1965226"/>
            <a:ext cx="3109416" cy="1929011"/>
          </a:xfrm>
          <a:prstGeom prst="roundRect">
            <a:avLst>
              <a:gd name="adj" fmla="val 6090"/>
            </a:avLst>
          </a:prstGeom>
          <a:solidFill>
            <a:srgbClr val="1E2C42"/>
          </a:solidFill>
          <a:ln w="19050">
            <a:solidFill>
              <a:srgbClr val="8AB8EC"/>
            </a:solidFill>
            <a:prstDash val="solid"/>
          </a:ln>
        </p:spPr>
      </p:sp>
      <p:sp>
        <p:nvSpPr>
          <p:cNvPr id="10" name="Text 7"/>
          <p:cNvSpPr/>
          <p:nvPr/>
        </p:nvSpPr>
        <p:spPr>
          <a:xfrm>
            <a:off x="4760317" y="2203351"/>
            <a:ext cx="271216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B8EC"/>
                </a:solidFill>
                <a:latin typeface="JetBrains Mono" pitchFamily="49" charset="0"/>
                <a:ea typeface="JetBrains Mono" pitchFamily="49" charset="-122"/>
                <a:cs typeface="JetBrains Mono" pitchFamily="49" charset="-120"/>
              </a:rPr>
              <a:t>PHASE 1</a:t>
            </a:r>
            <a:endParaRPr lang="en-US" sz="1200" dirty="0"/>
          </a:p>
        </p:txBody>
      </p:sp>
      <p:sp>
        <p:nvSpPr>
          <p:cNvPr id="11" name="Text 8"/>
          <p:cNvSpPr/>
          <p:nvPr/>
        </p:nvSpPr>
        <p:spPr>
          <a:xfrm>
            <a:off x="4760317" y="2518271"/>
            <a:ext cx="2712161"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5F3EE"/>
                </a:solidFill>
                <a:latin typeface="IBM Plex Sans" pitchFamily="34" charset="0"/>
                <a:ea typeface="IBM Plex Sans" pitchFamily="34" charset="-122"/>
                <a:cs typeface="IBM Plex Sans" pitchFamily="34" charset="-120"/>
              </a:rPr>
              <a:t>Slurm + Ray on Kubernetes</a:t>
            </a:r>
            <a:endParaRPr lang="en-US" sz="2000" dirty="0"/>
          </a:p>
        </p:txBody>
      </p:sp>
      <p:sp>
        <p:nvSpPr>
          <p:cNvPr id="12" name="Text 9"/>
          <p:cNvSpPr/>
          <p:nvPr/>
        </p:nvSpPr>
        <p:spPr>
          <a:xfrm>
            <a:off x="4760317" y="3229471"/>
            <a:ext cx="271216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4D6"/>
                </a:solidFill>
                <a:latin typeface="IBM Plex Sans" pitchFamily="34" charset="0"/>
                <a:ea typeface="IBM Plex Sans" pitchFamily="34" charset="-122"/>
                <a:cs typeface="IBM Plex Sans" pitchFamily="34" charset="-120"/>
              </a:rPr>
              <a:t>Slinky replaces docker-compose. Same sbatch workflow, elastic nodes.</a:t>
            </a:r>
            <a:endParaRPr lang="en-US" sz="1200" dirty="0"/>
          </a:p>
        </p:txBody>
      </p:sp>
      <p:pic>
        <p:nvPicPr>
          <p:cNvPr id="13" name="Image 1" descr="arrow-right">    </p:cNvPr>
          <p:cNvPicPr>
            <a:picLocks noChangeAspect="1"/>
          </p:cNvPicPr>
          <p:nvPr/>
        </p:nvPicPr>
        <p:blipFill>
          <a:blip r:embed="rId2"/>
          <a:srcRect l="0" r="0" t="0" b="0"/>
          <a:stretch/>
        </p:blipFill>
        <p:spPr>
          <a:xfrm>
            <a:off x="7768134" y="2828131"/>
            <a:ext cx="355600" cy="203200"/>
          </a:xfrm>
          <a:prstGeom prst="rect">
            <a:avLst/>
          </a:prstGeom>
        </p:spPr>
      </p:pic>
      <p:sp>
        <p:nvSpPr>
          <p:cNvPr id="14" name="Shape 10"/>
          <p:cNvSpPr/>
          <p:nvPr/>
        </p:nvSpPr>
        <p:spPr>
          <a:xfrm>
            <a:off x="8260259" y="1965226"/>
            <a:ext cx="3109416" cy="1929011"/>
          </a:xfrm>
          <a:prstGeom prst="roundRect">
            <a:avLst>
              <a:gd name="adj" fmla="val 6090"/>
            </a:avLst>
          </a:prstGeom>
          <a:solidFill>
            <a:srgbClr val="1E2C42"/>
          </a:solidFill>
          <a:ln w="19050">
            <a:solidFill>
              <a:srgbClr val="F2A25C"/>
            </a:solidFill>
            <a:prstDash val="solid"/>
          </a:ln>
        </p:spPr>
      </p:sp>
      <p:sp>
        <p:nvSpPr>
          <p:cNvPr id="15" name="Text 11"/>
          <p:cNvSpPr/>
          <p:nvPr/>
        </p:nvSpPr>
        <p:spPr>
          <a:xfrm>
            <a:off x="8498384" y="2203351"/>
            <a:ext cx="271216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A25C"/>
                </a:solidFill>
                <a:latin typeface="JetBrains Mono" pitchFamily="49" charset="0"/>
                <a:ea typeface="JetBrains Mono" pitchFamily="49" charset="-122"/>
                <a:cs typeface="JetBrains Mono" pitchFamily="49" charset="-120"/>
              </a:rPr>
              <a:t>PHASE 2</a:t>
            </a:r>
            <a:endParaRPr lang="en-US" sz="1200" dirty="0"/>
          </a:p>
        </p:txBody>
      </p:sp>
      <p:sp>
        <p:nvSpPr>
          <p:cNvPr id="16" name="Text 12"/>
          <p:cNvSpPr/>
          <p:nvPr/>
        </p:nvSpPr>
        <p:spPr>
          <a:xfrm>
            <a:off x="8498384" y="2518271"/>
            <a:ext cx="2712161"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5F3EE"/>
                </a:solidFill>
                <a:latin typeface="IBM Plex Sans" pitchFamily="34" charset="0"/>
                <a:ea typeface="IBM Plex Sans" pitchFamily="34" charset="-122"/>
                <a:cs typeface="IBM Plex Sans" pitchFamily="34" charset="-120"/>
              </a:rPr>
              <a:t>Fine-tune an LLM on GPUs</a:t>
            </a:r>
            <a:endParaRPr lang="en-US" sz="2000" dirty="0"/>
          </a:p>
        </p:txBody>
      </p:sp>
      <p:sp>
        <p:nvSpPr>
          <p:cNvPr id="17" name="Text 13"/>
          <p:cNvSpPr/>
          <p:nvPr/>
        </p:nvSpPr>
        <p:spPr>
          <a:xfrm>
            <a:off x="8498384" y="3229471"/>
            <a:ext cx="271216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4D6"/>
                </a:solidFill>
                <a:latin typeface="IBM Plex Sans" pitchFamily="34" charset="0"/>
                <a:ea typeface="IBM Plex Sans" pitchFamily="34" charset="-122"/>
                <a:cs typeface="IBM Plex Sans" pitchFamily="34" charset="-120"/>
              </a:rPr>
              <a:t>GPU nodes, a bigger open model, our own data.</a:t>
            </a:r>
            <a:endParaRPr lang="en-US" sz="1200" dirty="0"/>
          </a:p>
        </p:txBody>
      </p:sp>
      <p:sp>
        <p:nvSpPr>
          <p:cNvPr id="18" name="Text 14"/>
          <p:cNvSpPr/>
          <p:nvPr/>
        </p:nvSpPr>
        <p:spPr>
          <a:xfrm>
            <a:off x="812800" y="4310162"/>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8C4D6"/>
                </a:solidFill>
                <a:latin typeface="IBM Plex Sans" pitchFamily="34" charset="0"/>
                <a:ea typeface="IBM Plex Sans" pitchFamily="34" charset="-122"/>
                <a:cs typeface="IBM Plex Sans" pitchFamily="34" charset="-120"/>
              </a:rPr>
              <a:t>Each phase keeps what already works: the job script pattern and the Ray Tune code.</a:t>
            </a:r>
            <a:endParaRPr lang="en-US" sz="1500" dirty="0"/>
          </a:p>
        </p:txBody>
      </p:sp>
      <p:sp>
        <p:nvSpPr>
          <p:cNvPr id="19"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E9AAF"/>
                </a:solidFill>
                <a:latin typeface="IBM Plex Sans" pitchFamily="34" charset="0"/>
                <a:ea typeface="IBM Plex Sans" pitchFamily="34" charset="-122"/>
                <a:cs typeface="IBM Plex Sans" pitchFamily="34" charset="-120"/>
              </a:rPr>
              <a:t>Slurm + Ray for AI · 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D5FA8"/>
                </a:solidFill>
                <a:latin typeface="JetBrains Mono" pitchFamily="49" charset="0"/>
                <a:ea typeface="JetBrains Mono" pitchFamily="49" charset="-122"/>
                <a:cs typeface="JetBrains Mono" pitchFamily="49" charset="-120"/>
              </a:rPr>
              <a:t>06 · PHASE 1</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11B2B"/>
                </a:solidFill>
                <a:latin typeface="IBM Plex Sans" pitchFamily="34" charset="0"/>
                <a:ea typeface="IBM Plex Sans" pitchFamily="34" charset="-122"/>
                <a:cs typeface="IBM Plex Sans" pitchFamily="34" charset="-120"/>
              </a:rPr>
              <a:t>Slurm + Ray on Kubernetes with Slinky</a:t>
            </a:r>
            <a:endParaRPr lang="en-US" sz="3200" dirty="0"/>
          </a:p>
        </p:txBody>
      </p:sp>
      <p:sp>
        <p:nvSpPr>
          <p:cNvPr id="4" name="Text 2"/>
          <p:cNvSpPr/>
          <p:nvPr/>
        </p:nvSpPr>
        <p:spPr>
          <a:xfrm>
            <a:off x="812800" y="1752501"/>
            <a:ext cx="5101590"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11B2B"/>
                </a:solidFill>
                <a:latin typeface="IBM Plex Sans" pitchFamily="34" charset="0"/>
                <a:ea typeface="IBM Plex Sans" pitchFamily="34" charset="-122"/>
                <a:cs typeface="IBM Plex Sans" pitchFamily="34" charset="-120"/>
              </a:rPr>
              <a:t>Slinky</a:t>
            </a:r>
            <a:r>
              <a:rPr lang="en-US" sz="1500" dirty="0">
                <a:solidFill>
                  <a:srgbClr val="111B2B"/>
                </a:solidFill>
                <a:latin typeface="IBM Plex Sans" pitchFamily="34" charset="0"/>
                <a:ea typeface="IBM Plex Sans" pitchFamily="34" charset="-122"/>
                <a:cs typeface="IBM Plex Sans" pitchFamily="34" charset="-120"/>
              </a:rPr>
              <a:t> is SchedMD’s open-source project for running Slurm on Kubernetes.</a:t>
            </a:r>
            <a:endParaRPr lang="en-US" sz="1500" dirty="0"/>
          </a:p>
        </p:txBody>
      </p:sp>
      <p:sp>
        <p:nvSpPr>
          <p:cNvPr id="5" name="Shape 3"/>
          <p:cNvSpPr/>
          <p:nvPr/>
        </p:nvSpPr>
        <p:spPr>
          <a:xfrm>
            <a:off x="815975" y="2416076"/>
            <a:ext cx="4946650" cy="938411"/>
          </a:xfrm>
          <a:prstGeom prst="roundRect">
            <a:avLst>
              <a:gd name="adj" fmla="val 7782"/>
            </a:avLst>
          </a:prstGeom>
          <a:solidFill>
            <a:srgbClr val="FCFBF7"/>
          </a:solidFill>
          <a:ln w="6350">
            <a:solidFill>
              <a:srgbClr val="DCD6CA"/>
            </a:solidFill>
            <a:prstDash val="solid"/>
          </a:ln>
        </p:spPr>
      </p:sp>
      <p:sp>
        <p:nvSpPr>
          <p:cNvPr id="6" name="Text 4"/>
          <p:cNvSpPr/>
          <p:nvPr/>
        </p:nvSpPr>
        <p:spPr>
          <a:xfrm>
            <a:off x="971550" y="2546251"/>
            <a:ext cx="477456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5FA8"/>
                </a:solidFill>
                <a:latin typeface="JetBrains Mono" pitchFamily="49" charset="0"/>
                <a:ea typeface="JetBrains Mono" pitchFamily="49" charset="-122"/>
                <a:cs typeface="JetBrains Mono" pitchFamily="49" charset="-120"/>
              </a:rPr>
              <a:t>slurm-operator</a:t>
            </a:r>
            <a:endParaRPr lang="en-US" sz="1200" dirty="0"/>
          </a:p>
        </p:txBody>
      </p:sp>
      <p:sp>
        <p:nvSpPr>
          <p:cNvPr id="7" name="Text 5"/>
          <p:cNvSpPr/>
          <p:nvPr/>
        </p:nvSpPr>
        <p:spPr>
          <a:xfrm>
            <a:off x="971550" y="2797671"/>
            <a:ext cx="477456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Runs slurmctld and slurmd as pods, declared in YAML (e.g. a NodeSet of workers). Scale by changing replicas.</a:t>
            </a:r>
            <a:endParaRPr lang="en-US" sz="1200" dirty="0"/>
          </a:p>
        </p:txBody>
      </p:sp>
      <p:sp>
        <p:nvSpPr>
          <p:cNvPr id="8" name="Shape 6"/>
          <p:cNvSpPr/>
          <p:nvPr/>
        </p:nvSpPr>
        <p:spPr>
          <a:xfrm>
            <a:off x="815975" y="3487837"/>
            <a:ext cx="4946650" cy="725091"/>
          </a:xfrm>
          <a:prstGeom prst="roundRect">
            <a:avLst>
              <a:gd name="adj" fmla="val 10071"/>
            </a:avLst>
          </a:prstGeom>
          <a:solidFill>
            <a:srgbClr val="FCFBF7"/>
          </a:solidFill>
          <a:ln w="6350">
            <a:solidFill>
              <a:srgbClr val="DCD6CA"/>
            </a:solidFill>
            <a:prstDash val="solid"/>
          </a:ln>
        </p:spPr>
      </p:sp>
      <p:sp>
        <p:nvSpPr>
          <p:cNvPr id="9" name="Text 7"/>
          <p:cNvSpPr/>
          <p:nvPr/>
        </p:nvSpPr>
        <p:spPr>
          <a:xfrm>
            <a:off x="971550" y="3618012"/>
            <a:ext cx="477456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5FA8"/>
                </a:solidFill>
                <a:latin typeface="JetBrains Mono" pitchFamily="49" charset="0"/>
                <a:ea typeface="JetBrains Mono" pitchFamily="49" charset="-122"/>
                <a:cs typeface="JetBrains Mono" pitchFamily="49" charset="-120"/>
              </a:rPr>
              <a:t>slurm-bridge</a:t>
            </a:r>
            <a:endParaRPr lang="en-US" sz="1200" dirty="0"/>
          </a:p>
        </p:txBody>
      </p:sp>
      <p:sp>
        <p:nvSpPr>
          <p:cNvPr id="10" name="Text 8"/>
          <p:cNvSpPr/>
          <p:nvPr/>
        </p:nvSpPr>
        <p:spPr>
          <a:xfrm>
            <a:off x="971550" y="3869432"/>
            <a:ext cx="477456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Optional: lets Slurm also schedule ordinary Kubernetes pods.</a:t>
            </a:r>
            <a:endParaRPr lang="en-US" sz="1200" dirty="0"/>
          </a:p>
        </p:txBody>
      </p:sp>
      <p:sp>
        <p:nvSpPr>
          <p:cNvPr id="11" name="Text 9"/>
          <p:cNvSpPr/>
          <p:nvPr/>
        </p:nvSpPr>
        <p:spPr>
          <a:xfrm>
            <a:off x="6121400" y="1752501"/>
            <a:ext cx="541553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568"/>
                </a:solidFill>
                <a:latin typeface="IBM Plex Sans" pitchFamily="34" charset="0"/>
                <a:ea typeface="IBM Plex Sans" pitchFamily="34" charset="-122"/>
                <a:cs typeface="IBM Plex Sans" pitchFamily="34" charset="-120"/>
              </a:rPr>
              <a:t>Steps</a:t>
            </a:r>
            <a:endParaRPr lang="en-US" sz="1200" dirty="0"/>
          </a:p>
        </p:txBody>
      </p:sp>
      <p:sp>
        <p:nvSpPr>
          <p:cNvPr id="12" name="Text 10"/>
          <p:cNvSpPr/>
          <p:nvPr/>
        </p:nvSpPr>
        <p:spPr>
          <a:xfrm>
            <a:off x="6121400" y="2016621"/>
            <a:ext cx="541553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5FA8"/>
                </a:solidFill>
                <a:latin typeface="IBM Plex Sans" pitchFamily="34" charset="0"/>
                <a:ea typeface="IBM Plex Sans" pitchFamily="34" charset="-122"/>
                <a:cs typeface="IBM Plex Sans" pitchFamily="34" charset="-120"/>
              </a:rPr>
              <a:t>1 · Dev cluster:</a:t>
            </a:r>
            <a:r>
              <a:rPr lang="en-US" sz="1200" dirty="0">
                <a:solidFill>
                  <a:srgbClr val="111B2B"/>
                </a:solidFill>
                <a:latin typeface="IBM Plex Sans" pitchFamily="34" charset="0"/>
                <a:ea typeface="IBM Plex Sans" pitchFamily="34" charset="-122"/>
                <a:cs typeface="IBM Plex Sans" pitchFamily="34" charset="-120"/>
              </a:rPr>
              <a:t> Kubernetes locally with kind or minikube.</a:t>
            </a:r>
            <a:endParaRPr lang="en-US" sz="1200" dirty="0"/>
          </a:p>
        </p:txBody>
      </p:sp>
      <p:sp>
        <p:nvSpPr>
          <p:cNvPr id="13" name="Text 11"/>
          <p:cNvSpPr/>
          <p:nvPr/>
        </p:nvSpPr>
        <p:spPr>
          <a:xfrm>
            <a:off x="6121400" y="2280741"/>
            <a:ext cx="541553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5FA8"/>
                </a:solidFill>
                <a:latin typeface="IBM Plex Sans" pitchFamily="34" charset="0"/>
                <a:ea typeface="IBM Plex Sans" pitchFamily="34" charset="-122"/>
                <a:cs typeface="IBM Plex Sans" pitchFamily="34" charset="-120"/>
              </a:rPr>
              <a:t>2 · Install:</a:t>
            </a:r>
            <a:r>
              <a:rPr lang="en-US" sz="1200" dirty="0">
                <a:solidFill>
                  <a:srgbClr val="111B2B"/>
                </a:solidFill>
                <a:latin typeface="IBM Plex Sans" pitchFamily="34" charset="0"/>
                <a:ea typeface="IBM Plex Sans" pitchFamily="34" charset="-122"/>
                <a:cs typeface="IBM Plex Sans" pitchFamily="34" charset="-120"/>
              </a:rPr>
              <a:t> cert-manager, then the slurm-operator Helm chart.</a:t>
            </a:r>
            <a:endParaRPr lang="en-US" sz="1200" dirty="0"/>
          </a:p>
        </p:txBody>
      </p:sp>
      <p:sp>
        <p:nvSpPr>
          <p:cNvPr id="14" name="Text 12"/>
          <p:cNvSpPr/>
          <p:nvPr/>
        </p:nvSpPr>
        <p:spPr>
          <a:xfrm>
            <a:off x="6121400" y="2544862"/>
            <a:ext cx="541553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5FA8"/>
                </a:solidFill>
                <a:latin typeface="IBM Plex Sans" pitchFamily="34" charset="0"/>
                <a:ea typeface="IBM Plex Sans" pitchFamily="34" charset="-122"/>
                <a:cs typeface="IBM Plex Sans" pitchFamily="34" charset="-120"/>
              </a:rPr>
              <a:t>3 · Deploy Slurm:</a:t>
            </a:r>
            <a:r>
              <a:rPr lang="en-US" sz="1200" dirty="0">
                <a:solidFill>
                  <a:srgbClr val="111B2B"/>
                </a:solidFill>
                <a:latin typeface="IBM Plex Sans" pitchFamily="34" charset="0"/>
                <a:ea typeface="IBM Plex Sans" pitchFamily="34" charset="-122"/>
                <a:cs typeface="IBM Plex Sans" pitchFamily="34" charset="-120"/>
              </a:rPr>
              <a:t> controller plus a NodeSet built from our demo image.</a:t>
            </a:r>
            <a:endParaRPr lang="en-US" sz="1200" dirty="0"/>
          </a:p>
        </p:txBody>
      </p:sp>
      <p:sp>
        <p:nvSpPr>
          <p:cNvPr id="15" name="Text 13"/>
          <p:cNvSpPr/>
          <p:nvPr/>
        </p:nvSpPr>
        <p:spPr>
          <a:xfrm>
            <a:off x="6121400" y="2808982"/>
            <a:ext cx="60706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5FA8"/>
                </a:solidFill>
                <a:latin typeface="IBM Plex Sans" pitchFamily="34" charset="0"/>
                <a:ea typeface="IBM Plex Sans" pitchFamily="34" charset="-122"/>
                <a:cs typeface="IBM Plex Sans" pitchFamily="34" charset="-120"/>
              </a:rPr>
              <a:t>4 · Storage:</a:t>
            </a:r>
            <a:r>
              <a:rPr lang="en-US" sz="1200" dirty="0">
                <a:solidFill>
                  <a:srgbClr val="111B2B"/>
                </a:solidFill>
                <a:latin typeface="IBM Plex Sans" pitchFamily="34" charset="0"/>
                <a:ea typeface="IBM Plex Sans" pitchFamily="34" charset="-122"/>
                <a:cs typeface="IBM Plex Sans" pitchFamily="34" charset="-120"/>
              </a:rPr>
              <a:t> a shared PersistentVolume replaces the /shared Docker volume.</a:t>
            </a:r>
            <a:endParaRPr lang="en-US" sz="1200" dirty="0"/>
          </a:p>
        </p:txBody>
      </p:sp>
      <p:sp>
        <p:nvSpPr>
          <p:cNvPr id="16" name="Text 14"/>
          <p:cNvSpPr/>
          <p:nvPr/>
        </p:nvSpPr>
        <p:spPr>
          <a:xfrm>
            <a:off x="6121400" y="3073102"/>
            <a:ext cx="5415534"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5FA8"/>
                </a:solidFill>
                <a:latin typeface="IBM Plex Sans" pitchFamily="34" charset="0"/>
                <a:ea typeface="IBM Plex Sans" pitchFamily="34" charset="-122"/>
                <a:cs typeface="IBM Plex Sans" pitchFamily="34" charset="-120"/>
              </a:rPr>
              <a:t>5 · Prove it:</a:t>
            </a:r>
            <a:r>
              <a:rPr lang="en-US" sz="1200" dirty="0">
                <a:solidFill>
                  <a:srgbClr val="111B2B"/>
                </a:solidFill>
                <a:latin typeface="IBM Plex Sans" pitchFamily="34" charset="0"/>
                <a:ea typeface="IBM Plex Sans" pitchFamily="34" charset="-122"/>
                <a:cs typeface="IBM Plex Sans" pitchFamily="34" charset="-120"/>
              </a:rPr>
              <a:t> sbatch the same submit_ray_job.sh and match the MNIST result.</a:t>
            </a:r>
            <a:endParaRPr lang="en-US" sz="1200" dirty="0"/>
          </a:p>
        </p:txBody>
      </p:sp>
      <p:sp>
        <p:nvSpPr>
          <p:cNvPr id="17" name="Text 15"/>
          <p:cNvSpPr/>
          <p:nvPr/>
        </p:nvSpPr>
        <p:spPr>
          <a:xfrm>
            <a:off x="812800" y="4419302"/>
            <a:ext cx="10566400" cy="762000"/>
          </a:xfrm>
          <a:prstGeom prst="roundRect">
            <a:avLst>
              <a:gd name="adj" fmla="val 13333"/>
            </a:avLst>
          </a:prstGeom>
          <a:solidFill>
            <a:srgbClr val="111B2B"/>
          </a:solidFill>
          <a:ln/>
        </p:spPr>
        <p:txBody>
          <a:bodyPr wrap="none" lIns="198842" tIns="122642" rIns="0" bIns="97242" rtlCol="0" anchor="t">
            <a:normAutofit/>
          </a:bodyPr>
          <a:lstStyle/>
          <a:p>
            <a:pPr algn="l" indent="0" marL="0">
              <a:lnSpc>
                <a:spcPts val="1800"/>
              </a:lnSpc>
              <a:buNone/>
            </a:pPr>
            <a:r>
              <a:rPr lang="en-US" sz="1200" dirty="0">
                <a:solidFill>
                  <a:srgbClr val="E9E4D8"/>
                </a:solidFill>
                <a:latin typeface="JetBrains Mono" pitchFamily="49" charset="0"/>
                <a:ea typeface="JetBrains Mono" pitchFamily="49" charset="-122"/>
                <a:cs typeface="JetBrains Mono" pitchFamily="49" charset="-120"/>
              </a:rPr>
              <a:t>helm install slurm-operator oci://ghcr.io/slinkyproject/charts/slurm-operator</a:t>
            </a:r>
            <a:endParaRPr lang="en-US" sz="1200" dirty="0"/>
          </a:p>
          <a:p>
            <a:pPr algn="l" indent="0" marL="0">
              <a:lnSpc>
                <a:spcPts val="1800"/>
              </a:lnSpc>
              <a:buNone/>
            </a:pPr>
            <a:r>
              <a:rPr lang="en-US" sz="1200" dirty="0">
                <a:solidFill>
                  <a:srgbClr val="E9E4D8"/>
                </a:solidFill>
                <a:latin typeface="JetBrains Mono" pitchFamily="49" charset="0"/>
                <a:ea typeface="JetBrains Mono" pitchFamily="49" charset="-122"/>
                <a:cs typeface="JetBrains Mono" pitchFamily="49" charset="-120"/>
              </a:rPr>
              <a:t>helm install slurm oci://ghcr.io/slinkyproject/charts/slurm</a:t>
            </a:r>
            <a:endParaRPr lang="en-US" sz="1200" dirty="0"/>
          </a:p>
        </p:txBody>
      </p:sp>
      <p:sp>
        <p:nvSpPr>
          <p:cNvPr id="18"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Slurm + Ray for AI · 21 · Check the Slinky docs for current chart versions and flags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30E"/>
                </a:solidFill>
                <a:latin typeface="JetBrains Mono" pitchFamily="49" charset="0"/>
                <a:ea typeface="JetBrains Mono" pitchFamily="49" charset="-122"/>
                <a:cs typeface="JetBrains Mono" pitchFamily="49" charset="-120"/>
              </a:rPr>
              <a:t>06 · PHASE 2</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11B2B"/>
                </a:solidFill>
                <a:latin typeface="IBM Plex Sans" pitchFamily="34" charset="0"/>
                <a:ea typeface="IBM Plex Sans" pitchFamily="34" charset="-122"/>
                <a:cs typeface="IBM Plex Sans" pitchFamily="34" charset="-120"/>
              </a:rPr>
              <a:t>Fine-tune an LLM on GPUs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65201"/>
          <a:ext cx="10553700" cy="2328069"/>
        </p:xfrm>
        <a:graphic>
          <a:graphicData uri="http://schemas.openxmlformats.org/drawingml/2006/table">
            <a:tbl>
              <a:tblPr/>
              <a:tblGrid>
                <a:gridCol w="2110740"/>
                <a:gridCol w="3166110"/>
                <a:gridCol w="5276850"/>
              </a:tblGrid>
              <a:tr h="332581">
                <a:tc>
                  <a:txBody>
                    <a:bodyPr/>
                    <a:lstStyle/>
                    <a:p>
                      <a:pPr indent="0" marL="0">
                        <a:lnSpc>
                          <a:spcPts val="1680"/>
                        </a:lnSpc>
                        <a:buNone/>
                      </a:pPr>
                      <a:r>
                        <a:rPr lang="en-US" sz="1200" b="1" dirty="0">
                          <a:solidFill>
                            <a:srgbClr val="111B2B"/>
                          </a:solidFill>
                          <a:latin typeface="IBM Plex Sans" pitchFamily="34" charset="0"/>
                          <a:ea typeface="IBM Plex Sans" pitchFamily="34" charset="-122"/>
                          <a:cs typeface="IBM Plex Sans" pitchFamily="34" charset="-120"/>
                        </a:rPr>
                        <a:t>What changes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B8AD"/>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B8AD"/>
                      </a:solidFill>
                      <a:prstDash val="solid"/>
                      <a:round/>
                      <a:headEnd type="none" w="med" len="med"/>
                      <a:tailEnd type="none" w="med" len="med"/>
                    </a:lnB>
                    <a:solidFill>
                      <a:srgbClr val="F6E6D9"/>
                    </a:solidFill>
                  </a:tcPr>
                </a:tc>
                <a:tc>
                  <a:txBody>
                    <a:bodyPr/>
                    <a:lstStyle/>
                    <a:p>
                      <a:pPr indent="0" marL="0">
                        <a:lnSpc>
                          <a:spcPts val="1680"/>
                        </a:lnSpc>
                        <a:buNone/>
                      </a:pPr>
                      <a:r>
                        <a:rPr lang="en-US" sz="1200" b="1" dirty="0">
                          <a:solidFill>
                            <a:srgbClr val="111B2B"/>
                          </a:solidFill>
                          <a:latin typeface="IBM Plex Sans" pitchFamily="34" charset="0"/>
                          <a:ea typeface="IBM Plex Sans" pitchFamily="34" charset="-122"/>
                          <a:cs typeface="IBM Plex Sans" pitchFamily="34" charset="-120"/>
                        </a:rPr>
                        <a:t>Today (CPU)</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B8AD"/>
                      </a:solidFill>
                      <a:prstDash val="solid"/>
                      <a:round/>
                      <a:headEnd type="none" w="med" len="med"/>
                      <a:tailEnd type="none" w="med" len="med"/>
                    </a:lnL>
                    <a:lnR w="12700" cap="flat" cmpd="sng" algn="ctr">
                      <a:solidFill>
                        <a:srgbClr val="C4B8AD"/>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B8AD"/>
                      </a:solidFill>
                      <a:prstDash val="solid"/>
                      <a:round/>
                      <a:headEnd type="none" w="med" len="med"/>
                      <a:tailEnd type="none" w="med" len="med"/>
                    </a:lnB>
                    <a:solidFill>
                      <a:srgbClr val="F6E6D9"/>
                    </a:solidFill>
                  </a:tcPr>
                </a:tc>
                <a:tc>
                  <a:txBody>
                    <a:bodyPr/>
                    <a:lstStyle/>
                    <a:p>
                      <a:pPr indent="0" marL="0">
                        <a:lnSpc>
                          <a:spcPts val="1680"/>
                        </a:lnSpc>
                        <a:buNone/>
                      </a:pPr>
                      <a:r>
                        <a:rPr lang="en-US" sz="1200" b="1" dirty="0">
                          <a:solidFill>
                            <a:srgbClr val="111B2B"/>
                          </a:solidFill>
                          <a:latin typeface="IBM Plex Sans" pitchFamily="34" charset="0"/>
                          <a:ea typeface="IBM Plex Sans" pitchFamily="34" charset="-122"/>
                          <a:cs typeface="IBM Plex Sans" pitchFamily="34" charset="-120"/>
                        </a:rPr>
                        <a:t>Phase 2 (GPU)</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B8AD"/>
                      </a:solidFill>
                      <a:prstDash val="solid"/>
                      <a:round/>
                      <a:headEnd type="none" w="med" len="med"/>
                      <a:tailEnd type="none" w="med" len="med"/>
                    </a:lnL>
                    <a:lnR w="12700" cap="flat" cmpd="sng" algn="ctr">
                      <a:solidFill>
                        <a:srgbClr val="C4B8AD"/>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B8AD"/>
                      </a:solidFill>
                      <a:prstDash val="solid"/>
                      <a:round/>
                      <a:headEnd type="none" w="med" len="med"/>
                      <a:tailEnd type="none" w="med" len="med"/>
                    </a:lnB>
                    <a:solidFill>
                      <a:srgbClr val="F6E6D9"/>
                    </a:solidFill>
                  </a:tcPr>
                </a:tc>
              </a:tr>
              <a:tr h="332581">
                <a:tc>
                  <a:txBody>
                    <a:bodyPr/>
                    <a:lstStyle/>
                    <a:p>
                      <a:pPr indent="0" marL="0">
                        <a:lnSpc>
                          <a:spcPts val="1680"/>
                        </a:lnSpc>
                        <a:buNone/>
                      </a:pPr>
                      <a:r>
                        <a:rPr lang="en-US" sz="1200" dirty="0">
                          <a:solidFill>
                            <a:srgbClr val="111B2B"/>
                          </a:solidFill>
                          <a:latin typeface="IBM Plex Sans" pitchFamily="34" charset="0"/>
                          <a:ea typeface="IBM Plex Sans" pitchFamily="34" charset="-122"/>
                          <a:cs typeface="IBM Plex Sans" pitchFamily="34" charset="-120"/>
                        </a:rPr>
                        <a:t>slurm.conf</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B8AD"/>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11B2B"/>
                          </a:solidFill>
                          <a:latin typeface="IBM Plex Sans" pitchFamily="34" charset="0"/>
                          <a:ea typeface="IBM Plex Sans" pitchFamily="34" charset="-122"/>
                          <a:cs typeface="IBM Plex Sans" pitchFamily="34" charset="-120"/>
                        </a:rPr>
                        <a:t>CPUs=2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B8AD"/>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11B2B"/>
                          </a:solidFill>
                          <a:latin typeface="IBM Plex Sans" pitchFamily="34" charset="0"/>
                          <a:ea typeface="IBM Plex Sans" pitchFamily="34" charset="-122"/>
                          <a:cs typeface="IBM Plex Sans" pitchFamily="34" charset="-120"/>
                        </a:rPr>
                        <a:t>GresTypes=gpu, Gres=gpu:N, plus gres.conf</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B8AD"/>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32581">
                <a:tc>
                  <a:txBody>
                    <a:bodyPr/>
                    <a:lstStyle/>
                    <a:p>
                      <a:pPr indent="0" marL="0">
                        <a:lnSpc>
                          <a:spcPts val="1680"/>
                        </a:lnSpc>
                        <a:buNone/>
                      </a:pPr>
                      <a:r>
                        <a:rPr lang="en-US" sz="1200" dirty="0">
                          <a:solidFill>
                            <a:srgbClr val="111B2B"/>
                          </a:solidFill>
                          <a:latin typeface="IBM Plex Sans" pitchFamily="34" charset="0"/>
                          <a:ea typeface="IBM Plex Sans" pitchFamily="34" charset="-122"/>
                          <a:cs typeface="IBM Plex Sans" pitchFamily="34" charset="-120"/>
                        </a:rPr>
                        <a:t>Job script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11B2B"/>
                          </a:solidFill>
                          <a:latin typeface="IBM Plex Sans" pitchFamily="34" charset="0"/>
                          <a:ea typeface="IBM Plex Sans" pitchFamily="34" charset="-122"/>
                          <a:cs typeface="IBM Plex Sans" pitchFamily="34" charset="-120"/>
                        </a:rPr>
                        <a:t>--cpus-per-task=2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11B2B"/>
                          </a:solidFill>
                          <a:latin typeface="IBM Plex Sans" pitchFamily="34" charset="0"/>
                          <a:ea typeface="IBM Plex Sans" pitchFamily="34" charset="-122"/>
                          <a:cs typeface="IBM Plex Sans" pitchFamily="34" charset="-120"/>
                        </a:rPr>
                        <a:t>--gpus-per-node=N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2581">
                <a:tc>
                  <a:txBody>
                    <a:bodyPr/>
                    <a:lstStyle/>
                    <a:p>
                      <a:pPr indent="0" marL="0">
                        <a:lnSpc>
                          <a:spcPts val="1680"/>
                        </a:lnSpc>
                        <a:buNone/>
                      </a:pPr>
                      <a:r>
                        <a:rPr lang="en-US" sz="1200" dirty="0">
                          <a:solidFill>
                            <a:srgbClr val="111B2B"/>
                          </a:solidFill>
                          <a:latin typeface="IBM Plex Sans" pitchFamily="34" charset="0"/>
                          <a:ea typeface="IBM Plex Sans" pitchFamily="34" charset="-122"/>
                          <a:cs typeface="IBM Plex Sans" pitchFamily="34" charset="-120"/>
                        </a:rPr>
                        <a:t>Ray start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11B2B"/>
                          </a:solidFill>
                          <a:latin typeface="IBM Plex Sans" pitchFamily="34" charset="0"/>
                          <a:ea typeface="IBM Plex Sans" pitchFamily="34" charset="-122"/>
                          <a:cs typeface="IBM Plex Sans" pitchFamily="34" charset="-120"/>
                        </a:rPr>
                        <a:t>--num-cpus=2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11B2B"/>
                          </a:solidFill>
                          <a:latin typeface="IBM Plex Sans" pitchFamily="34" charset="0"/>
                          <a:ea typeface="IBM Plex Sans" pitchFamily="34" charset="-122"/>
                          <a:cs typeface="IBM Plex Sans" pitchFamily="34" charset="-120"/>
                        </a:rPr>
                        <a:t>--num-gpus=N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32581">
                <a:tc>
                  <a:txBody>
                    <a:bodyPr/>
                    <a:lstStyle/>
                    <a:p>
                      <a:pPr indent="0" marL="0">
                        <a:lnSpc>
                          <a:spcPts val="1680"/>
                        </a:lnSpc>
                        <a:buNone/>
                      </a:pPr>
                      <a:r>
                        <a:rPr lang="en-US" sz="1200" dirty="0">
                          <a:solidFill>
                            <a:srgbClr val="111B2B"/>
                          </a:solidFill>
                          <a:latin typeface="IBM Plex Sans" pitchFamily="34" charset="0"/>
                          <a:ea typeface="IBM Plex Sans" pitchFamily="34" charset="-122"/>
                          <a:cs typeface="IBM Plex Sans" pitchFamily="34" charset="-120"/>
                        </a:rPr>
                        <a:t>Per trial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11B2B"/>
                          </a:solidFill>
                          <a:latin typeface="IBM Plex Sans" pitchFamily="34" charset="0"/>
                          <a:ea typeface="IBM Plex Sans" pitchFamily="34" charset="-122"/>
                          <a:cs typeface="IBM Plex Sans" pitchFamily="34" charset="-120"/>
                        </a:rPr>
                        <a:t>{"cpu": 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11B2B"/>
                          </a:solidFill>
                          <a:latin typeface="IBM Plex Sans" pitchFamily="34" charset="0"/>
                          <a:ea typeface="IBM Plex Sans" pitchFamily="34" charset="-122"/>
                          <a:cs typeface="IBM Plex Sans" pitchFamily="34" charset="-120"/>
                        </a:rPr>
                        <a:t>{"cpu": 4, "gpu": 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2581">
                <a:tc>
                  <a:txBody>
                    <a:bodyPr/>
                    <a:lstStyle/>
                    <a:p>
                      <a:pPr indent="0" marL="0">
                        <a:lnSpc>
                          <a:spcPts val="1680"/>
                        </a:lnSpc>
                        <a:buNone/>
                      </a:pPr>
                      <a:r>
                        <a:rPr lang="en-US" sz="1200" dirty="0">
                          <a:solidFill>
                            <a:srgbClr val="111B2B"/>
                          </a:solidFill>
                          <a:latin typeface="IBM Plex Sans" pitchFamily="34" charset="0"/>
                          <a:ea typeface="IBM Plex Sans" pitchFamily="34" charset="-122"/>
                          <a:cs typeface="IBM Plex Sans" pitchFamily="34" charset="-120"/>
                        </a:rPr>
                        <a:t>Model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11B2B"/>
                          </a:solidFill>
                          <a:latin typeface="IBM Plex Sans" pitchFamily="34" charset="0"/>
                          <a:ea typeface="IBM Plex Sans" pitchFamily="34" charset="-122"/>
                          <a:cs typeface="IBM Plex Sans" pitchFamily="34" charset="-120"/>
                        </a:rPr>
                        <a:t>distilgpt2, 82M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680"/>
                        </a:lnSpc>
                        <a:buNone/>
                      </a:pPr>
                      <a:r>
                        <a:rPr lang="en-US" sz="1200" dirty="0">
                          <a:solidFill>
                            <a:srgbClr val="111B2B"/>
                          </a:solidFill>
                          <a:latin typeface="IBM Plex Sans" pitchFamily="34" charset="0"/>
                          <a:ea typeface="IBM Plex Sans" pitchFamily="34" charset="-122"/>
                          <a:cs typeface="IBM Plex Sans" pitchFamily="34" charset="-120"/>
                        </a:rPr>
                        <a:t>[open-weights model, e.g. 1B–8B] on [our dataset]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32581">
                <a:tc>
                  <a:txBody>
                    <a:bodyPr/>
                    <a:lstStyle/>
                    <a:p>
                      <a:pPr indent="0" marL="0">
                        <a:lnSpc>
                          <a:spcPts val="1680"/>
                        </a:lnSpc>
                        <a:buNone/>
                      </a:pPr>
                      <a:r>
                        <a:rPr lang="en-US" sz="1200" dirty="0">
                          <a:solidFill>
                            <a:srgbClr val="111B2B"/>
                          </a:solidFill>
                          <a:latin typeface="IBM Plex Sans" pitchFamily="34" charset="0"/>
                          <a:ea typeface="IBM Plex Sans" pitchFamily="34" charset="-122"/>
                          <a:cs typeface="IBM Plex Sans" pitchFamily="34" charset="-120"/>
                        </a:rPr>
                        <a:t>Training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11B2B"/>
                          </a:solidFill>
                          <a:latin typeface="IBM Plex Sans" pitchFamily="34" charset="0"/>
                          <a:ea typeface="IBM Plex Sans" pitchFamily="34" charset="-122"/>
                          <a:cs typeface="IBM Plex Sans" pitchFamily="34" charset="-120"/>
                        </a:rPr>
                        <a:t>LoRA, fp32, CPU</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11B2B"/>
                          </a:solidFill>
                          <a:latin typeface="IBM Plex Sans" pitchFamily="34" charset="0"/>
                          <a:ea typeface="IBM Plex Sans" pitchFamily="34" charset="-122"/>
                          <a:cs typeface="IBM Plex Sans" pitchFamily="34" charset="-120"/>
                        </a:rPr>
                        <a:t>LoRA or QLoRA in bf16; Ray Train for multi-GPU</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bl>
          </a:graphicData>
        </a:graphic>
      </p:graphicFrame>
      <p:sp>
        <p:nvSpPr>
          <p:cNvPr id="5" name="Shape 2"/>
          <p:cNvSpPr/>
          <p:nvPr/>
        </p:nvSpPr>
        <p:spPr>
          <a:xfrm>
            <a:off x="815975" y="4299645"/>
            <a:ext cx="5181600" cy="1052711"/>
          </a:xfrm>
          <a:prstGeom prst="roundRect">
            <a:avLst>
              <a:gd name="adj" fmla="val 9350"/>
            </a:avLst>
          </a:prstGeom>
          <a:solidFill>
            <a:srgbClr val="FCFBF7"/>
          </a:solidFill>
          <a:ln w="6350">
            <a:solidFill>
              <a:srgbClr val="DCD6CA"/>
            </a:solidFill>
            <a:prstDash val="solid"/>
          </a:ln>
        </p:spPr>
      </p:sp>
      <p:sp>
        <p:nvSpPr>
          <p:cNvPr id="6" name="Text 3"/>
          <p:cNvSpPr/>
          <p:nvPr/>
        </p:nvSpPr>
        <p:spPr>
          <a:xfrm>
            <a:off x="996950" y="4455220"/>
            <a:ext cx="4964240"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11B2B"/>
                </a:solidFill>
                <a:latin typeface="IBM Plex Sans" pitchFamily="34" charset="0"/>
                <a:ea typeface="IBM Plex Sans" pitchFamily="34" charset="-122"/>
                <a:cs typeface="IBM Plex Sans" pitchFamily="34" charset="-120"/>
              </a:rPr>
              <a:t>Prerequisites</a:t>
            </a:r>
            <a:endParaRPr lang="en-US" sz="1600" dirty="0"/>
          </a:p>
        </p:txBody>
      </p:sp>
      <p:sp>
        <p:nvSpPr>
          <p:cNvPr id="7" name="Text 4"/>
          <p:cNvSpPr/>
          <p:nvPr/>
        </p:nvSpPr>
        <p:spPr>
          <a:xfrm>
            <a:off x="996950" y="4770140"/>
            <a:ext cx="496424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GPU nodes with NVIDIA drivers, a CUDA build of PyTorch, and the NVIDIA GPU Operator on Kubernetes.</a:t>
            </a:r>
            <a:endParaRPr lang="en-US" sz="1200" dirty="0"/>
          </a:p>
        </p:txBody>
      </p:sp>
      <p:sp>
        <p:nvSpPr>
          <p:cNvPr id="8" name="Shape 5"/>
          <p:cNvSpPr/>
          <p:nvPr/>
        </p:nvSpPr>
        <p:spPr>
          <a:xfrm>
            <a:off x="6203950" y="4296470"/>
            <a:ext cx="5175250" cy="1059061"/>
          </a:xfrm>
          <a:prstGeom prst="roundRect">
            <a:avLst>
              <a:gd name="adj" fmla="val 9593"/>
            </a:avLst>
          </a:prstGeom>
          <a:solidFill>
            <a:srgbClr val="F6E6D9"/>
          </a:solidFill>
          <a:ln/>
        </p:spPr>
      </p:sp>
      <p:sp>
        <p:nvSpPr>
          <p:cNvPr id="9" name="Text 6"/>
          <p:cNvSpPr/>
          <p:nvPr/>
        </p:nvSpPr>
        <p:spPr>
          <a:xfrm>
            <a:off x="6381750" y="4448870"/>
            <a:ext cx="4964240"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B5530E"/>
                </a:solidFill>
                <a:latin typeface="IBM Plex Sans" pitchFamily="34" charset="0"/>
                <a:ea typeface="IBM Plex Sans" pitchFamily="34" charset="-122"/>
                <a:cs typeface="IBM Plex Sans" pitchFamily="34" charset="-120"/>
              </a:rPr>
              <a:t>Done when</a:t>
            </a:r>
            <a:endParaRPr lang="en-US" sz="1600" dirty="0"/>
          </a:p>
        </p:txBody>
      </p:sp>
      <p:sp>
        <p:nvSpPr>
          <p:cNvPr id="10" name="Text 7"/>
          <p:cNvSpPr/>
          <p:nvPr/>
        </p:nvSpPr>
        <p:spPr>
          <a:xfrm>
            <a:off x="6381750" y="4763790"/>
            <a:ext cx="496424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11B2B"/>
                </a:solidFill>
                <a:latin typeface="IBM Plex Sans" pitchFamily="34" charset="0"/>
                <a:ea typeface="IBM Plex Sans" pitchFamily="34" charset="-122"/>
                <a:cs typeface="IBM Plex Sans" pitchFamily="34" charset="-120"/>
              </a:rPr>
              <a:t>A LoRA sweep runs on GPUs via sbatch, beats the base model on our eval set, and saves the adapter.</a:t>
            </a:r>
            <a:endParaRPr lang="en-US" sz="1200" dirty="0"/>
          </a:p>
        </p:txBody>
      </p:sp>
      <p:sp>
        <p:nvSpPr>
          <p:cNvPr id="11"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Slurm + Ray for AI · 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11B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C4D6"/>
                </a:solidFill>
                <a:latin typeface="JetBrains Mono" pitchFamily="49" charset="0"/>
                <a:ea typeface="JetBrains Mono" pitchFamily="49" charset="-122"/>
                <a:cs typeface="JetBrains Mono" pitchFamily="49" charset="-120"/>
              </a:rPr>
              <a:t>THREE THINGS TO REMEMBER</a:t>
            </a:r>
            <a:endParaRPr lang="en-US" sz="1200" dirty="0"/>
          </a:p>
        </p:txBody>
      </p:sp>
      <p:sp>
        <p:nvSpPr>
          <p:cNvPr id="3" name="Text 1"/>
          <p:cNvSpPr/>
          <p:nvPr/>
        </p:nvSpPr>
        <p:spPr>
          <a:xfrm>
            <a:off x="812800" y="2265759"/>
            <a:ext cx="10883392" cy="513060"/>
          </a:xfrm>
          <a:prstGeom prst="rect">
            <a:avLst/>
          </a:prstGeom>
          <a:noFill/>
          <a:ln/>
        </p:spPr>
        <p:txBody>
          <a:bodyPr wrap="square" lIns="0" tIns="0" rIns="0" bIns="0" rtlCol="0" anchor="t">
            <a:normAutofit/>
          </a:bodyPr>
          <a:lstStyle/>
          <a:p>
            <a:pPr algn="l" indent="0" marL="0">
              <a:lnSpc>
                <a:spcPts val="3840"/>
              </a:lnSpc>
              <a:buNone/>
            </a:pPr>
            <a:r>
              <a:rPr lang="en-US" sz="3200" b="1" dirty="0">
                <a:solidFill>
                  <a:srgbClr val="8AB8EC"/>
                </a:solidFill>
                <a:latin typeface="IBM Plex Sans" pitchFamily="34" charset="0"/>
                <a:ea typeface="IBM Plex Sans" pitchFamily="34" charset="-122"/>
                <a:cs typeface="IBM Plex Sans" pitchFamily="34" charset="-120"/>
              </a:rPr>
              <a:t>Slurm</a:t>
            </a:r>
            <a:r>
              <a:rPr lang="en-US" sz="3200" b="1" dirty="0">
                <a:solidFill>
                  <a:srgbClr val="F5F3EE"/>
                </a:solidFill>
                <a:latin typeface="IBM Plex Sans" pitchFamily="34" charset="0"/>
                <a:ea typeface="IBM Plex Sans" pitchFamily="34" charset="-122"/>
                <a:cs typeface="IBM Plex Sans" pitchFamily="34" charset="-120"/>
              </a:rPr>
              <a:t> hands out machines fairly.</a:t>
            </a:r>
            <a:endParaRPr lang="en-US" sz="3200" dirty="0"/>
          </a:p>
        </p:txBody>
      </p:sp>
      <p:sp>
        <p:nvSpPr>
          <p:cNvPr id="4" name="Text 2"/>
          <p:cNvSpPr/>
          <p:nvPr/>
        </p:nvSpPr>
        <p:spPr>
          <a:xfrm>
            <a:off x="812800" y="2956620"/>
            <a:ext cx="10883392" cy="513060"/>
          </a:xfrm>
          <a:prstGeom prst="rect">
            <a:avLst/>
          </a:prstGeom>
          <a:noFill/>
          <a:ln/>
        </p:spPr>
        <p:txBody>
          <a:bodyPr wrap="square" lIns="0" tIns="0" rIns="0" bIns="0" rtlCol="0" anchor="t">
            <a:normAutofit/>
          </a:bodyPr>
          <a:lstStyle/>
          <a:p>
            <a:pPr algn="l" indent="0" marL="0">
              <a:lnSpc>
                <a:spcPts val="3840"/>
              </a:lnSpc>
              <a:buNone/>
            </a:pPr>
            <a:r>
              <a:rPr lang="en-US" sz="3200" b="1" dirty="0">
                <a:solidFill>
                  <a:srgbClr val="F2A25C"/>
                </a:solidFill>
                <a:latin typeface="IBM Plex Sans" pitchFamily="34" charset="0"/>
                <a:ea typeface="IBM Plex Sans" pitchFamily="34" charset="-122"/>
                <a:cs typeface="IBM Plex Sans" pitchFamily="34" charset="-120"/>
              </a:rPr>
              <a:t>Ray</a:t>
            </a:r>
            <a:r>
              <a:rPr lang="en-US" sz="3200" b="1" dirty="0">
                <a:solidFill>
                  <a:srgbClr val="F5F3EE"/>
                </a:solidFill>
                <a:latin typeface="IBM Plex Sans" pitchFamily="34" charset="0"/>
                <a:ea typeface="IBM Plex Sans" pitchFamily="34" charset="-122"/>
                <a:cs typeface="IBM Plex Sans" pitchFamily="34" charset="-120"/>
              </a:rPr>
              <a:t> spreads Python work across them.</a:t>
            </a:r>
            <a:endParaRPr lang="en-US" sz="3200" dirty="0"/>
          </a:p>
        </p:txBody>
      </p:sp>
      <p:sp>
        <p:nvSpPr>
          <p:cNvPr id="5" name="Text 3"/>
          <p:cNvSpPr/>
          <p:nvPr/>
        </p:nvSpPr>
        <p:spPr>
          <a:xfrm>
            <a:off x="812800" y="3647480"/>
            <a:ext cx="10883392" cy="513060"/>
          </a:xfrm>
          <a:prstGeom prst="rect">
            <a:avLst/>
          </a:prstGeom>
          <a:noFill/>
          <a:ln/>
        </p:spPr>
        <p:txBody>
          <a:bodyPr wrap="square" lIns="0" tIns="0" rIns="0" bIns="0" rtlCol="0" anchor="t">
            <a:normAutofit/>
          </a:bodyPr>
          <a:lstStyle/>
          <a:p>
            <a:pPr algn="l" indent="0" marL="0">
              <a:lnSpc>
                <a:spcPts val="3840"/>
              </a:lnSpc>
              <a:buNone/>
            </a:pPr>
            <a:r>
              <a:rPr lang="en-US" sz="3200" b="1" dirty="0">
                <a:solidFill>
                  <a:srgbClr val="F5F3EE"/>
                </a:solidFill>
                <a:latin typeface="IBM Plex Sans" pitchFamily="34" charset="0"/>
                <a:ea typeface="IBM Plex Sans" pitchFamily="34" charset="-122"/>
                <a:cs typeface="IBM Plex Sans" pitchFamily="34" charset="-120"/>
              </a:rPr>
              <a:t>One Slurm job = one temporary Ray cluster.</a:t>
            </a:r>
            <a:endParaRPr lang="en-US" sz="3200" dirty="0"/>
          </a:p>
        </p:txBody>
      </p:sp>
      <p:sp>
        <p:nvSpPr>
          <p:cNvPr id="6" name="Text 4"/>
          <p:cNvSpPr/>
          <p:nvPr>
            <p:ph type="title"/>
          </p:nvPr>
        </p:nvSpPr>
        <p:spPr>
          <a:xfrm>
            <a:off x="812800" y="5374680"/>
            <a:ext cx="3804642" cy="69592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5F3EE"/>
                </a:solidFill>
                <a:latin typeface="IBM Plex Sans" pitchFamily="34" charset="0"/>
                <a:ea typeface="IBM Plex Sans" pitchFamily="34" charset="-122"/>
                <a:cs typeface="IBM Plex Sans" pitchFamily="34" charset="-120"/>
              </a:rPr>
              <a:t>Questions?</a:t>
            </a:r>
            <a:endParaRPr lang="en-US" sz="4800" dirty="0"/>
          </a:p>
        </p:txBody>
      </p:sp>
      <p:sp>
        <p:nvSpPr>
          <p:cNvPr id="7" name="Text 5"/>
          <p:cNvSpPr/>
          <p:nvPr/>
        </p:nvSpPr>
        <p:spPr>
          <a:xfrm>
            <a:off x="7897099" y="5618559"/>
            <a:ext cx="3482101" cy="45204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8C4D6"/>
                </a:solidFill>
                <a:latin typeface="IBM Plex Sans" pitchFamily="34" charset="0"/>
                <a:ea typeface="IBM Plex Sans" pitchFamily="34" charset="-122"/>
                <a:cs typeface="IBM Plex Sans" pitchFamily="34" charset="-120"/>
              </a:rPr>
              <a:t>Try it: github.com/VanshGolakiya-2910/slurmRay</a:t>
            </a:r>
            <a:endParaRPr lang="en-US" sz="1200" dirty="0"/>
          </a:p>
          <a:p>
            <a:pPr algn="r" indent="0" marL="0">
              <a:lnSpc>
                <a:spcPts val="1680"/>
              </a:lnSpc>
              <a:buNone/>
            </a:pPr>
            <a:r>
              <a:rPr lang="en-US" sz="1200" dirty="0">
                <a:solidFill>
                  <a:srgbClr val="B8C4D6"/>
                </a:solidFill>
                <a:latin typeface="IBM Plex Sans" pitchFamily="34" charset="0"/>
                <a:ea typeface="IBM Plex Sans" pitchFamily="34" charset="-122"/>
                <a:cs typeface="IBM Plex Sans" pitchFamily="34" charset="-120"/>
              </a:rPr>
              <a:t>Branches: main (MNIST) · llm-lora (LoRA)</a:t>
            </a:r>
            <a:endParaRPr lang="en-US" sz="1200" dirty="0"/>
          </a:p>
        </p:txBody>
      </p:sp>
    </p:spTree>
  </p:cSld>
  <p:clrMapOvr>
    <a:masterClrMapping/>
  </p:clrMapOvr>
</p:sld>
</file>

<file path=ppt/theme/theme1.xml><?xml version="1.0" encoding="utf-8"?>
<a:theme xmlns:a="http://schemas.openxmlformats.org/drawingml/2006/main" name="Slurm + Ray for AI">
  <a:themeElements>
    <a:clrScheme name="Slurm + Ray for AI">
      <a:dk1>
        <a:srgbClr val="111B2B"/>
      </a:dk1>
      <a:lt1>
        <a:srgbClr val="F5F3EE"/>
      </a:lt1>
      <a:dk2>
        <a:srgbClr val="4A515C"/>
      </a:dk2>
      <a:lt2>
        <a:srgbClr val="DEDDDB"/>
      </a:lt2>
      <a:accent1>
        <a:srgbClr val="B5530E"/>
      </a:accent1>
      <a:accent2>
        <a:srgbClr val="1D5FA8"/>
      </a:accent2>
      <a:accent3>
        <a:srgbClr val="F2A25C"/>
      </a:accent3>
      <a:accent4>
        <a:srgbClr val="8AB8EC"/>
      </a:accent4>
      <a:accent5>
        <a:srgbClr val="4A5568"/>
      </a:accent5>
      <a:accent6>
        <a:srgbClr val="B8C4D6"/>
      </a:accent6>
      <a:hlink>
        <a:srgbClr val="0563C1"/>
      </a:hlink>
      <a:folHlink>
        <a:srgbClr val="954F72"/>
      </a:folHlink>
    </a:clrScheme>
    <a:fontScheme name="Slurm + Ray for AI">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Slurm + Ray for AI</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2026-10-22T14:38:06Z</dcterms:created>
  <dcterms:modified xsi:type="dcterms:W3CDTF">2026-10-22T14:38:06Z</dcterms:modified>
</cp:coreProperties>
</file>